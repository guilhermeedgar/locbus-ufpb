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45s
O que falar: 'Olá a todos, bom dia/boa tarde. Meu nome é Guilherme Guedes e hoje vou apresentar a proposta do nosso projeto intitulado LocBUS: Uma arquitetura híbrida de telemetria e rastreamento veicular colaborativo de baixo custo para o transporte universitário intercampi. Nosso trabalho foca em resolver um problema histórico de imprevisibilidade no deslocamento dos estudantes da UFPB, propondo uma solução de alta fidelidade técnica, mas com custo de implantação e operação praticamente nulo.'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1m15s
O que falar: 'Para contextualizar: a UFPB possui uma estrutura multicampi em João Pessoa. Diariamente, centenas de alunos precisam transitar entre o Campus I, no Castelo Branco, e o Centro de Informática, em Mangabeira. O trajeto do ônibus circular intercampi possui mais de 14 quilômetros, atravessando corredores urbanos com semáforos e trânsito intenso. Hoje, o passageiro não sabe se o ônibus acabou de passar ou se ainda vai demorar 30 minutos, gerando ansiedade e perda de aulas.'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1m30s
O que falar: 'Identificamos um problema claro: a falta de previsibilidade do transporte universitário. A solução óbvia do mercado privado seria instalar rastreadores AVL industriais nos ônibus. No entanto, em universidades federais e frotas terceirizadas, isso custaria de R$ 1.500 a R$ 2.500 por veículo, além de mensalidades de chips 4G M2M que o orçamento institucional não suporta. Nossa pergunta de pesquisa foi: é possível alcançar a mesma confiabilidade de um rastreador dedicado, aproveitando a conectividade dos próprios passageiros, mas sem cair nas falhas típicas de aplicativos comunitários?'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1m30s
O que falar: 'No Estado da Arte, analisamos inicialmente os sistemas AVL industriais. Eles são consagrados em grandes operadores comerciais: possuem receptores GPS potentes e transmitem a posição via modem 4G direto para a nuvem. Eles funcionam muito bem, mas apresentam grandes barreiras para o nosso cenário: exigem modificação elétrica no veículo, geram custos mensais contínuos e são financeiramente inviáveis para frotas públicas de pequeno e médio porte.'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1m30s
O que falar: 'Na outra ponta, olhamos para as soluções de Crowdsourcing puro, como Moovit e Waze. Elas não exigem nenhum hardware no ônibus, o que é ótimo. Mas têm uma falha fatal: se um aluno com o app aberto estiver caminhando a pé na calçada perto da parada, o sistema pode achar que o ônibus está ali! Além disso, qualquer usuário mal-intencionado pode injetar coordenadas falsas. Por outro lado, a tecnologia Bluetooth Low Energy (BLE) nos dá uma ferramenta de ouro: balizas de proximidade de menos de 40 reais que transmitem identificadores criptografados a poucos metros.'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1m30s
O que falar: 'Aqui chegamos ao coração da nossa contribuição: a Lacuna Tecnológica. Existe um abismo entre o rastreador veicular caro e o aplicativo comunitário impreciso. O que faltava na literatura e na indústria é uma solução híbrida: um sistema que utilize a presença física confirmada por um rádio de baixíssimo custo no ônibus para validar e canalizar o GPS dos smartphones dos passageiros, filtrando matematicamente todo o ruído. Essa é a proposta do LocBUS.'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1m30s
O que falar: 'O LocBUS funciona como uma simbiose inteligente: colocamos um pequeno beacon BLE alimentado na entrada USB do ônibus. Quando o estudante entra no veículo, o smartphone dele detecta o rádio com sinal forte e valida: estou fisicamente dentro do ônibus. A partir desse momento, e apenas enquanto estiver a bordo, a aplicação web transmite a posição do GPS do celular com intervalo de 4 segundos. O ônibus é rastreado sem gastar 1 centavo com chip 4G institucional.'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1m00s
O que falar: 'Estruturamos nosso projeto sobre requisitos de engenharia rigorosos. Do lado funcional: geofencing com limite estrito de 80 metros da rota viária, teto cinemático de 65 km/h e clustering de múltiplos colaboradores. Do lado não funcional: latência de atualização abaixo de 500 milissegundos via Server-Sent Events, proteção estrita de bateria móvel e conformidade total com a LGPD, sem coletar CPF, nome, IMEI ou identificadores de usuário.'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1m30s
O que falar: 'Nossa arquitetura é desacoplada em quatro camadas: na base física veicular, temos o ESP32 operando como iBeacon. Na borda, o passageiro roda uma PWA leve que dispensa instalação pela Google Play ou App Store. No backend, escolhemos Python assíncrono com FastAPI e um buffer volátil de alta velocidade em memória. E na apresentação, um mapa interativo em Leaflet que renderiza em tempo real as coordenadas e o rastro viário.'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1m15s
O que falar: 'Como resolvemos o problema da imprecisão do GPS dentro do ônibus? Criamos um estimador ponderado: quando vários passageiros estão a bordo ao mesmo tempo, cada celular envia sua coordenada e sua margem de erro. O nosso backend calcula o centróide ponderado pelo inverso da acurácia. Ou seja: um celular topo de linha com acurácia de 3 metros terá um peso estatístico muito superior a um aparelho antigo com margem de 20 metros. O resultado é uma posição veicular consolidada muito mais estável do que a de qualquer passageiro isolado.'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1m00s
O que falar: 'Nossos resultados preliminares da Prova de Conceito comprovam a tese: temos 24 testes unitários e de integração cobrindo todo o ciclo circular de 31 pontos da rota da UFPB. Além disso, executamos um teste de campo com telemetria contínua em condições móveis reais em vias públicas, validando o streaming de dados, o algoritmo de fallback de GPS e a contagem contínua de pontos com latência abaixo de 300 milissegundos.'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sugerido: 45s
O que falar: 'Para concluir: o LocBUS comprova que com engenharia de software e fusão sensorial inteligente é possível entregar um serviço de alto nível à comunidade acadêmica sem depender de grandes licitações de hardware caro. Nossos próximos passos envolvem a instalação piloto das balizas nos ônibus da UFPB e testes de usabilidade com os estudantes. Muito obrigado pela atenção de todos e estamos abertos às dúvidas da banca!'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B14"/>
        </a:solidFill>
      </p:bgPr>
    </p:bg>
    <p:spTree>
      <p:nvGrpSpPr>
        <p:cNvPr id="1" name=""/>
        <p:cNvGrpSpPr/>
        <p:nvPr/>
      </p:nvGrpSpPr>
      <p:grpSpPr>
        <a:xfrm>
          <a:off x="0" y="0"/>
          <a:ext cx="0" cy="0"/>
          <a:chOff x="0" y="0"/>
          <a:chExt cx="0" cy="0"/>
        </a:xfrm>
      </p:grpSpPr>
      <p:sp>
        <p:nvSpPr>
          <p:cNvPr id="2" name="Text 0"/>
          <p:cNvSpPr/>
          <p:nvPr/>
        </p:nvSpPr>
        <p:spPr>
          <a:xfrm>
            <a:off x="731520" y="731520"/>
            <a:ext cx="5943600" cy="320040"/>
          </a:xfrm>
          <a:prstGeom prst="rect">
            <a:avLst/>
          </a:prstGeom>
          <a:solidFill>
            <a:srgbClr val="0E2238"/>
          </a:solidFill>
          <a:ln/>
        </p:spPr>
        <p:txBody>
          <a:bodyPr wrap="square" lIns="0" tIns="127000" rIns="127000" bIns="0" rtlCol="0" anchor="ctr"/>
          <a:lstStyle/>
          <a:p>
            <a:pPr indent="0" marL="0">
              <a:buNone/>
            </a:pPr>
            <a:r>
              <a:rPr lang="en-US" sz="1000" b="1" dirty="0">
                <a:solidFill>
                  <a:srgbClr val="38BDF8"/>
                </a:solidFill>
                <a:latin typeface="Segoe UI" pitchFamily="34" charset="0"/>
                <a:ea typeface="Segoe UI" pitchFamily="34" charset="-122"/>
                <a:cs typeface="Segoe UI" pitchFamily="34" charset="-120"/>
              </a:rPr>
              <a:t>ARTIGO CIENTÍFICO &amp; PROPOSTA DE ENGENHARIA • IEEE LATIN AMERICA</a:t>
            </a:r>
            <a:endParaRPr lang="en-US" sz="1000" dirty="0"/>
          </a:p>
        </p:txBody>
      </p:sp>
      <p:sp>
        <p:nvSpPr>
          <p:cNvPr id="3" name="Text 1"/>
          <p:cNvSpPr/>
          <p:nvPr/>
        </p:nvSpPr>
        <p:spPr>
          <a:xfrm>
            <a:off x="8229600" y="731520"/>
            <a:ext cx="3200400" cy="320040"/>
          </a:xfrm>
          <a:prstGeom prst="rect">
            <a:avLst/>
          </a:prstGeom>
          <a:noFill/>
          <a:ln/>
        </p:spPr>
        <p:txBody>
          <a:bodyPr wrap="square" rtlCol="0" anchor="ctr"/>
          <a:lstStyle/>
          <a:p>
            <a:pPr algn="r" indent="0" marL="0">
              <a:buNone/>
            </a:pPr>
            <a:r>
              <a:rPr lang="en-US" sz="1100" dirty="0">
                <a:solidFill>
                  <a:srgbClr val="94A3B8"/>
                </a:solidFill>
                <a:latin typeface="Consolas" pitchFamily="34" charset="0"/>
                <a:ea typeface="Consolas" pitchFamily="34" charset="-122"/>
                <a:cs typeface="Consolas" pitchFamily="34" charset="-120"/>
              </a:rPr>
              <a:t>⏱️ 00:00 - 00:45 (45s)</a:t>
            </a:r>
            <a:endParaRPr lang="en-US" sz="1100" dirty="0"/>
          </a:p>
        </p:txBody>
      </p:sp>
      <p:sp>
        <p:nvSpPr>
          <p:cNvPr id="4" name="Text 2"/>
          <p:cNvSpPr/>
          <p:nvPr/>
        </p:nvSpPr>
        <p:spPr>
          <a:xfrm>
            <a:off x="731520" y="1234440"/>
            <a:ext cx="10698480" cy="1188720"/>
          </a:xfrm>
          <a:prstGeom prst="rect">
            <a:avLst/>
          </a:prstGeom>
          <a:noFill/>
          <a:ln/>
        </p:spPr>
        <p:txBody>
          <a:bodyPr wrap="square" rtlCol="0" anchor="ctr"/>
          <a:lstStyle/>
          <a:p>
            <a:pPr indent="0" marL="0">
              <a:lnSpc>
                <a:spcPct val="115000"/>
              </a:lnSpc>
              <a:buNone/>
            </a:pPr>
            <a:r>
              <a:rPr lang="en-US" sz="2600" b="1" dirty="0">
                <a:solidFill>
                  <a:srgbClr val="FFFFFF"/>
                </a:solidFill>
                <a:latin typeface="Segoe UI" pitchFamily="34" charset="0"/>
                <a:ea typeface="Segoe UI" pitchFamily="34" charset="-122"/>
                <a:cs typeface="Segoe UI" pitchFamily="34" charset="-120"/>
              </a:rPr>
              <a:t>LocBUS: Arquitetura Híbrida de Telemetria e Rastreamento Veicular Colaborativo de Baixo Custo</a:t>
            </a:r>
            <a:endParaRPr lang="en-US" sz="2600" dirty="0"/>
          </a:p>
        </p:txBody>
      </p:sp>
      <p:sp>
        <p:nvSpPr>
          <p:cNvPr id="5" name="Text 3"/>
          <p:cNvSpPr/>
          <p:nvPr/>
        </p:nvSpPr>
        <p:spPr>
          <a:xfrm>
            <a:off x="731520" y="2514600"/>
            <a:ext cx="10698480" cy="411480"/>
          </a:xfrm>
          <a:prstGeom prst="rect">
            <a:avLst/>
          </a:prstGeom>
          <a:noFill/>
          <a:ln/>
        </p:spPr>
        <p:txBody>
          <a:bodyPr wrap="square" rtlCol="0" anchor="ctr"/>
          <a:lstStyle/>
          <a:p>
            <a:pPr indent="0" marL="0">
              <a:buNone/>
            </a:pPr>
            <a:r>
              <a:rPr lang="en-US" sz="1500" dirty="0">
                <a:solidFill>
                  <a:srgbClr val="38BDF8"/>
                </a:solidFill>
                <a:latin typeface="Segoe UI" pitchFamily="34" charset="0"/>
                <a:ea typeface="Segoe UI" pitchFamily="34" charset="-122"/>
                <a:cs typeface="Segoe UI" pitchFamily="34" charset="-120"/>
              </a:rPr>
              <a:t>Rastreamento Inteligente de Transporte Universitário Intercampi sem Computador de Bordo 4G</a:t>
            </a:r>
            <a:endParaRPr lang="en-US" sz="1500" dirty="0"/>
          </a:p>
        </p:txBody>
      </p:sp>
      <p:sp>
        <p:nvSpPr>
          <p:cNvPr id="6" name="Shape 4"/>
          <p:cNvSpPr/>
          <p:nvPr/>
        </p:nvSpPr>
        <p:spPr>
          <a:xfrm>
            <a:off x="731520" y="3154680"/>
            <a:ext cx="2560320" cy="1325880"/>
          </a:xfrm>
          <a:prstGeom prst="roundRect">
            <a:avLst>
              <a:gd name="adj" fmla="val 6897"/>
            </a:avLst>
          </a:prstGeom>
          <a:solidFill>
            <a:srgbClr val="141E33"/>
          </a:solidFill>
          <a:ln w="12700">
            <a:solidFill>
              <a:srgbClr val="1F2D48"/>
            </a:solidFill>
            <a:prstDash val="solid"/>
          </a:ln>
        </p:spPr>
      </p:sp>
      <p:sp>
        <p:nvSpPr>
          <p:cNvPr id="7" name="Text 5"/>
          <p:cNvSpPr/>
          <p:nvPr/>
        </p:nvSpPr>
        <p:spPr>
          <a:xfrm>
            <a:off x="731520" y="3337560"/>
            <a:ext cx="2560320" cy="594360"/>
          </a:xfrm>
          <a:prstGeom prst="rect">
            <a:avLst/>
          </a:prstGeom>
          <a:noFill/>
          <a:ln/>
        </p:spPr>
        <p:txBody>
          <a:bodyPr wrap="square" rtlCol="0" anchor="ctr"/>
          <a:lstStyle/>
          <a:p>
            <a:pPr algn="ctr" indent="0" marL="0">
              <a:buNone/>
            </a:pPr>
            <a:r>
              <a:rPr lang="en-US" sz="2400" b="1" dirty="0">
                <a:solidFill>
                  <a:srgbClr val="34D399"/>
                </a:solidFill>
                <a:latin typeface="Consolas" pitchFamily="34" charset="0"/>
                <a:ea typeface="Consolas" pitchFamily="34" charset="-122"/>
                <a:cs typeface="Consolas" pitchFamily="34" charset="-120"/>
              </a:rPr>
              <a:t>R$ 0</a:t>
            </a:r>
            <a:endParaRPr lang="en-US" sz="2400" dirty="0"/>
          </a:p>
        </p:txBody>
      </p:sp>
      <p:sp>
        <p:nvSpPr>
          <p:cNvPr id="8" name="Text 6"/>
          <p:cNvSpPr/>
          <p:nvPr/>
        </p:nvSpPr>
        <p:spPr>
          <a:xfrm>
            <a:off x="731520" y="3977640"/>
            <a:ext cx="2560320" cy="411480"/>
          </a:xfrm>
          <a:prstGeom prst="rect">
            <a:avLst/>
          </a:prstGeom>
          <a:noFill/>
          <a:ln/>
        </p:spPr>
        <p:txBody>
          <a:bodyPr wrap="square"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CUSTO CONECTIVIDADE VEICULAR</a:t>
            </a:r>
            <a:endParaRPr lang="en-US" sz="900" dirty="0"/>
          </a:p>
        </p:txBody>
      </p:sp>
      <p:sp>
        <p:nvSpPr>
          <p:cNvPr id="9" name="Shape 7"/>
          <p:cNvSpPr/>
          <p:nvPr/>
        </p:nvSpPr>
        <p:spPr>
          <a:xfrm>
            <a:off x="3429000" y="3154680"/>
            <a:ext cx="2560320" cy="1325880"/>
          </a:xfrm>
          <a:prstGeom prst="roundRect">
            <a:avLst>
              <a:gd name="adj" fmla="val 6897"/>
            </a:avLst>
          </a:prstGeom>
          <a:solidFill>
            <a:srgbClr val="141E33"/>
          </a:solidFill>
          <a:ln w="12700">
            <a:solidFill>
              <a:srgbClr val="1F2D48"/>
            </a:solidFill>
            <a:prstDash val="solid"/>
          </a:ln>
        </p:spPr>
      </p:sp>
      <p:sp>
        <p:nvSpPr>
          <p:cNvPr id="10" name="Text 8"/>
          <p:cNvSpPr/>
          <p:nvPr/>
        </p:nvSpPr>
        <p:spPr>
          <a:xfrm>
            <a:off x="3429000" y="3337560"/>
            <a:ext cx="2560320" cy="594360"/>
          </a:xfrm>
          <a:prstGeom prst="rect">
            <a:avLst/>
          </a:prstGeom>
          <a:noFill/>
          <a:ln/>
        </p:spPr>
        <p:txBody>
          <a:bodyPr wrap="square" rtlCol="0" anchor="ctr"/>
          <a:lstStyle/>
          <a:p>
            <a:pPr algn="ctr" indent="0" marL="0">
              <a:buNone/>
            </a:pPr>
            <a:r>
              <a:rPr lang="en-US" sz="2400" b="1" dirty="0">
                <a:solidFill>
                  <a:srgbClr val="38BDF8"/>
                </a:solidFill>
                <a:latin typeface="Consolas" pitchFamily="34" charset="0"/>
                <a:ea typeface="Consolas" pitchFamily="34" charset="-122"/>
                <a:cs typeface="Consolas" pitchFamily="34" charset="-120"/>
              </a:rPr>
              <a:t>&lt; R$ 40</a:t>
            </a:r>
            <a:endParaRPr lang="en-US" sz="2400" dirty="0"/>
          </a:p>
        </p:txBody>
      </p:sp>
      <p:sp>
        <p:nvSpPr>
          <p:cNvPr id="11" name="Text 9"/>
          <p:cNvSpPr/>
          <p:nvPr/>
        </p:nvSpPr>
        <p:spPr>
          <a:xfrm>
            <a:off x="3429000" y="3977640"/>
            <a:ext cx="2560320" cy="411480"/>
          </a:xfrm>
          <a:prstGeom prst="rect">
            <a:avLst/>
          </a:prstGeom>
          <a:noFill/>
          <a:ln/>
        </p:spPr>
        <p:txBody>
          <a:bodyPr wrap="square"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HARDWARE VEICULAR (ESP32)</a:t>
            </a:r>
            <a:endParaRPr lang="en-US" sz="900" dirty="0"/>
          </a:p>
        </p:txBody>
      </p:sp>
      <p:sp>
        <p:nvSpPr>
          <p:cNvPr id="12" name="Shape 10"/>
          <p:cNvSpPr/>
          <p:nvPr/>
        </p:nvSpPr>
        <p:spPr>
          <a:xfrm>
            <a:off x="6126480" y="3154680"/>
            <a:ext cx="2560320" cy="1325880"/>
          </a:xfrm>
          <a:prstGeom prst="roundRect">
            <a:avLst>
              <a:gd name="adj" fmla="val 6897"/>
            </a:avLst>
          </a:prstGeom>
          <a:solidFill>
            <a:srgbClr val="141E33"/>
          </a:solidFill>
          <a:ln w="12700">
            <a:solidFill>
              <a:srgbClr val="1F2D48"/>
            </a:solidFill>
            <a:prstDash val="solid"/>
          </a:ln>
        </p:spPr>
      </p:sp>
      <p:sp>
        <p:nvSpPr>
          <p:cNvPr id="13" name="Text 11"/>
          <p:cNvSpPr/>
          <p:nvPr/>
        </p:nvSpPr>
        <p:spPr>
          <a:xfrm>
            <a:off x="6126480" y="3337560"/>
            <a:ext cx="2560320" cy="594360"/>
          </a:xfrm>
          <a:prstGeom prst="rect">
            <a:avLst/>
          </a:prstGeom>
          <a:noFill/>
          <a:ln/>
        </p:spPr>
        <p:txBody>
          <a:bodyPr wrap="square" rtlCol="0" anchor="ctr"/>
          <a:lstStyle/>
          <a:p>
            <a:pPr algn="ctr" indent="0" marL="0">
              <a:buNone/>
            </a:pPr>
            <a:r>
              <a:rPr lang="en-US" sz="2400" b="1" dirty="0">
                <a:solidFill>
                  <a:srgbClr val="FFFFFF"/>
                </a:solidFill>
                <a:latin typeface="Consolas" pitchFamily="34" charset="0"/>
                <a:ea typeface="Consolas" pitchFamily="34" charset="-122"/>
                <a:cs typeface="Consolas" pitchFamily="34" charset="-120"/>
              </a:rPr>
              <a:t>&lt; 350ms</a:t>
            </a:r>
            <a:endParaRPr lang="en-US" sz="2400" dirty="0"/>
          </a:p>
        </p:txBody>
      </p:sp>
      <p:sp>
        <p:nvSpPr>
          <p:cNvPr id="14" name="Text 12"/>
          <p:cNvSpPr/>
          <p:nvPr/>
        </p:nvSpPr>
        <p:spPr>
          <a:xfrm>
            <a:off x="6126480" y="3977640"/>
            <a:ext cx="2560320" cy="411480"/>
          </a:xfrm>
          <a:prstGeom prst="rect">
            <a:avLst/>
          </a:prstGeom>
          <a:noFill/>
          <a:ln/>
        </p:spPr>
        <p:txBody>
          <a:bodyPr wrap="square"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LATÊNCIA STREAMING SSE</a:t>
            </a:r>
            <a:endParaRPr lang="en-US" sz="900" dirty="0"/>
          </a:p>
        </p:txBody>
      </p:sp>
      <p:sp>
        <p:nvSpPr>
          <p:cNvPr id="15" name="Shape 13"/>
          <p:cNvSpPr/>
          <p:nvPr/>
        </p:nvSpPr>
        <p:spPr>
          <a:xfrm>
            <a:off x="8823960" y="3154680"/>
            <a:ext cx="2560320" cy="1325880"/>
          </a:xfrm>
          <a:prstGeom prst="roundRect">
            <a:avLst>
              <a:gd name="adj" fmla="val 6897"/>
            </a:avLst>
          </a:prstGeom>
          <a:solidFill>
            <a:srgbClr val="141E33"/>
          </a:solidFill>
          <a:ln w="12700">
            <a:solidFill>
              <a:srgbClr val="1F2D48"/>
            </a:solidFill>
            <a:prstDash val="solid"/>
          </a:ln>
        </p:spPr>
      </p:sp>
      <p:sp>
        <p:nvSpPr>
          <p:cNvPr id="16" name="Text 14"/>
          <p:cNvSpPr/>
          <p:nvPr/>
        </p:nvSpPr>
        <p:spPr>
          <a:xfrm>
            <a:off x="8823960" y="3337560"/>
            <a:ext cx="2560320" cy="594360"/>
          </a:xfrm>
          <a:prstGeom prst="rect">
            <a:avLst/>
          </a:prstGeom>
          <a:noFill/>
          <a:ln/>
        </p:spPr>
        <p:txBody>
          <a:bodyPr wrap="square" rtlCol="0" anchor="ctr"/>
          <a:lstStyle/>
          <a:p>
            <a:pPr algn="ctr" indent="0" marL="0">
              <a:buNone/>
            </a:pPr>
            <a:r>
              <a:rPr lang="en-US" sz="2400" b="1" dirty="0">
                <a:solidFill>
                  <a:srgbClr val="38BDF8"/>
                </a:solidFill>
                <a:latin typeface="Consolas" pitchFamily="34" charset="0"/>
                <a:ea typeface="Consolas" pitchFamily="34" charset="-122"/>
                <a:cs typeface="Consolas" pitchFamily="34" charset="-120"/>
              </a:rPr>
              <a:t>100%</a:t>
            </a:r>
            <a:endParaRPr lang="en-US" sz="2400" dirty="0"/>
          </a:p>
        </p:txBody>
      </p:sp>
      <p:sp>
        <p:nvSpPr>
          <p:cNvPr id="17" name="Text 15"/>
          <p:cNvSpPr/>
          <p:nvPr/>
        </p:nvSpPr>
        <p:spPr>
          <a:xfrm>
            <a:off x="8823960" y="3977640"/>
            <a:ext cx="2560320" cy="411480"/>
          </a:xfrm>
          <a:prstGeom prst="rect">
            <a:avLst/>
          </a:prstGeom>
          <a:noFill/>
          <a:ln/>
        </p:spPr>
        <p:txBody>
          <a:bodyPr wrap="square"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CONFORME À LGPD (SEM PII)</a:t>
            </a:r>
            <a:endParaRPr lang="en-US" sz="900" dirty="0"/>
          </a:p>
        </p:txBody>
      </p:sp>
      <p:sp>
        <p:nvSpPr>
          <p:cNvPr id="18" name="Shape 16"/>
          <p:cNvSpPr/>
          <p:nvPr/>
        </p:nvSpPr>
        <p:spPr>
          <a:xfrm>
            <a:off x="731520" y="4846320"/>
            <a:ext cx="10698480" cy="1280160"/>
          </a:xfrm>
          <a:prstGeom prst="roundRect">
            <a:avLst>
              <a:gd name="adj" fmla="val 7143"/>
            </a:avLst>
          </a:prstGeom>
          <a:solidFill>
            <a:srgbClr val="0F172A"/>
          </a:solidFill>
          <a:ln w="12700">
            <a:solidFill>
              <a:srgbClr val="1F2D48"/>
            </a:solidFill>
            <a:prstDash val="solid"/>
          </a:ln>
        </p:spPr>
      </p:sp>
      <p:sp>
        <p:nvSpPr>
          <p:cNvPr id="19" name="Text 17"/>
          <p:cNvSpPr/>
          <p:nvPr/>
        </p:nvSpPr>
        <p:spPr>
          <a:xfrm>
            <a:off x="1005840" y="5010912"/>
            <a:ext cx="6858000" cy="36576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Guilherme Edgar C. S. R. Guedes &amp; Equipe LocBUS</a:t>
            </a:r>
            <a:endParaRPr lang="en-US" sz="1400" dirty="0"/>
          </a:p>
        </p:txBody>
      </p:sp>
      <p:sp>
        <p:nvSpPr>
          <p:cNvPr id="20" name="Text 18"/>
          <p:cNvSpPr/>
          <p:nvPr/>
        </p:nvSpPr>
        <p:spPr>
          <a:xfrm>
            <a:off x="1005840" y="5394960"/>
            <a:ext cx="6858000" cy="365760"/>
          </a:xfrm>
          <a:prstGeom prst="rect">
            <a:avLst/>
          </a:prstGeom>
          <a:noFill/>
          <a:ln/>
        </p:spPr>
        <p:txBody>
          <a:bodyPr wrap="square" rtlCol="0" anchor="ctr"/>
          <a:lstStyle/>
          <a:p>
            <a:pPr indent="0" marL="0">
              <a:buNone/>
            </a:pPr>
            <a:r>
              <a:rPr lang="en-US" sz="1100" dirty="0">
                <a:solidFill>
                  <a:srgbClr val="94A3B8"/>
                </a:solidFill>
                <a:latin typeface="Segoe UI" pitchFamily="34" charset="0"/>
                <a:ea typeface="Segoe UI" pitchFamily="34" charset="-122"/>
                <a:cs typeface="Segoe UI" pitchFamily="34" charset="-120"/>
              </a:rPr>
              <a:t>Universidade Federal da Paraíba (UFPB) • Campus I (João Pessoa) / Campus IV (Rio Tinto)</a:t>
            </a:r>
            <a:endParaRPr lang="en-US" sz="1100" dirty="0"/>
          </a:p>
        </p:txBody>
      </p:sp>
      <p:sp>
        <p:nvSpPr>
          <p:cNvPr id="21" name="Text 19"/>
          <p:cNvSpPr/>
          <p:nvPr/>
        </p:nvSpPr>
        <p:spPr>
          <a:xfrm>
            <a:off x="7772400" y="5166360"/>
            <a:ext cx="3383280" cy="365760"/>
          </a:xfrm>
          <a:prstGeom prst="rect">
            <a:avLst/>
          </a:prstGeom>
          <a:noFill/>
          <a:ln/>
        </p:spPr>
        <p:txBody>
          <a:bodyPr wrap="square" rtlCol="0" anchor="ctr"/>
          <a:lstStyle/>
          <a:p>
            <a:pPr algn="r" indent="0" marL="0">
              <a:buNone/>
            </a:pPr>
            <a:r>
              <a:rPr lang="en-US" sz="1000" b="1" dirty="0">
                <a:solidFill>
                  <a:srgbClr val="38BDF8"/>
                </a:solidFill>
                <a:latin typeface="Consolas" pitchFamily="34" charset="0"/>
                <a:ea typeface="Consolas" pitchFamily="34" charset="-122"/>
                <a:cs typeface="Consolas" pitchFamily="34" charset="-120"/>
              </a:rPr>
              <a:t>FASTAPI  •  ESP32 BLE  •  LEAFLET PWA  •  SSE STREAM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B14"/>
        </a:solidFill>
      </p:bgPr>
    </p:bg>
    <p:spTree>
      <p:nvGrpSpPr>
        <p:cNvPr id="1" name=""/>
        <p:cNvGrpSpPr/>
        <p:nvPr/>
      </p:nvGrpSpPr>
      <p:grpSpPr>
        <a:xfrm>
          <a:off x="0" y="0"/>
          <a:ext cx="0" cy="0"/>
          <a:chOff x="0" y="0"/>
          <a:chExt cx="0" cy="0"/>
        </a:xfrm>
      </p:grpSpPr>
      <p:sp>
        <p:nvSpPr>
          <p:cNvPr id="2" name="Text 0"/>
          <p:cNvSpPr/>
          <p:nvPr/>
        </p:nvSpPr>
        <p:spPr>
          <a:xfrm>
            <a:off x="731520" y="365760"/>
            <a:ext cx="4114800" cy="292608"/>
          </a:xfrm>
          <a:prstGeom prst="rect">
            <a:avLst/>
          </a:prstGeom>
          <a:solidFill>
            <a:srgbClr val="0E2238"/>
          </a:solidFill>
          <a:ln/>
        </p:spPr>
        <p:txBody>
          <a:bodyPr wrap="square" lIns="0" tIns="101600" rIns="101600" bIns="0" rtlCol="0" anchor="ctr"/>
          <a:lstStyle/>
          <a:p>
            <a:pPr algn="l" indent="0" marL="0">
              <a:buNone/>
            </a:pPr>
            <a:r>
              <a:rPr lang="en-US" sz="1000" b="1" dirty="0">
                <a:solidFill>
                  <a:srgbClr val="38BDF8"/>
                </a:solidFill>
                <a:latin typeface="Segoe UI" pitchFamily="34" charset="0"/>
                <a:ea typeface="Segoe UI" pitchFamily="34" charset="-122"/>
                <a:cs typeface="Segoe UI" pitchFamily="34" charset="-120"/>
              </a:rPr>
              <a:t>CONTEXTUALIZAÇÃO OPERACIONAL</a:t>
            </a:r>
            <a:endParaRPr lang="en-US" sz="1000" dirty="0"/>
          </a:p>
        </p:txBody>
      </p:sp>
      <p:sp>
        <p:nvSpPr>
          <p:cNvPr id="3" name="Text 1"/>
          <p:cNvSpPr/>
          <p:nvPr/>
        </p:nvSpPr>
        <p:spPr>
          <a:xfrm>
            <a:off x="7772400" y="365760"/>
            <a:ext cx="3657600" cy="292608"/>
          </a:xfrm>
          <a:prstGeom prst="rect">
            <a:avLst/>
          </a:prstGeom>
          <a:noFill/>
          <a:ln/>
        </p:spPr>
        <p:txBody>
          <a:bodyPr wrap="square" rtlCol="0" anchor="ctr"/>
          <a:lstStyle/>
          <a:p>
            <a:pPr algn="r" indent="0" marL="0">
              <a:buNone/>
            </a:pPr>
            <a:r>
              <a:rPr lang="en-US" sz="1000" dirty="0">
                <a:solidFill>
                  <a:srgbClr val="94A3B8"/>
                </a:solidFill>
                <a:latin typeface="Consolas" pitchFamily="34" charset="0"/>
                <a:ea typeface="Consolas" pitchFamily="34" charset="-122"/>
                <a:cs typeface="Consolas" pitchFamily="34" charset="-120"/>
              </a:rPr>
              <a:t>⏱️ 00:45 - 02:00 (1m15s)</a:t>
            </a:r>
            <a:endParaRPr lang="en-US" sz="1000" dirty="0"/>
          </a:p>
        </p:txBody>
      </p:sp>
      <p:sp>
        <p:nvSpPr>
          <p:cNvPr id="4" name="Text 2"/>
          <p:cNvSpPr/>
          <p:nvPr/>
        </p:nvSpPr>
        <p:spPr>
          <a:xfrm>
            <a:off x="731520" y="713232"/>
            <a:ext cx="10698480" cy="548640"/>
          </a:xfrm>
          <a:prstGeom prst="rect">
            <a:avLst/>
          </a:prstGeom>
          <a:noFill/>
          <a:ln/>
        </p:spPr>
        <p:txBody>
          <a:bodyPr wrap="square" rtlCol="0" anchor="t"/>
          <a:lstStyle/>
          <a:p>
            <a:pPr indent="0" marL="0">
              <a:buNone/>
            </a:pPr>
            <a:r>
              <a:rPr lang="en-US" sz="2200" b="1" dirty="0">
                <a:solidFill>
                  <a:srgbClr val="FFFFFF"/>
                </a:solidFill>
                <a:latin typeface="Segoe UI" pitchFamily="34" charset="0"/>
                <a:ea typeface="Segoe UI" pitchFamily="34" charset="-122"/>
                <a:cs typeface="Segoe UI" pitchFamily="34" charset="-120"/>
              </a:rPr>
              <a:t>O Cenário do Transporte Universitário Intercampi (UFPB)</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300" dirty="0">
                <a:solidFill>
                  <a:srgbClr val="38BDF8"/>
                </a:solidFill>
                <a:latin typeface="Segoe UI" pitchFamily="34" charset="0"/>
                <a:ea typeface="Segoe UI" pitchFamily="34" charset="-122"/>
                <a:cs typeface="Segoe UI" pitchFamily="34" charset="-120"/>
              </a:rPr>
              <a:t>Deslocamento diário contínuo em malha urbana mista e tráfego saturado</a:t>
            </a:r>
            <a:endParaRPr lang="en-US" sz="1300" dirty="0"/>
          </a:p>
        </p:txBody>
      </p:sp>
      <p:sp>
        <p:nvSpPr>
          <p:cNvPr id="6" name="Shape 4"/>
          <p:cNvSpPr/>
          <p:nvPr/>
        </p:nvSpPr>
        <p:spPr>
          <a:xfrm>
            <a:off x="731520" y="1691640"/>
            <a:ext cx="5212080" cy="3383280"/>
          </a:xfrm>
          <a:prstGeom prst="roundRect">
            <a:avLst>
              <a:gd name="adj" fmla="val 2703"/>
            </a:avLst>
          </a:prstGeom>
          <a:solidFill>
            <a:srgbClr val="0F172A"/>
          </a:solidFill>
          <a:ln w="12700">
            <a:solidFill>
              <a:srgbClr val="1F2D48"/>
            </a:solidFill>
            <a:prstDash val="solid"/>
          </a:ln>
        </p:spPr>
      </p:sp>
      <p:sp>
        <p:nvSpPr>
          <p:cNvPr id="7" name="Text 5"/>
          <p:cNvSpPr/>
          <p:nvPr/>
        </p:nvSpPr>
        <p:spPr>
          <a:xfrm>
            <a:off x="1005840" y="1874520"/>
            <a:ext cx="4663440" cy="365760"/>
          </a:xfrm>
          <a:prstGeom prst="rect">
            <a:avLst/>
          </a:prstGeom>
          <a:noFill/>
          <a:ln/>
        </p:spPr>
        <p:txBody>
          <a:bodyPr wrap="square" rtlCol="0" anchor="ctr"/>
          <a:lstStyle/>
          <a:p>
            <a:pPr indent="0" marL="0">
              <a:buNone/>
            </a:pPr>
            <a:r>
              <a:rPr lang="en-US" sz="1400" b="1" dirty="0">
                <a:solidFill>
                  <a:srgbClr val="38BDF8"/>
                </a:solidFill>
                <a:latin typeface="Segoe UI" pitchFamily="34" charset="0"/>
                <a:ea typeface="Segoe UI" pitchFamily="34" charset="-122"/>
                <a:cs typeface="Segoe UI" pitchFamily="34" charset="-120"/>
              </a:rPr>
              <a:t>📍 Dimensão da Operação</a:t>
            </a:r>
            <a:endParaRPr lang="en-US" sz="1400" dirty="0"/>
          </a:p>
        </p:txBody>
      </p:sp>
      <p:sp>
        <p:nvSpPr>
          <p:cNvPr id="8" name="Text 6"/>
          <p:cNvSpPr/>
          <p:nvPr/>
        </p:nvSpPr>
        <p:spPr>
          <a:xfrm>
            <a:off x="1005840" y="2286000"/>
            <a:ext cx="4663440" cy="2560320"/>
          </a:xfrm>
          <a:prstGeom prst="rect">
            <a:avLst/>
          </a:prstGeom>
          <a:noFill/>
          <a:ln/>
        </p:spPr>
        <p:txBody>
          <a:bodyPr wrap="square" rtlCol="0" anchor="ctr"/>
          <a:lstStyle/>
          <a:p>
            <a:pPr indent="0" marL="0">
              <a:lnSpc>
                <a:spcPct val="130000"/>
              </a:lnSpc>
              <a:buNone/>
            </a:pPr>
            <a:r>
              <a:rPr lang="en-US" sz="1200" dirty="0">
                <a:solidFill>
                  <a:srgbClr val="CBD5E1"/>
                </a:solidFill>
                <a:latin typeface="Segoe UI" pitchFamily="34" charset="0"/>
                <a:ea typeface="Segoe UI" pitchFamily="34" charset="-122"/>
                <a:cs typeface="Segoe UI" pitchFamily="34" charset="-120"/>
              </a:rPr>
              <a:t>• Ligação obrigatória entre </a:t>
            </a:r>
            <a:pPr indent="0" marL="0">
              <a:lnSpc>
                <a:spcPct val="130000"/>
              </a:lnSpc>
              <a:buNone/>
            </a:pPr>
            <a:r>
              <a:rPr lang="en-US" sz="1200" b="1" dirty="0">
                <a:solidFill>
                  <a:srgbClr val="FFFFFF"/>
                </a:solidFill>
                <a:latin typeface="Segoe UI" pitchFamily="34" charset="0"/>
                <a:ea typeface="Segoe UI" pitchFamily="34" charset="-122"/>
                <a:cs typeface="Segoe UI" pitchFamily="34" charset="-120"/>
              </a:rPr>
              <a:t>Campus I (Castelo Branco)</a:t>
            </a:r>
            <a:pPr indent="0" marL="0">
              <a:lnSpc>
                <a:spcPct val="130000"/>
              </a:lnSpc>
              <a:buNone/>
            </a:pPr>
            <a:r>
              <a:rPr lang="en-US" sz="1200" dirty="0">
                <a:solidFill>
                  <a:srgbClr val="CBD5E1"/>
                </a:solidFill>
                <a:latin typeface="Segoe UI" pitchFamily="34" charset="0"/>
                <a:ea typeface="Segoe UI" pitchFamily="34" charset="-122"/>
                <a:cs typeface="Segoe UI" pitchFamily="34" charset="-120"/>
              </a:rPr>
              <a:t> e </a:t>
            </a:r>
            <a:pPr indent="0" marL="0">
              <a:lnSpc>
                <a:spcPct val="130000"/>
              </a:lnSpc>
              <a:buNone/>
            </a:pPr>
            <a:r>
              <a:rPr lang="en-US" sz="1200" b="1" dirty="0">
                <a:solidFill>
                  <a:srgbClr val="FFFFFF"/>
                </a:solidFill>
                <a:latin typeface="Segoe UI" pitchFamily="34" charset="0"/>
                <a:ea typeface="Segoe UI" pitchFamily="34" charset="-122"/>
                <a:cs typeface="Segoe UI" pitchFamily="34" charset="-120"/>
              </a:rPr>
              <a:t>Centro de Informática (Mangabeira)</a:t>
            </a:r>
            <a:pPr indent="0" marL="0">
              <a:lnSpc>
                <a:spcPct val="130000"/>
              </a:lnSpc>
              <a:buNone/>
            </a:pPr>
            <a:r>
              <a:rPr lang="en-US" sz="1200" dirty="0">
                <a:solidFill>
                  <a:srgbClr val="CBD5E1"/>
                </a:solidFill>
                <a:latin typeface="Segoe UI" pitchFamily="34" charset="0"/>
                <a:ea typeface="Segoe UI" pitchFamily="34" charset="-122"/>
                <a:cs typeface="Segoe UI" pitchFamily="34" charset="-120"/>
              </a:rPr>
              <a:t>;</a:t>
            </a:r>
            <a:endParaRPr lang="en-US" sz="1200" dirty="0"/>
          </a:p>
          <a:p>
            <a:pPr indent="0" marL="0">
              <a:lnSpc>
                <a:spcPct val="130000"/>
              </a:lnSpc>
              <a:buNone/>
            </a:pPr>
            <a:r>
              <a:rPr lang="en-US" sz="1200" dirty="0">
                <a:solidFill>
                  <a:srgbClr val="CBD5E1"/>
                </a:solidFill>
                <a:latin typeface="Segoe UI" pitchFamily="34" charset="0"/>
                <a:ea typeface="Segoe UI" pitchFamily="34" charset="-122"/>
                <a:cs typeface="Segoe UI" pitchFamily="34" charset="-120"/>
              </a:rPr>
              <a:t>• Percurso viário superior a </a:t>
            </a:r>
            <a:endParaRPr lang="en-US" sz="1200" dirty="0"/>
          </a:p>
          <a:p>
            <a:pPr indent="0" marL="0">
              <a:lnSpc>
                <a:spcPct val="130000"/>
              </a:lnSpc>
              <a:buNone/>
            </a:pPr>
            <a:r>
              <a:rPr lang="en-US" sz="1200" b="1" dirty="0">
                <a:solidFill>
                  <a:srgbClr val="FFFFFF"/>
                </a:solidFill>
                <a:latin typeface="Segoe UI" pitchFamily="34" charset="0"/>
                <a:ea typeface="Segoe UI" pitchFamily="34" charset="-122"/>
                <a:cs typeface="Segoe UI" pitchFamily="34" charset="-120"/>
              </a:rPr>
              <a:t>14 km por ciclo completo</a:t>
            </a:r>
            <a:pPr indent="0" marL="0">
              <a:lnSpc>
                <a:spcPct val="130000"/>
              </a:lnSpc>
              <a:buNone/>
            </a:pPr>
            <a:r>
              <a:rPr lang="en-US" sz="1200" dirty="0">
                <a:solidFill>
                  <a:srgbClr val="CBD5E1"/>
                </a:solidFill>
                <a:latin typeface="Segoe UI" pitchFamily="34" charset="0"/>
                <a:ea typeface="Segoe UI" pitchFamily="34" charset="-122"/>
                <a:cs typeface="Segoe UI" pitchFamily="34" charset="-120"/>
              </a:rPr>
              <a:t>;</a:t>
            </a:r>
            <a:endParaRPr lang="en-US" sz="1200" dirty="0"/>
          </a:p>
          <a:p>
            <a:pPr indent="0" marL="0">
              <a:lnSpc>
                <a:spcPct val="130000"/>
              </a:lnSpc>
              <a:buNone/>
            </a:pPr>
            <a:r>
              <a:rPr lang="en-US" sz="1200" dirty="0">
                <a:solidFill>
                  <a:srgbClr val="CBD5E1"/>
                </a:solidFill>
                <a:latin typeface="Segoe UI" pitchFamily="34" charset="0"/>
                <a:ea typeface="Segoe UI" pitchFamily="34" charset="-122"/>
                <a:cs typeface="Segoe UI" pitchFamily="34" charset="-120"/>
              </a:rPr>
              <a:t>• Atravessa corredores de tráfego intenso (Av. Sérgio Guerra / Bancários);</a:t>
            </a:r>
            <a:endParaRPr lang="en-US" sz="1200" dirty="0"/>
          </a:p>
          <a:p>
            <a:pPr indent="0" marL="0">
              <a:lnSpc>
                <a:spcPct val="130000"/>
              </a:lnSpc>
              <a:buNone/>
            </a:pPr>
            <a:r>
              <a:rPr lang="en-US" sz="1200" dirty="0">
                <a:solidFill>
                  <a:srgbClr val="CBD5E1"/>
                </a:solidFill>
                <a:latin typeface="Segoe UI" pitchFamily="34" charset="0"/>
                <a:ea typeface="Segoe UI" pitchFamily="34" charset="-122"/>
                <a:cs typeface="Segoe UI" pitchFamily="34" charset="-120"/>
              </a:rPr>
              <a:t>• </a:t>
            </a:r>
            <a:endParaRPr lang="en-US" sz="1200" dirty="0"/>
          </a:p>
          <a:p>
            <a:pPr indent="0" marL="0">
              <a:lnSpc>
                <a:spcPct val="130000"/>
              </a:lnSpc>
              <a:buNone/>
            </a:pPr>
            <a:r>
              <a:rPr lang="en-US" sz="1200" b="1" dirty="0">
                <a:solidFill>
                  <a:srgbClr val="FFFFFF"/>
                </a:solidFill>
                <a:latin typeface="Segoe UI" pitchFamily="34" charset="0"/>
                <a:ea typeface="Segoe UI" pitchFamily="34" charset="-122"/>
                <a:cs typeface="Segoe UI" pitchFamily="34" charset="-120"/>
              </a:rPr>
              <a:t>8 paradas principais:</a:t>
            </a:r>
            <a:pPr indent="0" marL="0">
              <a:lnSpc>
                <a:spcPct val="130000"/>
              </a:lnSpc>
              <a:buNone/>
            </a:pPr>
            <a:r>
              <a:rPr lang="en-US" sz="1200" dirty="0">
                <a:solidFill>
                  <a:srgbClr val="CBD5E1"/>
                </a:solidFill>
                <a:latin typeface="Segoe UI" pitchFamily="34" charset="0"/>
                <a:ea typeface="Segoe UI" pitchFamily="34" charset="-122"/>
                <a:cs typeface="Segoe UI" pitchFamily="34" charset="-120"/>
              </a:rPr>
              <a:t> CCHLA, Reitoria, RU, CCEN, CT, CE, Praça da Paz e CI Mangabeira.</a:t>
            </a:r>
            <a:endParaRPr lang="en-US" sz="1200" dirty="0"/>
          </a:p>
        </p:txBody>
      </p:sp>
      <p:sp>
        <p:nvSpPr>
          <p:cNvPr id="9" name="Shape 7"/>
          <p:cNvSpPr/>
          <p:nvPr/>
        </p:nvSpPr>
        <p:spPr>
          <a:xfrm>
            <a:off x="6217920" y="1691640"/>
            <a:ext cx="5212080" cy="3383280"/>
          </a:xfrm>
          <a:prstGeom prst="roundRect">
            <a:avLst>
              <a:gd name="adj" fmla="val 2703"/>
            </a:avLst>
          </a:prstGeom>
          <a:solidFill>
            <a:srgbClr val="0F172A"/>
          </a:solidFill>
          <a:ln w="12700">
            <a:solidFill>
              <a:srgbClr val="1F2D48"/>
            </a:solidFill>
            <a:prstDash val="solid"/>
          </a:ln>
        </p:spPr>
      </p:sp>
      <p:sp>
        <p:nvSpPr>
          <p:cNvPr id="10" name="Text 8"/>
          <p:cNvSpPr/>
          <p:nvPr/>
        </p:nvSpPr>
        <p:spPr>
          <a:xfrm>
            <a:off x="6492240" y="1874520"/>
            <a:ext cx="4663440" cy="365760"/>
          </a:xfrm>
          <a:prstGeom prst="rect">
            <a:avLst/>
          </a:prstGeom>
          <a:noFill/>
          <a:ln/>
        </p:spPr>
        <p:txBody>
          <a:bodyPr wrap="square" rtlCol="0" anchor="ctr"/>
          <a:lstStyle/>
          <a:p>
            <a:pPr indent="0" marL="0">
              <a:buNone/>
            </a:pPr>
            <a:r>
              <a:rPr lang="en-US" sz="1400" b="1" dirty="0">
                <a:solidFill>
                  <a:srgbClr val="FB7185"/>
                </a:solidFill>
                <a:latin typeface="Segoe UI" pitchFamily="34" charset="0"/>
                <a:ea typeface="Segoe UI" pitchFamily="34" charset="-122"/>
                <a:cs typeface="Segoe UI" pitchFamily="34" charset="-120"/>
              </a:rPr>
              <a:t>⚠️ Impactos da Falta de Previsibilidade</a:t>
            </a:r>
            <a:endParaRPr lang="en-US" sz="1400" dirty="0"/>
          </a:p>
        </p:txBody>
      </p:sp>
      <p:sp>
        <p:nvSpPr>
          <p:cNvPr id="11" name="Text 9"/>
          <p:cNvSpPr/>
          <p:nvPr/>
        </p:nvSpPr>
        <p:spPr>
          <a:xfrm>
            <a:off x="6492240" y="2286000"/>
            <a:ext cx="4663440" cy="2560320"/>
          </a:xfrm>
          <a:prstGeom prst="rect">
            <a:avLst/>
          </a:prstGeom>
          <a:noFill/>
          <a:ln/>
        </p:spPr>
        <p:txBody>
          <a:bodyPr wrap="square" rtlCol="0" anchor="ctr"/>
          <a:lstStyle/>
          <a:p>
            <a:pPr indent="0" marL="0">
              <a:lnSpc>
                <a:spcPct val="130000"/>
              </a:lnSpc>
              <a:buNone/>
            </a:pPr>
            <a:r>
              <a:rPr lang="en-US" sz="1200" dirty="0">
                <a:solidFill>
                  <a:srgbClr val="CBD5E1"/>
                </a:solidFill>
                <a:latin typeface="Segoe UI" pitchFamily="34" charset="0"/>
                <a:ea typeface="Segoe UI" pitchFamily="34" charset="-122"/>
                <a:cs typeface="Segoe UI" pitchFamily="34" charset="-120"/>
              </a:rPr>
              <a:t>✕ Passageiros aguardam nas paradas no escuro, sem saber se o ônibus acabou de passar ou se atrasará 30 min;
</a:t>
            </a:r>
            <a:pPr indent="0" marL="0">
              <a:lnSpc>
                <a:spcPct val="130000"/>
              </a:lnSpc>
              <a:buNone/>
            </a:pPr>
            <a:r>
              <a:rPr lang="en-US" sz="1200" dirty="0">
                <a:solidFill>
                  <a:srgbClr val="CBD5E1"/>
                </a:solidFill>
                <a:latin typeface="Segoe UI" pitchFamily="34" charset="0"/>
                <a:ea typeface="Segoe UI" pitchFamily="34" charset="-122"/>
                <a:cs typeface="Segoe UI" pitchFamily="34" charset="-120"/>
              </a:rPr>
              <a:t>✕ Exposição a intempéries climáticas e vulnerabilidade de segurança pública nos pontos isolados;
</a:t>
            </a:r>
            <a:pPr indent="0" marL="0">
              <a:lnSpc>
                <a:spcPct val="130000"/>
              </a:lnSpc>
              <a:buNone/>
            </a:pPr>
            <a:r>
              <a:rPr lang="en-US" sz="1200" dirty="0">
                <a:solidFill>
                  <a:srgbClr val="CBD5E1"/>
                </a:solidFill>
                <a:latin typeface="Segoe UI" pitchFamily="34" charset="0"/>
                <a:ea typeface="Segoe UI" pitchFamily="34" charset="-122"/>
                <a:cs typeface="Segoe UI" pitchFamily="34" charset="-120"/>
              </a:rPr>
              <a:t>✕ Superlotação repentina nas paradas e atrasos em avaliações acadêmicas e aulas práticas.</a:t>
            </a:r>
            <a:endParaRPr lang="en-US" sz="1200" dirty="0"/>
          </a:p>
        </p:txBody>
      </p:sp>
      <p:sp>
        <p:nvSpPr>
          <p:cNvPr id="12" name="Shape 10"/>
          <p:cNvSpPr/>
          <p:nvPr/>
        </p:nvSpPr>
        <p:spPr>
          <a:xfrm>
            <a:off x="731520" y="5257800"/>
            <a:ext cx="10698480" cy="1005840"/>
          </a:xfrm>
          <a:prstGeom prst="roundRect">
            <a:avLst>
              <a:gd name="adj" fmla="val 9091"/>
            </a:avLst>
          </a:prstGeom>
          <a:solidFill>
            <a:srgbClr val="0A1122"/>
          </a:solidFill>
          <a:ln w="12700">
            <a:solidFill>
              <a:srgbClr val="1F2D48"/>
            </a:solidFill>
            <a:prstDash val="solid"/>
          </a:ln>
        </p:spPr>
      </p:sp>
      <p:sp>
        <p:nvSpPr>
          <p:cNvPr id="13" name="Text 11"/>
          <p:cNvSpPr/>
          <p:nvPr/>
        </p:nvSpPr>
        <p:spPr>
          <a:xfrm>
            <a:off x="914400" y="5486400"/>
            <a:ext cx="10332720" cy="548640"/>
          </a:xfrm>
          <a:prstGeom prst="rect">
            <a:avLst/>
          </a:prstGeom>
          <a:noFill/>
          <a:ln/>
        </p:spPr>
        <p:txBody>
          <a:bodyPr wrap="square" rtlCol="0" anchor="ctr"/>
          <a:lstStyle/>
          <a:p>
            <a:pPr algn="ctr" indent="0" marL="0">
              <a:buNone/>
            </a:pPr>
            <a:r>
              <a:rPr lang="en-US" sz="1100" b="1" dirty="0">
                <a:solidFill>
                  <a:srgbClr val="38BDF8"/>
                </a:solidFill>
                <a:latin typeface="Segoe UI" pitchFamily="34" charset="0"/>
                <a:ea typeface="Segoe UI" pitchFamily="34" charset="-122"/>
                <a:cs typeface="Segoe UI" pitchFamily="34" charset="-120"/>
              </a:rPr>
              <a:t>ITINERÁRIO ESTRATÉGICO: 1. CCHLA → 2. Reitoria → 3. RU → 4. CCEN → 5. CT → 6. Praça da Paz → 7. Mangabeira Shopping → 8. CI Mangabeira</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B14"/>
        </a:solidFill>
      </p:bgPr>
    </p:bg>
    <p:spTree>
      <p:nvGrpSpPr>
        <p:cNvPr id="1" name=""/>
        <p:cNvGrpSpPr/>
        <p:nvPr/>
      </p:nvGrpSpPr>
      <p:grpSpPr>
        <a:xfrm>
          <a:off x="0" y="0"/>
          <a:ext cx="0" cy="0"/>
          <a:chOff x="0" y="0"/>
          <a:chExt cx="0" cy="0"/>
        </a:xfrm>
      </p:grpSpPr>
      <p:sp>
        <p:nvSpPr>
          <p:cNvPr id="2" name="Text 0"/>
          <p:cNvSpPr/>
          <p:nvPr/>
        </p:nvSpPr>
        <p:spPr>
          <a:xfrm>
            <a:off x="731520" y="365760"/>
            <a:ext cx="4114800" cy="292608"/>
          </a:xfrm>
          <a:prstGeom prst="rect">
            <a:avLst/>
          </a:prstGeom>
          <a:solidFill>
            <a:srgbClr val="0E2238"/>
          </a:solidFill>
          <a:ln/>
        </p:spPr>
        <p:txBody>
          <a:bodyPr wrap="square" lIns="0" tIns="101600" rIns="101600" bIns="0" rtlCol="0" anchor="ctr"/>
          <a:lstStyle/>
          <a:p>
            <a:pPr algn="l" indent="0" marL="0">
              <a:buNone/>
            </a:pPr>
            <a:r>
              <a:rPr lang="en-US" sz="1000" b="1" dirty="0">
                <a:solidFill>
                  <a:srgbClr val="38BDF8"/>
                </a:solidFill>
                <a:latin typeface="Segoe UI" pitchFamily="34" charset="0"/>
                <a:ea typeface="Segoe UI" pitchFamily="34" charset="-122"/>
                <a:cs typeface="Segoe UI" pitchFamily="34" charset="-120"/>
              </a:rPr>
              <a:t>PROBLEMA DE PESQUISA</a:t>
            </a:r>
            <a:endParaRPr lang="en-US" sz="1000" dirty="0"/>
          </a:p>
        </p:txBody>
      </p:sp>
      <p:sp>
        <p:nvSpPr>
          <p:cNvPr id="3" name="Text 1"/>
          <p:cNvSpPr/>
          <p:nvPr/>
        </p:nvSpPr>
        <p:spPr>
          <a:xfrm>
            <a:off x="7772400" y="365760"/>
            <a:ext cx="3657600" cy="292608"/>
          </a:xfrm>
          <a:prstGeom prst="rect">
            <a:avLst/>
          </a:prstGeom>
          <a:noFill/>
          <a:ln/>
        </p:spPr>
        <p:txBody>
          <a:bodyPr wrap="square" rtlCol="0" anchor="ctr"/>
          <a:lstStyle/>
          <a:p>
            <a:pPr algn="r" indent="0" marL="0">
              <a:buNone/>
            </a:pPr>
            <a:r>
              <a:rPr lang="en-US" sz="1000" dirty="0">
                <a:solidFill>
                  <a:srgbClr val="94A3B8"/>
                </a:solidFill>
                <a:latin typeface="Consolas" pitchFamily="34" charset="0"/>
                <a:ea typeface="Consolas" pitchFamily="34" charset="-122"/>
                <a:cs typeface="Consolas" pitchFamily="34" charset="-120"/>
              </a:rPr>
              <a:t>⏱️ 02:00 - 03:30 (1m30s)</a:t>
            </a:r>
            <a:endParaRPr lang="en-US" sz="1000" dirty="0"/>
          </a:p>
        </p:txBody>
      </p:sp>
      <p:sp>
        <p:nvSpPr>
          <p:cNvPr id="4" name="Text 2"/>
          <p:cNvSpPr/>
          <p:nvPr/>
        </p:nvSpPr>
        <p:spPr>
          <a:xfrm>
            <a:off x="731520" y="713232"/>
            <a:ext cx="10698480" cy="548640"/>
          </a:xfrm>
          <a:prstGeom prst="rect">
            <a:avLst/>
          </a:prstGeom>
          <a:noFill/>
          <a:ln/>
        </p:spPr>
        <p:txBody>
          <a:bodyPr wrap="square" rtlCol="0" anchor="t"/>
          <a:lstStyle/>
          <a:p>
            <a:pPr indent="0" marL="0">
              <a:buNone/>
            </a:pPr>
            <a:r>
              <a:rPr lang="en-US" sz="2200" b="1" dirty="0">
                <a:solidFill>
                  <a:srgbClr val="FFFFFF"/>
                </a:solidFill>
                <a:latin typeface="Segoe UI" pitchFamily="34" charset="0"/>
                <a:ea typeface="Segoe UI" pitchFamily="34" charset="-122"/>
                <a:cs typeface="Segoe UI" pitchFamily="34" charset="-120"/>
              </a:rPr>
              <a:t>A Assimetria Informacional e o Dilema de Custos</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300" dirty="0">
                <a:solidFill>
                  <a:srgbClr val="38BDF8"/>
                </a:solidFill>
                <a:latin typeface="Segoe UI" pitchFamily="34" charset="0"/>
                <a:ea typeface="Segoe UI" pitchFamily="34" charset="-122"/>
                <a:cs typeface="Segoe UI" pitchFamily="34" charset="-120"/>
              </a:rPr>
              <a:t>Por que o transporte público universitário ainda opera sem rastreamento em tempo real?</a:t>
            </a:r>
            <a:endParaRPr lang="en-US" sz="1300" dirty="0"/>
          </a:p>
        </p:txBody>
      </p:sp>
      <p:sp>
        <p:nvSpPr>
          <p:cNvPr id="6" name="Shape 4"/>
          <p:cNvSpPr/>
          <p:nvPr/>
        </p:nvSpPr>
        <p:spPr>
          <a:xfrm>
            <a:off x="731520" y="1691640"/>
            <a:ext cx="5212080" cy="3200400"/>
          </a:xfrm>
          <a:prstGeom prst="roundRect">
            <a:avLst>
              <a:gd name="adj" fmla="val 2857"/>
            </a:avLst>
          </a:prstGeom>
          <a:solidFill>
            <a:srgbClr val="0F172A"/>
          </a:solidFill>
          <a:ln w="12700">
            <a:solidFill>
              <a:srgbClr val="1F2D48"/>
            </a:solidFill>
            <a:prstDash val="solid"/>
          </a:ln>
        </p:spPr>
      </p:sp>
      <p:sp>
        <p:nvSpPr>
          <p:cNvPr id="7" name="Text 5"/>
          <p:cNvSpPr/>
          <p:nvPr/>
        </p:nvSpPr>
        <p:spPr>
          <a:xfrm>
            <a:off x="1005840" y="1874520"/>
            <a:ext cx="4663440" cy="365760"/>
          </a:xfrm>
          <a:prstGeom prst="rect">
            <a:avLst/>
          </a:prstGeom>
          <a:noFill/>
          <a:ln/>
        </p:spPr>
        <p:txBody>
          <a:bodyPr wrap="square" rtlCol="0" anchor="ctr"/>
          <a:lstStyle/>
          <a:p>
            <a:pPr indent="0" marL="0">
              <a:buNone/>
            </a:pPr>
            <a:r>
              <a:rPr lang="en-US" sz="1400" b="1" dirty="0">
                <a:solidFill>
                  <a:srgbClr val="F59E0B"/>
                </a:solidFill>
                <a:latin typeface="Segoe UI" pitchFamily="34" charset="0"/>
                <a:ea typeface="Segoe UI" pitchFamily="34" charset="-122"/>
                <a:cs typeface="Segoe UI" pitchFamily="34" charset="-120"/>
              </a:rPr>
              <a:t>🏛️ O Dilema da Universidade Pública</a:t>
            </a:r>
            <a:endParaRPr lang="en-US" sz="1400" dirty="0"/>
          </a:p>
        </p:txBody>
      </p:sp>
      <p:sp>
        <p:nvSpPr>
          <p:cNvPr id="8" name="Text 6"/>
          <p:cNvSpPr/>
          <p:nvPr/>
        </p:nvSpPr>
        <p:spPr>
          <a:xfrm>
            <a:off x="1005840" y="2286000"/>
            <a:ext cx="4663440" cy="2468880"/>
          </a:xfrm>
          <a:prstGeom prst="rect">
            <a:avLst/>
          </a:prstGeom>
          <a:noFill/>
          <a:ln/>
        </p:spPr>
        <p:txBody>
          <a:bodyPr wrap="square" rtlCol="0" anchor="ctr"/>
          <a:lstStyle/>
          <a:p>
            <a:pPr indent="0" marL="0">
              <a:lnSpc>
                <a:spcPct val="125000"/>
              </a:lnSpc>
              <a:buNone/>
            </a:pPr>
            <a:r>
              <a:rPr lang="en-US" sz="1150" b="1" dirty="0">
                <a:solidFill>
                  <a:srgbClr val="FFFFFF"/>
                </a:solidFill>
                <a:latin typeface="Segoe UI" pitchFamily="34" charset="0"/>
                <a:ea typeface="Segoe UI" pitchFamily="34" charset="-122"/>
                <a:cs typeface="Segoe UI" pitchFamily="34" charset="-120"/>
              </a:rPr>
              <a:t>• Orçamento Custeio Rígido: </a:t>
            </a:r>
            <a:pPr indent="0" marL="0">
              <a:lnSpc>
                <a:spcPct val="125000"/>
              </a:lnSpc>
              <a:buNone/>
            </a:pPr>
            <a:r>
              <a:rPr lang="en-US" sz="1150" dirty="0">
                <a:solidFill>
                  <a:srgbClr val="CBD5E1"/>
                </a:solidFill>
                <a:latin typeface="Segoe UI" pitchFamily="34" charset="0"/>
                <a:ea typeface="Segoe UI" pitchFamily="34" charset="-122"/>
                <a:cs typeface="Segoe UI" pitchFamily="34" charset="-120"/>
              </a:rPr>
              <a:t>Impossibilidade de assumir despesas mensais recorrentes com chips 4G M2M;
</a:t>
            </a:r>
            <a:pPr indent="0" marL="0">
              <a:lnSpc>
                <a:spcPct val="125000"/>
              </a:lnSpc>
              <a:buNone/>
            </a:pPr>
            <a:r>
              <a:rPr lang="en-US" sz="1150" b="1" dirty="0">
                <a:solidFill>
                  <a:srgbClr val="FFFFFF"/>
                </a:solidFill>
                <a:latin typeface="Segoe UI" pitchFamily="34" charset="0"/>
                <a:ea typeface="Segoe UI" pitchFamily="34" charset="-122"/>
                <a:cs typeface="Segoe UI" pitchFamily="34" charset="-120"/>
              </a:rPr>
              <a:t>• Frotas Mistas e Terceirizadas: </a:t>
            </a:r>
            <a:pPr indent="0" marL="0">
              <a:lnSpc>
                <a:spcPct val="125000"/>
              </a:lnSpc>
              <a:buNone/>
            </a:pPr>
            <a:r>
              <a:rPr lang="en-US" sz="1150" dirty="0">
                <a:solidFill>
                  <a:srgbClr val="CBD5E1"/>
                </a:solidFill>
                <a:latin typeface="Segoe UI" pitchFamily="34" charset="0"/>
                <a:ea typeface="Segoe UI" pitchFamily="34" charset="-122"/>
                <a:cs typeface="Segoe UI" pitchFamily="34" charset="-120"/>
              </a:rPr>
              <a:t>Ônibus alugados não permitem instalação invasiva na fiação ou na rede CAN do veículo;
</a:t>
            </a:r>
            <a:pPr indent="0" marL="0">
              <a:lnSpc>
                <a:spcPct val="125000"/>
              </a:lnSpc>
              <a:buNone/>
            </a:pPr>
            <a:r>
              <a:rPr lang="en-US" sz="1150" b="1" dirty="0">
                <a:solidFill>
                  <a:srgbClr val="FFFFFF"/>
                </a:solidFill>
                <a:latin typeface="Segoe UI" pitchFamily="34" charset="0"/>
                <a:ea typeface="Segoe UI" pitchFamily="34" charset="-122"/>
                <a:cs typeface="Segoe UI" pitchFamily="34" charset="-120"/>
              </a:rPr>
              <a:t>• Sistemas Proprietários Fechados: </a:t>
            </a:r>
            <a:pPr indent="0" marL="0">
              <a:lnSpc>
                <a:spcPct val="125000"/>
              </a:lnSpc>
              <a:buNone/>
            </a:pPr>
            <a:r>
              <a:rPr lang="en-US" sz="1150" dirty="0">
                <a:solidFill>
                  <a:srgbClr val="CBD5E1"/>
                </a:solidFill>
                <a:latin typeface="Segoe UI" pitchFamily="34" charset="0"/>
                <a:ea typeface="Segoe UI" pitchFamily="34" charset="-122"/>
                <a:cs typeface="Segoe UI" pitchFamily="34" charset="-120"/>
              </a:rPr>
              <a:t>Softwares industriais exigem licenças caras e dependência de fornecedor.</a:t>
            </a:r>
            <a:endParaRPr lang="en-US" sz="1150" dirty="0"/>
          </a:p>
        </p:txBody>
      </p:sp>
      <p:sp>
        <p:nvSpPr>
          <p:cNvPr id="9" name="Shape 7"/>
          <p:cNvSpPr/>
          <p:nvPr/>
        </p:nvSpPr>
        <p:spPr>
          <a:xfrm>
            <a:off x="6217920" y="1691640"/>
            <a:ext cx="5212080" cy="3200400"/>
          </a:xfrm>
          <a:prstGeom prst="roundRect">
            <a:avLst>
              <a:gd name="adj" fmla="val 2857"/>
            </a:avLst>
          </a:prstGeom>
          <a:solidFill>
            <a:srgbClr val="0A1428"/>
          </a:solidFill>
          <a:ln w="19050">
            <a:solidFill>
              <a:srgbClr val="0284C7"/>
            </a:solidFill>
            <a:prstDash val="solid"/>
          </a:ln>
        </p:spPr>
      </p:sp>
      <p:sp>
        <p:nvSpPr>
          <p:cNvPr id="10" name="Text 8"/>
          <p:cNvSpPr/>
          <p:nvPr/>
        </p:nvSpPr>
        <p:spPr>
          <a:xfrm>
            <a:off x="6492240" y="1874520"/>
            <a:ext cx="4663440" cy="365760"/>
          </a:xfrm>
          <a:prstGeom prst="rect">
            <a:avLst/>
          </a:prstGeom>
          <a:noFill/>
          <a:ln/>
        </p:spPr>
        <p:txBody>
          <a:bodyPr wrap="square" rtlCol="0" anchor="ctr"/>
          <a:lstStyle/>
          <a:p>
            <a:pPr indent="0" marL="0">
              <a:buNone/>
            </a:pPr>
            <a:r>
              <a:rPr lang="en-US" sz="1400" b="1" dirty="0">
                <a:solidFill>
                  <a:srgbClr val="38BDF8"/>
                </a:solidFill>
                <a:latin typeface="Segoe UI" pitchFamily="34" charset="0"/>
                <a:ea typeface="Segoe UI" pitchFamily="34" charset="-122"/>
                <a:cs typeface="Segoe UI" pitchFamily="34" charset="-120"/>
              </a:rPr>
              <a:t>🎯 A Pergunta Científica</a:t>
            </a:r>
            <a:endParaRPr lang="en-US" sz="1400" dirty="0"/>
          </a:p>
        </p:txBody>
      </p:sp>
      <p:sp>
        <p:nvSpPr>
          <p:cNvPr id="11" name="Text 9"/>
          <p:cNvSpPr/>
          <p:nvPr/>
        </p:nvSpPr>
        <p:spPr>
          <a:xfrm>
            <a:off x="6492240" y="2286000"/>
            <a:ext cx="4663440" cy="2468880"/>
          </a:xfrm>
          <a:prstGeom prst="rect">
            <a:avLst/>
          </a:prstGeom>
          <a:noFill/>
          <a:ln/>
        </p:spPr>
        <p:txBody>
          <a:bodyPr wrap="square" rtlCol="0" anchor="ctr"/>
          <a:lstStyle/>
          <a:p>
            <a:pPr indent="0" marL="0">
              <a:lnSpc>
                <a:spcPct val="130000"/>
              </a:lnSpc>
              <a:buNone/>
            </a:pPr>
            <a:r>
              <a:rPr lang="en-US" sz="1200" i="1" dirty="0">
                <a:solidFill>
                  <a:srgbClr val="CBD5E1"/>
                </a:solidFill>
                <a:latin typeface="Segoe UI" pitchFamily="34" charset="0"/>
                <a:ea typeface="Segoe UI" pitchFamily="34" charset="-122"/>
                <a:cs typeface="Segoe UI" pitchFamily="34" charset="-120"/>
              </a:rPr>
              <a:t>"É possível alcançar a mesma </a:t>
            </a:r>
            <a:pPr indent="0" marL="0">
              <a:lnSpc>
                <a:spcPct val="130000"/>
              </a:lnSpc>
              <a:buNone/>
            </a:pPr>
            <a:r>
              <a:rPr lang="en-US" sz="1200" b="1" i="1" dirty="0">
                <a:solidFill>
                  <a:srgbClr val="FFFFFF"/>
                </a:solidFill>
                <a:latin typeface="Segoe UI" pitchFamily="34" charset="0"/>
                <a:ea typeface="Segoe UI" pitchFamily="34" charset="-122"/>
                <a:cs typeface="Segoe UI" pitchFamily="34" charset="-120"/>
              </a:rPr>
              <a:t>confiabilidade e precisão determinística</a:t>
            </a:r>
            <a:pPr indent="0" marL="0">
              <a:lnSpc>
                <a:spcPct val="130000"/>
              </a:lnSpc>
              <a:buNone/>
            </a:pPr>
            <a:r>
              <a:rPr lang="en-US" sz="1200" i="1" dirty="0">
                <a:solidFill>
                  <a:srgbClr val="CBD5E1"/>
                </a:solidFill>
                <a:latin typeface="Segoe UI" pitchFamily="34" charset="0"/>
                <a:ea typeface="Segoe UI" pitchFamily="34" charset="-122"/>
                <a:cs typeface="Segoe UI" pitchFamily="34" charset="-120"/>
              </a:rPr>
              <a:t> de um rastreador veicular dedicado, aproveitando a </a:t>
            </a:r>
            <a:pPr indent="0" marL="0">
              <a:lnSpc>
                <a:spcPct val="130000"/>
              </a:lnSpc>
              <a:buNone/>
            </a:pPr>
            <a:r>
              <a:rPr lang="en-US" sz="1200" b="1" i="1" dirty="0">
                <a:solidFill>
                  <a:srgbClr val="FFFFFF"/>
                </a:solidFill>
                <a:latin typeface="Segoe UI" pitchFamily="34" charset="0"/>
                <a:ea typeface="Segoe UI" pitchFamily="34" charset="-122"/>
                <a:cs typeface="Segoe UI" pitchFamily="34" charset="-120"/>
              </a:rPr>
              <a:t>conectividade e sensores dos smartphones dos passageiros</a:t>
            </a:r>
            <a:pPr indent="0" marL="0">
              <a:lnSpc>
                <a:spcPct val="130000"/>
              </a:lnSpc>
              <a:buNone/>
            </a:pPr>
            <a:r>
              <a:rPr lang="en-US" sz="1200" i="1" dirty="0">
                <a:solidFill>
                  <a:srgbClr val="CBD5E1"/>
                </a:solidFill>
                <a:latin typeface="Segoe UI" pitchFamily="34" charset="0"/>
                <a:ea typeface="Segoe UI" pitchFamily="34" charset="-122"/>
                <a:cs typeface="Segoe UI" pitchFamily="34" charset="-120"/>
              </a:rPr>
              <a:t>, eliminando o custo de planos de dados e blindando o sistema contra o ruído de pedestres?"
</a:t>
            </a:r>
            <a:pPr indent="0" marL="0">
              <a:lnSpc>
                <a:spcPct val="130000"/>
              </a:lnSpc>
              <a:buNone/>
            </a:pPr>
            <a:r>
              <a:rPr lang="en-US" sz="1200" b="1" dirty="0">
                <a:solidFill>
                  <a:srgbClr val="34D399"/>
                </a:solidFill>
                <a:latin typeface="Segoe UI" pitchFamily="34" charset="0"/>
                <a:ea typeface="Segoe UI" pitchFamily="34" charset="-122"/>
                <a:cs typeface="Segoe UI" pitchFamily="34" charset="-120"/>
              </a:rPr>
              <a:t>➜ Resposta LocBUS: </a:t>
            </a:r>
            <a:pPr indent="0" marL="0">
              <a:lnSpc>
                <a:spcPct val="130000"/>
              </a:lnSpc>
              <a:buNone/>
            </a:pPr>
            <a:r>
              <a:rPr lang="en-US" sz="1200" dirty="0">
                <a:solidFill>
                  <a:srgbClr val="CBD5E1"/>
                </a:solidFill>
                <a:latin typeface="Segoe UI" pitchFamily="34" charset="0"/>
                <a:ea typeface="Segoe UI" pitchFamily="34" charset="-122"/>
                <a:cs typeface="Segoe UI" pitchFamily="34" charset="-120"/>
              </a:rPr>
              <a:t>Simbiose entre rádio veicular de curto alcance e sensoriamento móvel participativo.</a:t>
            </a:r>
            <a:endParaRPr lang="en-US" sz="1200" dirty="0"/>
          </a:p>
        </p:txBody>
      </p:sp>
      <p:sp>
        <p:nvSpPr>
          <p:cNvPr id="12" name="Shape 10"/>
          <p:cNvSpPr/>
          <p:nvPr/>
        </p:nvSpPr>
        <p:spPr>
          <a:xfrm>
            <a:off x="731520" y="5074920"/>
            <a:ext cx="3474720" cy="1234440"/>
          </a:xfrm>
          <a:prstGeom prst="roundRect">
            <a:avLst>
              <a:gd name="adj" fmla="val 7407"/>
            </a:avLst>
          </a:prstGeom>
          <a:solidFill>
            <a:srgbClr val="141E33"/>
          </a:solidFill>
          <a:ln w="12700">
            <a:solidFill>
              <a:srgbClr val="1F2D48"/>
            </a:solidFill>
            <a:prstDash val="solid"/>
          </a:ln>
        </p:spPr>
      </p:sp>
      <p:sp>
        <p:nvSpPr>
          <p:cNvPr id="13" name="Text 11"/>
          <p:cNvSpPr/>
          <p:nvPr/>
        </p:nvSpPr>
        <p:spPr>
          <a:xfrm>
            <a:off x="731520" y="5212080"/>
            <a:ext cx="3474720" cy="548640"/>
          </a:xfrm>
          <a:prstGeom prst="rect">
            <a:avLst/>
          </a:prstGeom>
          <a:noFill/>
          <a:ln/>
        </p:spPr>
        <p:txBody>
          <a:bodyPr wrap="square" rtlCol="0" anchor="ctr"/>
          <a:lstStyle/>
          <a:p>
            <a:pPr algn="ctr" indent="0" marL="0">
              <a:buNone/>
            </a:pPr>
            <a:r>
              <a:rPr lang="en-US" sz="2200" b="1" dirty="0">
                <a:solidFill>
                  <a:srgbClr val="FB7185"/>
                </a:solidFill>
                <a:latin typeface="Consolas" pitchFamily="34" charset="0"/>
                <a:ea typeface="Consolas" pitchFamily="34" charset="-122"/>
                <a:cs typeface="Consolas" pitchFamily="34" charset="-120"/>
              </a:rPr>
              <a:t>R$ 2.500</a:t>
            </a:r>
            <a:endParaRPr lang="en-US" sz="2200" dirty="0"/>
          </a:p>
        </p:txBody>
      </p:sp>
      <p:sp>
        <p:nvSpPr>
          <p:cNvPr id="14" name="Text 12"/>
          <p:cNvSpPr/>
          <p:nvPr/>
        </p:nvSpPr>
        <p:spPr>
          <a:xfrm>
            <a:off x="731520" y="5760720"/>
            <a:ext cx="3474720" cy="365760"/>
          </a:xfrm>
          <a:prstGeom prst="rect">
            <a:avLst/>
          </a:prstGeom>
          <a:noFill/>
          <a:ln/>
        </p:spPr>
        <p:txBody>
          <a:bodyPr wrap="square" rtlCol="0" anchor="ctr"/>
          <a:lstStyle/>
          <a:p>
            <a:pPr algn="ctr" indent="0" marL="0">
              <a:buNone/>
            </a:pPr>
            <a:r>
              <a:rPr lang="en-US" sz="950" b="1" dirty="0">
                <a:solidFill>
                  <a:srgbClr val="94A3B8"/>
                </a:solidFill>
                <a:latin typeface="Segoe UI" pitchFamily="34" charset="0"/>
                <a:ea typeface="Segoe UI" pitchFamily="34" charset="-122"/>
                <a:cs typeface="Segoe UI" pitchFamily="34" charset="-120"/>
              </a:rPr>
              <a:t>CUSTO RASTREADOR AVL / VEÍCULO</a:t>
            </a:r>
            <a:endParaRPr lang="en-US" sz="950" dirty="0"/>
          </a:p>
        </p:txBody>
      </p:sp>
      <p:sp>
        <p:nvSpPr>
          <p:cNvPr id="15" name="Shape 13"/>
          <p:cNvSpPr/>
          <p:nvPr/>
        </p:nvSpPr>
        <p:spPr>
          <a:xfrm>
            <a:off x="4343400" y="5074920"/>
            <a:ext cx="3474720" cy="1234440"/>
          </a:xfrm>
          <a:prstGeom prst="roundRect">
            <a:avLst>
              <a:gd name="adj" fmla="val 7407"/>
            </a:avLst>
          </a:prstGeom>
          <a:solidFill>
            <a:srgbClr val="141E33"/>
          </a:solidFill>
          <a:ln w="12700">
            <a:solidFill>
              <a:srgbClr val="1F2D48"/>
            </a:solidFill>
            <a:prstDash val="solid"/>
          </a:ln>
        </p:spPr>
      </p:sp>
      <p:sp>
        <p:nvSpPr>
          <p:cNvPr id="16" name="Text 14"/>
          <p:cNvSpPr/>
          <p:nvPr/>
        </p:nvSpPr>
        <p:spPr>
          <a:xfrm>
            <a:off x="4343400" y="5212080"/>
            <a:ext cx="3474720" cy="548640"/>
          </a:xfrm>
          <a:prstGeom prst="rect">
            <a:avLst/>
          </a:prstGeom>
          <a:noFill/>
          <a:ln/>
        </p:spPr>
        <p:txBody>
          <a:bodyPr wrap="square" rtlCol="0" anchor="ctr"/>
          <a:lstStyle/>
          <a:p>
            <a:pPr algn="ctr" indent="0" marL="0">
              <a:buNone/>
            </a:pPr>
            <a:r>
              <a:rPr lang="en-US" sz="2200" b="1" dirty="0">
                <a:solidFill>
                  <a:srgbClr val="FB7185"/>
                </a:solidFill>
                <a:latin typeface="Consolas" pitchFamily="34" charset="0"/>
                <a:ea typeface="Consolas" pitchFamily="34" charset="-122"/>
                <a:cs typeface="Consolas" pitchFamily="34" charset="-120"/>
              </a:rPr>
              <a:t>R$ 100/mês</a:t>
            </a:r>
            <a:endParaRPr lang="en-US" sz="2200" dirty="0"/>
          </a:p>
        </p:txBody>
      </p:sp>
      <p:sp>
        <p:nvSpPr>
          <p:cNvPr id="17" name="Text 15"/>
          <p:cNvSpPr/>
          <p:nvPr/>
        </p:nvSpPr>
        <p:spPr>
          <a:xfrm>
            <a:off x="4343400" y="5760720"/>
            <a:ext cx="3474720" cy="365760"/>
          </a:xfrm>
          <a:prstGeom prst="rect">
            <a:avLst/>
          </a:prstGeom>
          <a:noFill/>
          <a:ln/>
        </p:spPr>
        <p:txBody>
          <a:bodyPr wrap="square" rtlCol="0" anchor="ctr"/>
          <a:lstStyle/>
          <a:p>
            <a:pPr algn="ctr" indent="0" marL="0">
              <a:buNone/>
            </a:pPr>
            <a:r>
              <a:rPr lang="en-US" sz="950" b="1" dirty="0">
                <a:solidFill>
                  <a:srgbClr val="94A3B8"/>
                </a:solidFill>
                <a:latin typeface="Segoe UI" pitchFamily="34" charset="0"/>
                <a:ea typeface="Segoe UI" pitchFamily="34" charset="-122"/>
                <a:cs typeface="Segoe UI" pitchFamily="34" charset="-120"/>
              </a:rPr>
              <a:t>MENSALIDADE 4G M2M POR ÔNIBUS</a:t>
            </a:r>
            <a:endParaRPr lang="en-US" sz="950" dirty="0"/>
          </a:p>
        </p:txBody>
      </p:sp>
      <p:sp>
        <p:nvSpPr>
          <p:cNvPr id="18" name="Shape 16"/>
          <p:cNvSpPr/>
          <p:nvPr/>
        </p:nvSpPr>
        <p:spPr>
          <a:xfrm>
            <a:off x="7955280" y="5074920"/>
            <a:ext cx="3474720" cy="1234440"/>
          </a:xfrm>
          <a:prstGeom prst="roundRect">
            <a:avLst>
              <a:gd name="adj" fmla="val 7407"/>
            </a:avLst>
          </a:prstGeom>
          <a:solidFill>
            <a:srgbClr val="141E33"/>
          </a:solidFill>
          <a:ln w="12700">
            <a:solidFill>
              <a:srgbClr val="1F2D48"/>
            </a:solidFill>
            <a:prstDash val="solid"/>
          </a:ln>
        </p:spPr>
      </p:sp>
      <p:sp>
        <p:nvSpPr>
          <p:cNvPr id="19" name="Text 17"/>
          <p:cNvSpPr/>
          <p:nvPr/>
        </p:nvSpPr>
        <p:spPr>
          <a:xfrm>
            <a:off x="7955280" y="5212080"/>
            <a:ext cx="3474720" cy="548640"/>
          </a:xfrm>
          <a:prstGeom prst="rect">
            <a:avLst/>
          </a:prstGeom>
          <a:noFill/>
          <a:ln/>
        </p:spPr>
        <p:txBody>
          <a:bodyPr wrap="square" rtlCol="0" anchor="ctr"/>
          <a:lstStyle/>
          <a:p>
            <a:pPr algn="ctr" indent="0" marL="0">
              <a:buNone/>
            </a:pPr>
            <a:r>
              <a:rPr lang="en-US" sz="2200" b="1" dirty="0">
                <a:solidFill>
                  <a:srgbClr val="34D399"/>
                </a:solidFill>
                <a:latin typeface="Consolas" pitchFamily="34" charset="0"/>
                <a:ea typeface="Consolas" pitchFamily="34" charset="-122"/>
                <a:cs typeface="Consolas" pitchFamily="34" charset="-120"/>
              </a:rPr>
              <a:t>R$ 0/mês</a:t>
            </a:r>
            <a:endParaRPr lang="en-US" sz="2200" dirty="0"/>
          </a:p>
        </p:txBody>
      </p:sp>
      <p:sp>
        <p:nvSpPr>
          <p:cNvPr id="20" name="Text 18"/>
          <p:cNvSpPr/>
          <p:nvPr/>
        </p:nvSpPr>
        <p:spPr>
          <a:xfrm>
            <a:off x="7955280" y="5760720"/>
            <a:ext cx="3474720" cy="365760"/>
          </a:xfrm>
          <a:prstGeom prst="rect">
            <a:avLst/>
          </a:prstGeom>
          <a:noFill/>
          <a:ln/>
        </p:spPr>
        <p:txBody>
          <a:bodyPr wrap="square" rtlCol="0" anchor="ctr"/>
          <a:lstStyle/>
          <a:p>
            <a:pPr algn="ctr" indent="0" marL="0">
              <a:buNone/>
            </a:pPr>
            <a:r>
              <a:rPr lang="en-US" sz="950" b="1" dirty="0">
                <a:solidFill>
                  <a:srgbClr val="94A3B8"/>
                </a:solidFill>
                <a:latin typeface="Segoe UI" pitchFamily="34" charset="0"/>
                <a:ea typeface="Segoe UI" pitchFamily="34" charset="-122"/>
                <a:cs typeface="Segoe UI" pitchFamily="34" charset="-120"/>
              </a:rPr>
              <a:t>GASTO MENSAL NA ABORDAGEM LOCBUS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B14"/>
        </a:solidFill>
      </p:bgPr>
    </p:bg>
    <p:spTree>
      <p:nvGrpSpPr>
        <p:cNvPr id="1" name=""/>
        <p:cNvGrpSpPr/>
        <p:nvPr/>
      </p:nvGrpSpPr>
      <p:grpSpPr>
        <a:xfrm>
          <a:off x="0" y="0"/>
          <a:ext cx="0" cy="0"/>
          <a:chOff x="0" y="0"/>
          <a:chExt cx="0" cy="0"/>
        </a:xfrm>
      </p:grpSpPr>
      <p:sp>
        <p:nvSpPr>
          <p:cNvPr id="2" name="Text 0"/>
          <p:cNvSpPr/>
          <p:nvPr/>
        </p:nvSpPr>
        <p:spPr>
          <a:xfrm>
            <a:off x="731520" y="365760"/>
            <a:ext cx="4114800" cy="292608"/>
          </a:xfrm>
          <a:prstGeom prst="rect">
            <a:avLst/>
          </a:prstGeom>
          <a:solidFill>
            <a:srgbClr val="0E2238"/>
          </a:solidFill>
          <a:ln/>
        </p:spPr>
        <p:txBody>
          <a:bodyPr wrap="square" lIns="0" tIns="101600" rIns="101600" bIns="0" rtlCol="0" anchor="ctr"/>
          <a:lstStyle/>
          <a:p>
            <a:pPr algn="l" indent="0" marL="0">
              <a:buNone/>
            </a:pPr>
            <a:r>
              <a:rPr lang="en-US" sz="1000" b="1" dirty="0">
                <a:solidFill>
                  <a:srgbClr val="38BDF8"/>
                </a:solidFill>
                <a:latin typeface="Segoe UI" pitchFamily="34" charset="0"/>
                <a:ea typeface="Segoe UI" pitchFamily="34" charset="-122"/>
                <a:cs typeface="Segoe UI" pitchFamily="34" charset="-120"/>
              </a:rPr>
              <a:t>ESTADO DA ARTE I • SISTEMAS AVL</a:t>
            </a:r>
            <a:endParaRPr lang="en-US" sz="1000" dirty="0"/>
          </a:p>
        </p:txBody>
      </p:sp>
      <p:sp>
        <p:nvSpPr>
          <p:cNvPr id="3" name="Text 1"/>
          <p:cNvSpPr/>
          <p:nvPr/>
        </p:nvSpPr>
        <p:spPr>
          <a:xfrm>
            <a:off x="7772400" y="365760"/>
            <a:ext cx="3657600" cy="292608"/>
          </a:xfrm>
          <a:prstGeom prst="rect">
            <a:avLst/>
          </a:prstGeom>
          <a:noFill/>
          <a:ln/>
        </p:spPr>
        <p:txBody>
          <a:bodyPr wrap="square" rtlCol="0" anchor="ctr"/>
          <a:lstStyle/>
          <a:p>
            <a:pPr algn="r" indent="0" marL="0">
              <a:buNone/>
            </a:pPr>
            <a:r>
              <a:rPr lang="en-US" sz="1000" dirty="0">
                <a:solidFill>
                  <a:srgbClr val="94A3B8"/>
                </a:solidFill>
                <a:latin typeface="Consolas" pitchFamily="34" charset="0"/>
                <a:ea typeface="Consolas" pitchFamily="34" charset="-122"/>
                <a:cs typeface="Consolas" pitchFamily="34" charset="-120"/>
              </a:rPr>
              <a:t>⏱️ 03:30 - 05:00 (1m30s)</a:t>
            </a:r>
            <a:endParaRPr lang="en-US" sz="1000" dirty="0"/>
          </a:p>
        </p:txBody>
      </p:sp>
      <p:sp>
        <p:nvSpPr>
          <p:cNvPr id="4" name="Text 2"/>
          <p:cNvSpPr/>
          <p:nvPr/>
        </p:nvSpPr>
        <p:spPr>
          <a:xfrm>
            <a:off x="731520" y="713232"/>
            <a:ext cx="10698480" cy="548640"/>
          </a:xfrm>
          <a:prstGeom prst="rect">
            <a:avLst/>
          </a:prstGeom>
          <a:noFill/>
          <a:ln/>
        </p:spPr>
        <p:txBody>
          <a:bodyPr wrap="square" rtlCol="0" anchor="t"/>
          <a:lstStyle/>
          <a:p>
            <a:pPr indent="0" marL="0">
              <a:buNone/>
            </a:pPr>
            <a:r>
              <a:rPr lang="en-US" sz="2200" b="1" dirty="0">
                <a:solidFill>
                  <a:srgbClr val="FFFFFF"/>
                </a:solidFill>
                <a:latin typeface="Segoe UI" pitchFamily="34" charset="0"/>
                <a:ea typeface="Segoe UI" pitchFamily="34" charset="-122"/>
                <a:cs typeface="Segoe UI" pitchFamily="34" charset="-120"/>
              </a:rPr>
              <a:t>Sistemas AVL (Automatic Vehicle Location) Convencionais</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300" dirty="0">
                <a:solidFill>
                  <a:srgbClr val="38BDF8"/>
                </a:solidFill>
                <a:latin typeface="Segoe UI" pitchFamily="34" charset="0"/>
                <a:ea typeface="Segoe UI" pitchFamily="34" charset="-122"/>
                <a:cs typeface="Segoe UI" pitchFamily="34" charset="-120"/>
              </a:rPr>
              <a:t>O padrão industrial da iniciativa privada e suas barreiras no setor público</a:t>
            </a:r>
            <a:endParaRPr lang="en-US" sz="1300" dirty="0"/>
          </a:p>
        </p:txBody>
      </p:sp>
      <p:sp>
        <p:nvSpPr>
          <p:cNvPr id="6" name="Shape 4"/>
          <p:cNvSpPr/>
          <p:nvPr/>
        </p:nvSpPr>
        <p:spPr>
          <a:xfrm>
            <a:off x="731520" y="1691640"/>
            <a:ext cx="5212080" cy="4023360"/>
          </a:xfrm>
          <a:prstGeom prst="roundRect">
            <a:avLst>
              <a:gd name="adj" fmla="val 2273"/>
            </a:avLst>
          </a:prstGeom>
          <a:solidFill>
            <a:srgbClr val="0F172A"/>
          </a:solidFill>
          <a:ln w="12700">
            <a:solidFill>
              <a:srgbClr val="10B981"/>
            </a:solidFill>
            <a:prstDash val="solid"/>
          </a:ln>
        </p:spPr>
      </p:sp>
      <p:sp>
        <p:nvSpPr>
          <p:cNvPr id="7" name="Text 5"/>
          <p:cNvSpPr/>
          <p:nvPr/>
        </p:nvSpPr>
        <p:spPr>
          <a:xfrm>
            <a:off x="1005840" y="1920240"/>
            <a:ext cx="4663440" cy="365760"/>
          </a:xfrm>
          <a:prstGeom prst="rect">
            <a:avLst/>
          </a:prstGeom>
          <a:noFill/>
          <a:ln/>
        </p:spPr>
        <p:txBody>
          <a:bodyPr wrap="square" rtlCol="0" anchor="ctr"/>
          <a:lstStyle/>
          <a:p>
            <a:pPr indent="0" marL="0">
              <a:buNone/>
            </a:pPr>
            <a:r>
              <a:rPr lang="en-US" sz="1400" b="1" dirty="0">
                <a:solidFill>
                  <a:srgbClr val="34D399"/>
                </a:solidFill>
                <a:latin typeface="Segoe UI" pitchFamily="34" charset="0"/>
                <a:ea typeface="Segoe UI" pitchFamily="34" charset="-122"/>
                <a:cs typeface="Segoe UI" pitchFamily="34" charset="-120"/>
              </a:rPr>
              <a:t>✓ Vantagens Técnicas Consolidadas</a:t>
            </a:r>
            <a:endParaRPr lang="en-US" sz="1400" dirty="0"/>
          </a:p>
        </p:txBody>
      </p:sp>
      <p:sp>
        <p:nvSpPr>
          <p:cNvPr id="8" name="Text 6"/>
          <p:cNvSpPr/>
          <p:nvPr/>
        </p:nvSpPr>
        <p:spPr>
          <a:xfrm>
            <a:off x="1005840" y="2377440"/>
            <a:ext cx="4663440" cy="3108960"/>
          </a:xfrm>
          <a:prstGeom prst="rect">
            <a:avLst/>
          </a:prstGeom>
          <a:noFill/>
          <a:ln/>
        </p:spPr>
        <p:txBody>
          <a:bodyPr wrap="square" rtlCol="0" anchor="ctr"/>
          <a:lstStyle/>
          <a:p>
            <a:pPr indent="0" marL="0">
              <a:lnSpc>
                <a:spcPct val="130000"/>
              </a:lnSpc>
              <a:buNone/>
            </a:pPr>
            <a:r>
              <a:rPr lang="en-US" sz="1200" dirty="0">
                <a:solidFill>
                  <a:srgbClr val="CBD5E1"/>
                </a:solidFill>
                <a:latin typeface="Segoe UI" pitchFamily="34" charset="0"/>
                <a:ea typeface="Segoe UI" pitchFamily="34" charset="-122"/>
                <a:cs typeface="Segoe UI" pitchFamily="34" charset="-120"/>
              </a:rPr>
              <a:t>• Receptores GNSS veiculares de alta sensibilidade com taxa de atualização de 1 a 5 Hz;
</a:t>
            </a:r>
            <a:pPr indent="0" marL="0">
              <a:lnSpc>
                <a:spcPct val="130000"/>
              </a:lnSpc>
              <a:buNone/>
            </a:pPr>
            <a:r>
              <a:rPr lang="en-US" sz="1200" dirty="0">
                <a:solidFill>
                  <a:srgbClr val="CBD5E1"/>
                </a:solidFill>
                <a:latin typeface="Segoe UI" pitchFamily="34" charset="0"/>
                <a:ea typeface="Segoe UI" pitchFamily="34" charset="-122"/>
                <a:cs typeface="Segoe UI" pitchFamily="34" charset="-120"/>
              </a:rPr>
              <a:t>• Transmissão ininterrupta via modem celular dedicado (GPRS / 4G / LTE);
</a:t>
            </a:r>
            <a:pPr indent="0" marL="0">
              <a:lnSpc>
                <a:spcPct val="130000"/>
              </a:lnSpc>
              <a:buNone/>
            </a:pPr>
            <a:r>
              <a:rPr lang="en-US" sz="1200" dirty="0">
                <a:solidFill>
                  <a:srgbClr val="CBD5E1"/>
                </a:solidFill>
                <a:latin typeface="Segoe UI" pitchFamily="34" charset="0"/>
                <a:ea typeface="Segoe UI" pitchFamily="34" charset="-122"/>
                <a:cs typeface="Segoe UI" pitchFamily="34" charset="-120"/>
              </a:rPr>
              <a:t>• Funcionamento autônomo e independente da ação de passageiros;
</a:t>
            </a:r>
            <a:pPr indent="0" marL="0">
              <a:lnSpc>
                <a:spcPct val="130000"/>
              </a:lnSpc>
              <a:buNone/>
            </a:pPr>
            <a:r>
              <a:rPr lang="en-US" sz="1200" dirty="0">
                <a:solidFill>
                  <a:srgbClr val="CBD5E1"/>
                </a:solidFill>
                <a:latin typeface="Segoe UI" pitchFamily="34" charset="0"/>
                <a:ea typeface="Segoe UI" pitchFamily="34" charset="-122"/>
                <a:cs typeface="Segoe UI" pitchFamily="34" charset="-120"/>
              </a:rPr>
              <a:t>• Possibilidade de telemetria CAN integrada (velocidade de roda, RPM, combustível).</a:t>
            </a:r>
            <a:endParaRPr lang="en-US" sz="1200" dirty="0"/>
          </a:p>
        </p:txBody>
      </p:sp>
      <p:sp>
        <p:nvSpPr>
          <p:cNvPr id="9" name="Shape 7"/>
          <p:cNvSpPr/>
          <p:nvPr/>
        </p:nvSpPr>
        <p:spPr>
          <a:xfrm>
            <a:off x="6217920" y="1691640"/>
            <a:ext cx="5212080" cy="4023360"/>
          </a:xfrm>
          <a:prstGeom prst="roundRect">
            <a:avLst>
              <a:gd name="adj" fmla="val 2273"/>
            </a:avLst>
          </a:prstGeom>
          <a:solidFill>
            <a:srgbClr val="0F172A"/>
          </a:solidFill>
          <a:ln w="12700">
            <a:solidFill>
              <a:srgbClr val="FB7185"/>
            </a:solidFill>
            <a:prstDash val="solid"/>
          </a:ln>
        </p:spPr>
      </p:sp>
      <p:sp>
        <p:nvSpPr>
          <p:cNvPr id="10" name="Text 8"/>
          <p:cNvSpPr/>
          <p:nvPr/>
        </p:nvSpPr>
        <p:spPr>
          <a:xfrm>
            <a:off x="6492240" y="1920240"/>
            <a:ext cx="4663440" cy="365760"/>
          </a:xfrm>
          <a:prstGeom prst="rect">
            <a:avLst/>
          </a:prstGeom>
          <a:noFill/>
          <a:ln/>
        </p:spPr>
        <p:txBody>
          <a:bodyPr wrap="square" rtlCol="0" anchor="ctr"/>
          <a:lstStyle/>
          <a:p>
            <a:pPr indent="0" marL="0">
              <a:buNone/>
            </a:pPr>
            <a:r>
              <a:rPr lang="en-US" sz="1400" b="1" dirty="0">
                <a:solidFill>
                  <a:srgbClr val="FB7185"/>
                </a:solidFill>
                <a:latin typeface="Segoe UI" pitchFamily="34" charset="0"/>
                <a:ea typeface="Segoe UI" pitchFamily="34" charset="-122"/>
                <a:cs typeface="Segoe UI" pitchFamily="34" charset="-120"/>
              </a:rPr>
              <a:t>✕ Desvantagens e Barreiras Críticas</a:t>
            </a:r>
            <a:endParaRPr lang="en-US" sz="1400" dirty="0"/>
          </a:p>
        </p:txBody>
      </p:sp>
      <p:sp>
        <p:nvSpPr>
          <p:cNvPr id="11" name="Text 9"/>
          <p:cNvSpPr/>
          <p:nvPr/>
        </p:nvSpPr>
        <p:spPr>
          <a:xfrm>
            <a:off x="6492240" y="2377440"/>
            <a:ext cx="4663440" cy="3108960"/>
          </a:xfrm>
          <a:prstGeom prst="rect">
            <a:avLst/>
          </a:prstGeom>
          <a:noFill/>
          <a:ln/>
        </p:spPr>
        <p:txBody>
          <a:bodyPr wrap="square" rtlCol="0" anchor="ctr"/>
          <a:lstStyle/>
          <a:p>
            <a:pPr indent="0" marL="0">
              <a:lnSpc>
                <a:spcPct val="130000"/>
              </a:lnSpc>
              <a:buNone/>
            </a:pPr>
            <a:r>
              <a:rPr lang="en-US" sz="1200" b="1" dirty="0">
                <a:solidFill>
                  <a:srgbClr val="FFFFFF"/>
                </a:solidFill>
                <a:latin typeface="Segoe UI" pitchFamily="34" charset="0"/>
                <a:ea typeface="Segoe UI" pitchFamily="34" charset="-122"/>
                <a:cs typeface="Segoe UI" pitchFamily="34" charset="-120"/>
              </a:rPr>
              <a:t>• Custo de Aquisição: </a:t>
            </a:r>
            <a:pPr indent="0" marL="0">
              <a:lnSpc>
                <a:spcPct val="130000"/>
              </a:lnSpc>
              <a:buNone/>
            </a:pPr>
            <a:r>
              <a:rPr lang="en-US" sz="1200" dirty="0">
                <a:solidFill>
                  <a:srgbClr val="CBD5E1"/>
                </a:solidFill>
                <a:latin typeface="Segoe UI" pitchFamily="34" charset="0"/>
                <a:ea typeface="Segoe UI" pitchFamily="34" charset="-122"/>
                <a:cs typeface="Segoe UI" pitchFamily="34" charset="-120"/>
              </a:rPr>
              <a:t>R$ 1.500 a R$ 2.500 por equipamento veicular homologado;
</a:t>
            </a:r>
            <a:pPr indent="0" marL="0">
              <a:lnSpc>
                <a:spcPct val="130000"/>
              </a:lnSpc>
              <a:buNone/>
            </a:pPr>
            <a:r>
              <a:rPr lang="en-US" sz="1200" b="1" dirty="0">
                <a:solidFill>
                  <a:srgbClr val="FFFFFF"/>
                </a:solidFill>
                <a:latin typeface="Segoe UI" pitchFamily="34" charset="0"/>
                <a:ea typeface="Segoe UI" pitchFamily="34" charset="-122"/>
                <a:cs typeface="Segoe UI" pitchFamily="34" charset="-120"/>
              </a:rPr>
              <a:t>• Custo Recorrente Vitalício: </a:t>
            </a:r>
            <a:pPr indent="0" marL="0">
              <a:lnSpc>
                <a:spcPct val="130000"/>
              </a:lnSpc>
              <a:buNone/>
            </a:pPr>
            <a:r>
              <a:rPr lang="en-US" sz="1200" dirty="0">
                <a:solidFill>
                  <a:srgbClr val="CBD5E1"/>
                </a:solidFill>
                <a:latin typeface="Segoe UI" pitchFamily="34" charset="0"/>
                <a:ea typeface="Segoe UI" pitchFamily="34" charset="-122"/>
                <a:cs typeface="Segoe UI" pitchFamily="34" charset="-120"/>
              </a:rPr>
              <a:t>R$ 60 a R$ 120 mensais por chip M2M contratado;
</a:t>
            </a:r>
            <a:pPr indent="0" marL="0">
              <a:lnSpc>
                <a:spcPct val="130000"/>
              </a:lnSpc>
              <a:buNone/>
            </a:pPr>
            <a:r>
              <a:rPr lang="en-US" sz="1200" b="1" dirty="0">
                <a:solidFill>
                  <a:srgbClr val="FFFFFF"/>
                </a:solidFill>
                <a:latin typeface="Segoe UI" pitchFamily="34" charset="0"/>
                <a:ea typeface="Segoe UI" pitchFamily="34" charset="-122"/>
                <a:cs typeface="Segoe UI" pitchFamily="34" charset="-120"/>
              </a:rPr>
              <a:t>• Instalação Invasiva: </a:t>
            </a:r>
            <a:pPr indent="0" marL="0">
              <a:lnSpc>
                <a:spcPct val="130000"/>
              </a:lnSpc>
              <a:buNone/>
            </a:pPr>
            <a:r>
              <a:rPr lang="en-US" sz="1200" dirty="0">
                <a:solidFill>
                  <a:srgbClr val="CBD5E1"/>
                </a:solidFill>
                <a:latin typeface="Segoe UI" pitchFamily="34" charset="0"/>
                <a:ea typeface="Segoe UI" pitchFamily="34" charset="-122"/>
                <a:cs typeface="Segoe UI" pitchFamily="34" charset="-120"/>
              </a:rPr>
              <a:t>Corte de chicote elétrico e conexão na bateria, vetada por operadores de frotas terceirizadas;
</a:t>
            </a:r>
            <a:pPr indent="0" marL="0">
              <a:lnSpc>
                <a:spcPct val="130000"/>
              </a:lnSpc>
              <a:buNone/>
            </a:pPr>
            <a:r>
              <a:rPr lang="en-US" sz="1200" b="1" dirty="0">
                <a:solidFill>
                  <a:srgbClr val="FFFFFF"/>
                </a:solidFill>
                <a:latin typeface="Segoe UI" pitchFamily="34" charset="0"/>
                <a:ea typeface="Segoe UI" pitchFamily="34" charset="-122"/>
                <a:cs typeface="Segoe UI" pitchFamily="34" charset="-120"/>
              </a:rPr>
              <a:t>• Inviabilidade no Setor Público: </a:t>
            </a:r>
            <a:pPr indent="0" marL="0">
              <a:lnSpc>
                <a:spcPct val="130000"/>
              </a:lnSpc>
              <a:buNone/>
            </a:pPr>
            <a:r>
              <a:rPr lang="en-US" sz="1200" dirty="0">
                <a:solidFill>
                  <a:srgbClr val="CBD5E1"/>
                </a:solidFill>
                <a:latin typeface="Segoe UI" pitchFamily="34" charset="0"/>
                <a:ea typeface="Segoe UI" pitchFamily="34" charset="-122"/>
                <a:cs typeface="Segoe UI" pitchFamily="34" charset="-120"/>
              </a:rPr>
              <a:t>Risco de descontinuidade contratual e orçamentos contingenciados.</a:t>
            </a:r>
            <a:endParaRPr lang="en-US" sz="1200" dirty="0"/>
          </a:p>
        </p:txBody>
      </p:sp>
      <p:sp>
        <p:nvSpPr>
          <p:cNvPr id="12" name="Text 10"/>
          <p:cNvSpPr/>
          <p:nvPr/>
        </p:nvSpPr>
        <p:spPr>
          <a:xfrm>
            <a:off x="731520" y="5852160"/>
            <a:ext cx="10698480" cy="457200"/>
          </a:xfrm>
          <a:prstGeom prst="rect">
            <a:avLst/>
          </a:prstGeom>
          <a:noFill/>
          <a:ln/>
        </p:spPr>
        <p:txBody>
          <a:bodyPr wrap="square" rtlCol="0" anchor="ctr"/>
          <a:lstStyle/>
          <a:p>
            <a:pPr algn="ctr" indent="0" marL="0">
              <a:buNone/>
            </a:pPr>
            <a:r>
              <a:rPr lang="en-US" sz="1100" i="1" dirty="0">
                <a:solidFill>
                  <a:srgbClr val="94A3B8"/>
                </a:solidFill>
                <a:latin typeface="Segoe UI" pitchFamily="34" charset="0"/>
                <a:ea typeface="Segoe UI" pitchFamily="34" charset="-122"/>
                <a:cs typeface="Segoe UI" pitchFamily="34" charset="-120"/>
              </a:rPr>
              <a:t>Diagnóstico: Excelente para grandes operadores metropolitanos com capital intensivo; inviável e deficitário para frotas universitárias públicas.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B14"/>
        </a:solidFill>
      </p:bgPr>
    </p:bg>
    <p:spTree>
      <p:nvGrpSpPr>
        <p:cNvPr id="1" name=""/>
        <p:cNvGrpSpPr/>
        <p:nvPr/>
      </p:nvGrpSpPr>
      <p:grpSpPr>
        <a:xfrm>
          <a:off x="0" y="0"/>
          <a:ext cx="0" cy="0"/>
          <a:chOff x="0" y="0"/>
          <a:chExt cx="0" cy="0"/>
        </a:xfrm>
      </p:grpSpPr>
      <p:sp>
        <p:nvSpPr>
          <p:cNvPr id="2" name="Text 0"/>
          <p:cNvSpPr/>
          <p:nvPr/>
        </p:nvSpPr>
        <p:spPr>
          <a:xfrm>
            <a:off x="731520" y="365760"/>
            <a:ext cx="4114800" cy="292608"/>
          </a:xfrm>
          <a:prstGeom prst="rect">
            <a:avLst/>
          </a:prstGeom>
          <a:solidFill>
            <a:srgbClr val="0E2238"/>
          </a:solidFill>
          <a:ln/>
        </p:spPr>
        <p:txBody>
          <a:bodyPr wrap="square" lIns="0" tIns="101600" rIns="101600" bIns="0" rtlCol="0" anchor="ctr"/>
          <a:lstStyle/>
          <a:p>
            <a:pPr algn="l" indent="0" marL="0">
              <a:buNone/>
            </a:pPr>
            <a:r>
              <a:rPr lang="en-US" sz="1000" b="1" dirty="0">
                <a:solidFill>
                  <a:srgbClr val="38BDF8"/>
                </a:solidFill>
                <a:latin typeface="Segoe UI" pitchFamily="34" charset="0"/>
                <a:ea typeface="Segoe UI" pitchFamily="34" charset="-122"/>
                <a:cs typeface="Segoe UI" pitchFamily="34" charset="-120"/>
              </a:rPr>
              <a:t>ESTADO DA ARTE II • CROWDSOURCING &amp; IOT</a:t>
            </a:r>
            <a:endParaRPr lang="en-US" sz="1000" dirty="0"/>
          </a:p>
        </p:txBody>
      </p:sp>
      <p:sp>
        <p:nvSpPr>
          <p:cNvPr id="3" name="Text 1"/>
          <p:cNvSpPr/>
          <p:nvPr/>
        </p:nvSpPr>
        <p:spPr>
          <a:xfrm>
            <a:off x="7772400" y="365760"/>
            <a:ext cx="3657600" cy="292608"/>
          </a:xfrm>
          <a:prstGeom prst="rect">
            <a:avLst/>
          </a:prstGeom>
          <a:noFill/>
          <a:ln/>
        </p:spPr>
        <p:txBody>
          <a:bodyPr wrap="square" rtlCol="0" anchor="ctr"/>
          <a:lstStyle/>
          <a:p>
            <a:pPr algn="r" indent="0" marL="0">
              <a:buNone/>
            </a:pPr>
            <a:r>
              <a:rPr lang="en-US" sz="1000" dirty="0">
                <a:solidFill>
                  <a:srgbClr val="94A3B8"/>
                </a:solidFill>
                <a:latin typeface="Consolas" pitchFamily="34" charset="0"/>
                <a:ea typeface="Consolas" pitchFamily="34" charset="-122"/>
                <a:cs typeface="Consolas" pitchFamily="34" charset="-120"/>
              </a:rPr>
              <a:t>⏱️ 05:00 - 06:30 (1m30s)</a:t>
            </a:r>
            <a:endParaRPr lang="en-US" sz="1000" dirty="0"/>
          </a:p>
        </p:txBody>
      </p:sp>
      <p:sp>
        <p:nvSpPr>
          <p:cNvPr id="4" name="Text 2"/>
          <p:cNvSpPr/>
          <p:nvPr/>
        </p:nvSpPr>
        <p:spPr>
          <a:xfrm>
            <a:off x="731520" y="713232"/>
            <a:ext cx="10698480" cy="548640"/>
          </a:xfrm>
          <a:prstGeom prst="rect">
            <a:avLst/>
          </a:prstGeom>
          <a:noFill/>
          <a:ln/>
        </p:spPr>
        <p:txBody>
          <a:bodyPr wrap="square" rtlCol="0" anchor="t"/>
          <a:lstStyle/>
          <a:p>
            <a:pPr indent="0" marL="0">
              <a:buNone/>
            </a:pPr>
            <a:r>
              <a:rPr lang="en-US" sz="2200" b="1" dirty="0">
                <a:solidFill>
                  <a:srgbClr val="FFFFFF"/>
                </a:solidFill>
                <a:latin typeface="Segoe UI" pitchFamily="34" charset="0"/>
                <a:ea typeface="Segoe UI" pitchFamily="34" charset="-122"/>
                <a:cs typeface="Segoe UI" pitchFamily="34" charset="-120"/>
              </a:rPr>
              <a:t>Crowdsourcing Comunitário e Tecnologias de Proximidade (BLE)</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300" dirty="0">
                <a:solidFill>
                  <a:srgbClr val="38BDF8"/>
                </a:solidFill>
                <a:latin typeface="Segoe UI" pitchFamily="34" charset="0"/>
                <a:ea typeface="Segoe UI" pitchFamily="34" charset="-122"/>
                <a:cs typeface="Segoe UI" pitchFamily="34" charset="-120"/>
              </a:rPr>
              <a:t>A contraposição entre sensoriamento puramente móvel e balizas locais de rádio</a:t>
            </a:r>
            <a:endParaRPr lang="en-US" sz="1300" dirty="0"/>
          </a:p>
        </p:txBody>
      </p:sp>
      <p:sp>
        <p:nvSpPr>
          <p:cNvPr id="6" name="Shape 4"/>
          <p:cNvSpPr/>
          <p:nvPr/>
        </p:nvSpPr>
        <p:spPr>
          <a:xfrm>
            <a:off x="731520" y="1691640"/>
            <a:ext cx="5212080" cy="4023360"/>
          </a:xfrm>
          <a:prstGeom prst="roundRect">
            <a:avLst>
              <a:gd name="adj" fmla="val 2273"/>
            </a:avLst>
          </a:prstGeom>
          <a:solidFill>
            <a:srgbClr val="0F172A"/>
          </a:solidFill>
          <a:ln w="12700">
            <a:solidFill>
              <a:srgbClr val="1F2D48"/>
            </a:solidFill>
            <a:prstDash val="solid"/>
          </a:ln>
        </p:spPr>
      </p:sp>
      <p:sp>
        <p:nvSpPr>
          <p:cNvPr id="7" name="Text 5"/>
          <p:cNvSpPr/>
          <p:nvPr/>
        </p:nvSpPr>
        <p:spPr>
          <a:xfrm>
            <a:off x="1005840" y="1920240"/>
            <a:ext cx="4663440" cy="365760"/>
          </a:xfrm>
          <a:prstGeom prst="rect">
            <a:avLst/>
          </a:prstGeom>
          <a:noFill/>
          <a:ln/>
        </p:spPr>
        <p:txBody>
          <a:bodyPr wrap="square" rtlCol="0" anchor="ctr"/>
          <a:lstStyle/>
          <a:p>
            <a:pPr indent="0" marL="0">
              <a:buNone/>
            </a:pPr>
            <a:r>
              <a:rPr lang="en-US" sz="1400" b="1" dirty="0">
                <a:solidFill>
                  <a:srgbClr val="38BDF8"/>
                </a:solidFill>
                <a:latin typeface="Segoe UI" pitchFamily="34" charset="0"/>
                <a:ea typeface="Segoe UI" pitchFamily="34" charset="-122"/>
                <a:cs typeface="Segoe UI" pitchFamily="34" charset="-120"/>
              </a:rPr>
              <a:t>📱 Crowdsourcing Puro (Waze / Moovit)</a:t>
            </a:r>
            <a:endParaRPr lang="en-US" sz="1400" dirty="0"/>
          </a:p>
        </p:txBody>
      </p:sp>
      <p:sp>
        <p:nvSpPr>
          <p:cNvPr id="8" name="Text 6"/>
          <p:cNvSpPr/>
          <p:nvPr/>
        </p:nvSpPr>
        <p:spPr>
          <a:xfrm>
            <a:off x="1005840" y="2377440"/>
            <a:ext cx="4663440" cy="3108960"/>
          </a:xfrm>
          <a:prstGeom prst="rect">
            <a:avLst/>
          </a:prstGeom>
          <a:noFill/>
          <a:ln/>
        </p:spPr>
        <p:txBody>
          <a:bodyPr wrap="square" rtlCol="0" anchor="ctr"/>
          <a:lstStyle/>
          <a:p>
            <a:pPr indent="0" marL="0">
              <a:lnSpc>
                <a:spcPct val="130000"/>
              </a:lnSpc>
              <a:buNone/>
            </a:pPr>
            <a:r>
              <a:rPr lang="en-US" sz="1200" b="1" dirty="0">
                <a:solidFill>
                  <a:srgbClr val="FFFFFF"/>
                </a:solidFill>
                <a:latin typeface="Segoe UI" pitchFamily="34" charset="0"/>
                <a:ea typeface="Segoe UI" pitchFamily="34" charset="-122"/>
                <a:cs typeface="Segoe UI" pitchFamily="34" charset="-120"/>
              </a:rPr>
              <a:t>• Custo de Hardware Zero: </a:t>
            </a:r>
            <a:pPr indent="0" marL="0">
              <a:lnSpc>
                <a:spcPct val="130000"/>
              </a:lnSpc>
              <a:buNone/>
            </a:pPr>
            <a:r>
              <a:rPr lang="en-US" sz="1200" dirty="0">
                <a:solidFill>
                  <a:srgbClr val="CBD5E1"/>
                </a:solidFill>
                <a:latin typeface="Segoe UI" pitchFamily="34" charset="0"/>
                <a:ea typeface="Segoe UI" pitchFamily="34" charset="-122"/>
                <a:cs typeface="Segoe UI" pitchFamily="34" charset="-120"/>
              </a:rPr>
              <a:t>Aproveita os sensores já existentes nos celulares da comunidade;
</a:t>
            </a:r>
            <a:pPr indent="0" marL="0">
              <a:lnSpc>
                <a:spcPct val="130000"/>
              </a:lnSpc>
              <a:buNone/>
            </a:pPr>
            <a:r>
              <a:rPr lang="en-US" sz="1200" b="1" dirty="0">
                <a:solidFill>
                  <a:srgbClr val="FB7185"/>
                </a:solidFill>
                <a:latin typeface="Segoe UI" pitchFamily="34" charset="0"/>
                <a:ea typeface="Segoe UI" pitchFamily="34" charset="-122"/>
                <a:cs typeface="Segoe UI" pitchFamily="34" charset="-120"/>
              </a:rPr>
              <a:t>✕ Falha Crítica 1 (Falsos Positivos): </a:t>
            </a:r>
            <a:pPr indent="0" marL="0">
              <a:lnSpc>
                <a:spcPct val="130000"/>
              </a:lnSpc>
              <a:buNone/>
            </a:pPr>
            <a:r>
              <a:rPr lang="en-US" sz="1200" dirty="0">
                <a:solidFill>
                  <a:srgbClr val="CBD5E1"/>
                </a:solidFill>
                <a:latin typeface="Segoe UI" pitchFamily="34" charset="0"/>
                <a:ea typeface="Segoe UI" pitchFamily="34" charset="-122"/>
                <a:cs typeface="Segoe UI" pitchFamily="34" charset="-120"/>
              </a:rPr>
              <a:t>Não diferencia se o passageiro está dentro do ônibus ou caminhando a pé na calçada ao lado da parada;
</a:t>
            </a:r>
            <a:pPr indent="0" marL="0">
              <a:lnSpc>
                <a:spcPct val="130000"/>
              </a:lnSpc>
              <a:buNone/>
            </a:pPr>
            <a:r>
              <a:rPr lang="en-US" sz="1200" b="1" dirty="0">
                <a:solidFill>
                  <a:srgbClr val="FB7185"/>
                </a:solidFill>
                <a:latin typeface="Segoe UI" pitchFamily="34" charset="0"/>
                <a:ea typeface="Segoe UI" pitchFamily="34" charset="-122"/>
                <a:cs typeface="Segoe UI" pitchFamily="34" charset="-120"/>
              </a:rPr>
              <a:t>✕ Falha Crítica 2 (Vulnerabilidade): </a:t>
            </a:r>
            <a:pPr indent="0" marL="0">
              <a:lnSpc>
                <a:spcPct val="130000"/>
              </a:lnSpc>
              <a:buNone/>
            </a:pPr>
            <a:r>
              <a:rPr lang="en-US" sz="1200" dirty="0">
                <a:solidFill>
                  <a:srgbClr val="CBD5E1"/>
                </a:solidFill>
                <a:latin typeface="Segoe UI" pitchFamily="34" charset="0"/>
                <a:ea typeface="Segoe UI" pitchFamily="34" charset="-122"/>
                <a:cs typeface="Segoe UI" pitchFamily="34" charset="-120"/>
              </a:rPr>
              <a:t>Vulnerável a coordenadas adulteradas (GPS spoofing) ou motoristas de aplicativo que abrem o app por engano.</a:t>
            </a:r>
            <a:endParaRPr lang="en-US" sz="1200" dirty="0"/>
          </a:p>
        </p:txBody>
      </p:sp>
      <p:sp>
        <p:nvSpPr>
          <p:cNvPr id="9" name="Shape 7"/>
          <p:cNvSpPr/>
          <p:nvPr/>
        </p:nvSpPr>
        <p:spPr>
          <a:xfrm>
            <a:off x="6217920" y="1691640"/>
            <a:ext cx="5212080" cy="4023360"/>
          </a:xfrm>
          <a:prstGeom prst="roundRect">
            <a:avLst>
              <a:gd name="adj" fmla="val 2273"/>
            </a:avLst>
          </a:prstGeom>
          <a:solidFill>
            <a:srgbClr val="0F172A"/>
          </a:solidFill>
          <a:ln w="12700">
            <a:solidFill>
              <a:srgbClr val="10B981"/>
            </a:solidFill>
            <a:prstDash val="solid"/>
          </a:ln>
        </p:spPr>
      </p:sp>
      <p:sp>
        <p:nvSpPr>
          <p:cNvPr id="10" name="Text 8"/>
          <p:cNvSpPr/>
          <p:nvPr/>
        </p:nvSpPr>
        <p:spPr>
          <a:xfrm>
            <a:off x="6492240" y="1920240"/>
            <a:ext cx="4663440" cy="365760"/>
          </a:xfrm>
          <a:prstGeom prst="rect">
            <a:avLst/>
          </a:prstGeom>
          <a:noFill/>
          <a:ln/>
        </p:spPr>
        <p:txBody>
          <a:bodyPr wrap="square" rtlCol="0" anchor="ctr"/>
          <a:lstStyle/>
          <a:p>
            <a:pPr indent="0" marL="0">
              <a:buNone/>
            </a:pPr>
            <a:r>
              <a:rPr lang="en-US" sz="1400" b="1" dirty="0">
                <a:solidFill>
                  <a:srgbClr val="34D399"/>
                </a:solidFill>
                <a:latin typeface="Segoe UI" pitchFamily="34" charset="0"/>
                <a:ea typeface="Segoe UI" pitchFamily="34" charset="-122"/>
                <a:cs typeface="Segoe UI" pitchFamily="34" charset="-120"/>
              </a:rPr>
              <a:t>📻 Balizas de Proximidade (Bluetooth Low Energy)</a:t>
            </a:r>
            <a:endParaRPr lang="en-US" sz="1400" dirty="0"/>
          </a:p>
        </p:txBody>
      </p:sp>
      <p:sp>
        <p:nvSpPr>
          <p:cNvPr id="11" name="Text 9"/>
          <p:cNvSpPr/>
          <p:nvPr/>
        </p:nvSpPr>
        <p:spPr>
          <a:xfrm>
            <a:off x="6492240" y="2377440"/>
            <a:ext cx="4663440" cy="3108960"/>
          </a:xfrm>
          <a:prstGeom prst="rect">
            <a:avLst/>
          </a:prstGeom>
          <a:noFill/>
          <a:ln/>
        </p:spPr>
        <p:txBody>
          <a:bodyPr wrap="square" rtlCol="0" anchor="ctr"/>
          <a:lstStyle/>
          <a:p>
            <a:pPr indent="0" marL="0">
              <a:lnSpc>
                <a:spcPct val="130000"/>
              </a:lnSpc>
              <a:buNone/>
            </a:pPr>
            <a:r>
              <a:rPr lang="en-US" sz="1200" b="1" dirty="0">
                <a:solidFill>
                  <a:srgbClr val="FFFFFF"/>
                </a:solidFill>
                <a:latin typeface="Segoe UI" pitchFamily="34" charset="0"/>
                <a:ea typeface="Segoe UI" pitchFamily="34" charset="-122"/>
                <a:cs typeface="Segoe UI" pitchFamily="34" charset="-120"/>
              </a:rPr>
              <a:t>• Microtransmissores Autônomos (ESP32 / iBeacon): </a:t>
            </a:r>
            <a:pPr indent="0" marL="0">
              <a:lnSpc>
                <a:spcPct val="130000"/>
              </a:lnSpc>
              <a:buNone/>
            </a:pPr>
            <a:r>
              <a:rPr lang="en-US" sz="1200" dirty="0">
                <a:solidFill>
                  <a:srgbClr val="CBD5E1"/>
                </a:solidFill>
                <a:latin typeface="Segoe UI" pitchFamily="34" charset="0"/>
                <a:ea typeface="Segoe UI" pitchFamily="34" charset="-122"/>
                <a:cs typeface="Segoe UI" pitchFamily="34" charset="-120"/>
              </a:rPr>
              <a:t>Custo unitário inferior a R$ 40 por veículo;
</a:t>
            </a:r>
            <a:pPr indent="0" marL="0">
              <a:lnSpc>
                <a:spcPct val="130000"/>
              </a:lnSpc>
              <a:buNone/>
            </a:pPr>
            <a:r>
              <a:rPr lang="en-US" sz="1200" b="1" dirty="0">
                <a:solidFill>
                  <a:srgbClr val="FFFFFF"/>
                </a:solidFill>
                <a:latin typeface="Segoe UI" pitchFamily="34" charset="0"/>
                <a:ea typeface="Segoe UI" pitchFamily="34" charset="-122"/>
                <a:cs typeface="Segoe UI" pitchFamily="34" charset="-120"/>
              </a:rPr>
              <a:t>• Alimentação Passiva: </a:t>
            </a:r>
            <a:pPr indent="0" marL="0">
              <a:lnSpc>
                <a:spcPct val="130000"/>
              </a:lnSpc>
              <a:buNone/>
            </a:pPr>
            <a:r>
              <a:rPr lang="en-US" sz="1200" dirty="0">
                <a:solidFill>
                  <a:srgbClr val="CBD5E1"/>
                </a:solidFill>
                <a:latin typeface="Segoe UI" pitchFamily="34" charset="0"/>
                <a:ea typeface="Segoe UI" pitchFamily="34" charset="-122"/>
                <a:cs typeface="Segoe UI" pitchFamily="34" charset="-120"/>
              </a:rPr>
              <a:t>Conectado direto na porta USB 5V do painel (consumo &lt; 0.4W), sem alterar fiação do ônibus;
</a:t>
            </a:r>
            <a:pPr indent="0" marL="0">
              <a:lnSpc>
                <a:spcPct val="130000"/>
              </a:lnSpc>
              <a:buNone/>
            </a:pPr>
            <a:r>
              <a:rPr lang="en-US" sz="1200" b="1" dirty="0">
                <a:solidFill>
                  <a:srgbClr val="FFFFFF"/>
                </a:solidFill>
                <a:latin typeface="Segoe UI" pitchFamily="34" charset="0"/>
                <a:ea typeface="Segoe UI" pitchFamily="34" charset="-122"/>
                <a:cs typeface="Segoe UI" pitchFamily="34" charset="-120"/>
              </a:rPr>
              <a:t>• Imunidade Determinística: </a:t>
            </a:r>
            <a:pPr indent="0" marL="0">
              <a:lnSpc>
                <a:spcPct val="130000"/>
              </a:lnSpc>
              <a:buNone/>
            </a:pPr>
            <a:r>
              <a:rPr lang="en-US" sz="1200" dirty="0">
                <a:solidFill>
                  <a:srgbClr val="CBD5E1"/>
                </a:solidFill>
                <a:latin typeface="Segoe UI" pitchFamily="34" charset="0"/>
                <a:ea typeface="Segoe UI" pitchFamily="34" charset="-122"/>
                <a:cs typeface="Segoe UI" pitchFamily="34" charset="-120"/>
              </a:rPr>
              <a:t>Alcance calibrado para 6 a 8 metros garante que somente quem está dentro da carroceria capture o rádio.</a:t>
            </a:r>
            <a:endParaRPr lang="en-US" sz="1200" dirty="0"/>
          </a:p>
        </p:txBody>
      </p:sp>
      <p:sp>
        <p:nvSpPr>
          <p:cNvPr id="12" name="Text 10"/>
          <p:cNvSpPr/>
          <p:nvPr/>
        </p:nvSpPr>
        <p:spPr>
          <a:xfrm>
            <a:off x="731520" y="5852160"/>
            <a:ext cx="10698480" cy="457200"/>
          </a:xfrm>
          <a:prstGeom prst="rect">
            <a:avLst/>
          </a:prstGeom>
          <a:noFill/>
          <a:ln/>
        </p:spPr>
        <p:txBody>
          <a:bodyPr wrap="square" rtlCol="0" anchor="ctr"/>
          <a:lstStyle/>
          <a:p>
            <a:pPr algn="ctr" indent="0" marL="0">
              <a:buNone/>
            </a:pPr>
            <a:r>
              <a:rPr lang="en-US" sz="1100" b="1" dirty="0">
                <a:solidFill>
                  <a:srgbClr val="34D399"/>
                </a:solidFill>
                <a:latin typeface="Segoe UI" pitchFamily="34" charset="0"/>
                <a:ea typeface="Segoe UI" pitchFamily="34" charset="-122"/>
                <a:cs typeface="Segoe UI" pitchFamily="34" charset="-120"/>
              </a:rPr>
              <a:t>💡 Oportunidade Científica: Usar o sinal físico BLE como chave criptográfica para autenticar e canalizar o GPS dos passageiros!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B14"/>
        </a:solidFill>
      </p:bgPr>
    </p:bg>
    <p:spTree>
      <p:nvGrpSpPr>
        <p:cNvPr id="1" name=""/>
        <p:cNvGrpSpPr/>
        <p:nvPr/>
      </p:nvGrpSpPr>
      <p:grpSpPr>
        <a:xfrm>
          <a:off x="0" y="0"/>
          <a:ext cx="0" cy="0"/>
          <a:chOff x="0" y="0"/>
          <a:chExt cx="0" cy="0"/>
        </a:xfrm>
      </p:grpSpPr>
      <p:sp>
        <p:nvSpPr>
          <p:cNvPr id="2" name="Text 0"/>
          <p:cNvSpPr/>
          <p:nvPr/>
        </p:nvSpPr>
        <p:spPr>
          <a:xfrm>
            <a:off x="731520" y="365760"/>
            <a:ext cx="4114800" cy="292608"/>
          </a:xfrm>
          <a:prstGeom prst="rect">
            <a:avLst/>
          </a:prstGeom>
          <a:solidFill>
            <a:srgbClr val="0E2238"/>
          </a:solidFill>
          <a:ln/>
        </p:spPr>
        <p:txBody>
          <a:bodyPr wrap="square" lIns="0" tIns="101600" rIns="101600" bIns="0" rtlCol="0" anchor="ctr"/>
          <a:lstStyle/>
          <a:p>
            <a:pPr algn="l" indent="0" marL="0">
              <a:buNone/>
            </a:pPr>
            <a:r>
              <a:rPr lang="en-US" sz="1000" b="1" dirty="0">
                <a:solidFill>
                  <a:srgbClr val="38BDF8"/>
                </a:solidFill>
                <a:latin typeface="Segoe UI" pitchFamily="34" charset="0"/>
                <a:ea typeface="Segoe UI" pitchFamily="34" charset="-122"/>
                <a:cs typeface="Segoe UI" pitchFamily="34" charset="-120"/>
              </a:rPr>
              <a:t>A LACUNA TECNOLÓGICA</a:t>
            </a:r>
            <a:endParaRPr lang="en-US" sz="1000" dirty="0"/>
          </a:p>
        </p:txBody>
      </p:sp>
      <p:sp>
        <p:nvSpPr>
          <p:cNvPr id="3" name="Text 1"/>
          <p:cNvSpPr/>
          <p:nvPr/>
        </p:nvSpPr>
        <p:spPr>
          <a:xfrm>
            <a:off x="7772400" y="365760"/>
            <a:ext cx="3657600" cy="292608"/>
          </a:xfrm>
          <a:prstGeom prst="rect">
            <a:avLst/>
          </a:prstGeom>
          <a:noFill/>
          <a:ln/>
        </p:spPr>
        <p:txBody>
          <a:bodyPr wrap="square" rtlCol="0" anchor="ctr"/>
          <a:lstStyle/>
          <a:p>
            <a:pPr algn="r" indent="0" marL="0">
              <a:buNone/>
            </a:pPr>
            <a:r>
              <a:rPr lang="en-US" sz="1000" dirty="0">
                <a:solidFill>
                  <a:srgbClr val="94A3B8"/>
                </a:solidFill>
                <a:latin typeface="Consolas" pitchFamily="34" charset="0"/>
                <a:ea typeface="Consolas" pitchFamily="34" charset="-122"/>
                <a:cs typeface="Consolas" pitchFamily="34" charset="-120"/>
              </a:rPr>
              <a:t>⏱️ 06:30 - 08:00 (1m30s)</a:t>
            </a:r>
            <a:endParaRPr lang="en-US" sz="1000" dirty="0"/>
          </a:p>
        </p:txBody>
      </p:sp>
      <p:sp>
        <p:nvSpPr>
          <p:cNvPr id="4" name="Text 2"/>
          <p:cNvSpPr/>
          <p:nvPr/>
        </p:nvSpPr>
        <p:spPr>
          <a:xfrm>
            <a:off x="731520" y="713232"/>
            <a:ext cx="10698480" cy="548640"/>
          </a:xfrm>
          <a:prstGeom prst="rect">
            <a:avLst/>
          </a:prstGeom>
          <a:noFill/>
          <a:ln/>
        </p:spPr>
        <p:txBody>
          <a:bodyPr wrap="square" rtlCol="0" anchor="t"/>
          <a:lstStyle/>
          <a:p>
            <a:pPr indent="0" marL="0">
              <a:buNone/>
            </a:pPr>
            <a:r>
              <a:rPr lang="en-US" sz="2200" b="1" dirty="0">
                <a:solidFill>
                  <a:srgbClr val="FFFFFF"/>
                </a:solidFill>
                <a:latin typeface="Segoe UI" pitchFamily="34" charset="0"/>
                <a:ea typeface="Segoe UI" pitchFamily="34" charset="-122"/>
                <a:cs typeface="Segoe UI" pitchFamily="34" charset="-120"/>
              </a:rPr>
              <a:t>Matriz de Decisão: Onde as Soluções Atuais Falham</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300" dirty="0">
                <a:solidFill>
                  <a:srgbClr val="38BDF8"/>
                </a:solidFill>
                <a:latin typeface="Segoe UI" pitchFamily="34" charset="0"/>
                <a:ea typeface="Segoe UI" pitchFamily="34" charset="-122"/>
                <a:cs typeface="Segoe UI" pitchFamily="34" charset="-120"/>
              </a:rPr>
              <a:t>Identificação da oportunidade científica que fundamenta a arquitetura LocBUS</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31520" y="1691640"/>
          <a:ext cx="10698480" cy="3840480"/>
        </p:xfrm>
        <a:graphic>
          <a:graphicData uri="http://schemas.openxmlformats.org/drawingml/2006/table">
            <a:tbl>
              <a:tblPr/>
              <a:tblGrid>
                <a:gridCol w="2674620"/>
                <a:gridCol w="2674620"/>
                <a:gridCol w="2674620"/>
                <a:gridCol w="2674620"/>
              </a:tblGrid>
              <a:tr h="548640">
                <a:tc>
                  <a:txBody>
                    <a:bodyPr/>
                    <a:lstStyle/>
                    <a:p>
                      <a:pPr algn="l" indent="0" marL="0">
                        <a:buNone/>
                      </a:pPr>
                      <a:r>
                        <a:rPr lang="en-US" sz="1100" b="1" dirty="0">
                          <a:solidFill>
                            <a:srgbClr val="94A3B8"/>
                          </a:solidFill>
                          <a:latin typeface="Segoe UI" pitchFamily="34" charset="0"/>
                          <a:ea typeface="Segoe UI" pitchFamily="34" charset="-122"/>
                          <a:cs typeface="Segoe UI" pitchFamily="34" charset="-120"/>
                        </a:rPr>
                        <a:t>CRITÉRIO DE AVALIAÇÃO</a:t>
                      </a:r>
                      <a:endParaRPr lang="en-US" sz="1100" dirty="0">
                        <a:latin typeface="Segoe UI" charset="0"/>
                        <a:ea typeface="Segoe UI" charset="0"/>
                        <a:cs typeface="Segoe UI" charset="0"/>
                      </a:endParaRPr>
                    </a:p>
                  </a:txBody>
                  <a:tcPr marL="91440" marR="91440" marT="45720" marB="45720" anchor="ctr">
                    <a:lnL w="12700" cap="flat" cmpd="sng" algn="ctr">
                      <a:solidFill>
                        <a:srgbClr val="1F2D48"/>
                      </a:solidFill>
                      <a:prstDash val="solid"/>
                      <a:round/>
                      <a:headEnd type="none" w="med" len="med"/>
                      <a:tailEnd type="none" w="med" len="med"/>
                    </a:lnL>
                    <a:lnR w="12700" cap="flat" cmpd="sng" algn="ctr">
                      <a:solidFill>
                        <a:srgbClr val="1F2D48"/>
                      </a:solidFill>
                      <a:prstDash val="solid"/>
                      <a:round/>
                      <a:headEnd type="none" w="med" len="med"/>
                      <a:tailEnd type="none" w="med" len="med"/>
                    </a:lnR>
                    <a:lnT w="12700" cap="flat" cmpd="sng" algn="ctr">
                      <a:solidFill>
                        <a:srgbClr val="1F2D48"/>
                      </a:solidFill>
                      <a:prstDash val="solid"/>
                      <a:round/>
                      <a:headEnd type="none" w="med" len="med"/>
                      <a:tailEnd type="none" w="med" len="med"/>
                    </a:lnT>
                    <a:lnB w="12700" cap="flat" cmpd="sng" algn="ctr">
                      <a:solidFill>
                        <a:srgbClr val="1F2D48"/>
                      </a:solidFill>
                      <a:prstDash val="solid"/>
                      <a:round/>
                      <a:headEnd type="none" w="med" len="med"/>
                      <a:tailEnd type="none" w="med" len="med"/>
                    </a:lnB>
                    <a:solidFill>
                      <a:srgbClr val="0A1122"/>
                    </a:solidFill>
                  </a:tcPr>
                </a:tc>
                <a:tc>
                  <a:txBody>
                    <a:bodyPr/>
                    <a:lstStyle/>
                    <a:p>
                      <a:pPr algn="l" indent="0" marL="0">
                        <a:buNone/>
                      </a:pPr>
                      <a:r>
                        <a:rPr lang="en-US" sz="1100" b="1" dirty="0">
                          <a:solidFill>
                            <a:srgbClr val="94A3B8"/>
                          </a:solidFill>
                          <a:latin typeface="Segoe UI" pitchFamily="34" charset="0"/>
                          <a:ea typeface="Segoe UI" pitchFamily="34" charset="-122"/>
                          <a:cs typeface="Segoe UI" pitchFamily="34" charset="-120"/>
                        </a:rPr>
                        <a:t>AVL COMERCIAL 4G</a:t>
                      </a:r>
                      <a:endParaRPr lang="en-US" sz="1100" dirty="0">
                        <a:latin typeface="Segoe UI" charset="0"/>
                        <a:ea typeface="Segoe UI" charset="0"/>
                        <a:cs typeface="Segoe UI" charset="0"/>
                      </a:endParaRPr>
                    </a:p>
                  </a:txBody>
                  <a:tcPr marL="91440" marR="91440" marT="45720" marB="45720" anchor="ctr">
                    <a:lnL w="12700" cap="flat" cmpd="sng" algn="ctr">
                      <a:solidFill>
                        <a:srgbClr val="1F2D48"/>
                      </a:solidFill>
                      <a:prstDash val="solid"/>
                      <a:round/>
                      <a:headEnd type="none" w="med" len="med"/>
                      <a:tailEnd type="none" w="med" len="med"/>
                    </a:lnL>
                    <a:lnR w="12700" cap="flat" cmpd="sng" algn="ctr">
                      <a:solidFill>
                        <a:srgbClr val="1F2D48"/>
                      </a:solidFill>
                      <a:prstDash val="solid"/>
                      <a:round/>
                      <a:headEnd type="none" w="med" len="med"/>
                      <a:tailEnd type="none" w="med" len="med"/>
                    </a:lnR>
                    <a:lnT w="12700" cap="flat" cmpd="sng" algn="ctr">
                      <a:solidFill>
                        <a:srgbClr val="1F2D48"/>
                      </a:solidFill>
                      <a:prstDash val="solid"/>
                      <a:round/>
                      <a:headEnd type="none" w="med" len="med"/>
                      <a:tailEnd type="none" w="med" len="med"/>
                    </a:lnT>
                    <a:lnB w="12700" cap="flat" cmpd="sng" algn="ctr">
                      <a:solidFill>
                        <a:srgbClr val="1F2D48"/>
                      </a:solidFill>
                      <a:prstDash val="solid"/>
                      <a:round/>
                      <a:headEnd type="none" w="med" len="med"/>
                      <a:tailEnd type="none" w="med" len="med"/>
                    </a:lnB>
                    <a:solidFill>
                      <a:srgbClr val="0A1122"/>
                    </a:solidFill>
                  </a:tcPr>
                </a:tc>
                <a:tc>
                  <a:txBody>
                    <a:bodyPr/>
                    <a:lstStyle/>
                    <a:p>
                      <a:pPr algn="l" indent="0" marL="0">
                        <a:buNone/>
                      </a:pPr>
                      <a:r>
                        <a:rPr lang="en-US" sz="1100" b="1" dirty="0">
                          <a:solidFill>
                            <a:srgbClr val="94A3B8"/>
                          </a:solidFill>
                          <a:latin typeface="Segoe UI" pitchFamily="34" charset="0"/>
                          <a:ea typeface="Segoe UI" pitchFamily="34" charset="-122"/>
                          <a:cs typeface="Segoe UI" pitchFamily="34" charset="-120"/>
                        </a:rPr>
                        <a:t>CROWDSOURCING PURO</a:t>
                      </a:r>
                      <a:endParaRPr lang="en-US" sz="1100" dirty="0">
                        <a:latin typeface="Segoe UI" charset="0"/>
                        <a:ea typeface="Segoe UI" charset="0"/>
                        <a:cs typeface="Segoe UI" charset="0"/>
                      </a:endParaRPr>
                    </a:p>
                  </a:txBody>
                  <a:tcPr marL="91440" marR="91440" marT="45720" marB="45720" anchor="ctr">
                    <a:lnL w="12700" cap="flat" cmpd="sng" algn="ctr">
                      <a:solidFill>
                        <a:srgbClr val="1F2D48"/>
                      </a:solidFill>
                      <a:prstDash val="solid"/>
                      <a:round/>
                      <a:headEnd type="none" w="med" len="med"/>
                      <a:tailEnd type="none" w="med" len="med"/>
                    </a:lnL>
                    <a:lnR w="12700" cap="flat" cmpd="sng" algn="ctr">
                      <a:solidFill>
                        <a:srgbClr val="1F2D48"/>
                      </a:solidFill>
                      <a:prstDash val="solid"/>
                      <a:round/>
                      <a:headEnd type="none" w="med" len="med"/>
                      <a:tailEnd type="none" w="med" len="med"/>
                    </a:lnR>
                    <a:lnT w="12700" cap="flat" cmpd="sng" algn="ctr">
                      <a:solidFill>
                        <a:srgbClr val="1F2D48"/>
                      </a:solidFill>
                      <a:prstDash val="solid"/>
                      <a:round/>
                      <a:headEnd type="none" w="med" len="med"/>
                      <a:tailEnd type="none" w="med" len="med"/>
                    </a:lnT>
                    <a:lnB w="12700" cap="flat" cmpd="sng" algn="ctr">
                      <a:solidFill>
                        <a:srgbClr val="1F2D48"/>
                      </a:solidFill>
                      <a:prstDash val="solid"/>
                      <a:round/>
                      <a:headEnd type="none" w="med" len="med"/>
                      <a:tailEnd type="none" w="med" len="med"/>
                    </a:lnB>
                    <a:solidFill>
                      <a:srgbClr val="0A1122"/>
                    </a:solidFill>
                  </a:tcPr>
                </a:tc>
                <a:tc>
                  <a:txBody>
                    <a:bodyPr/>
                    <a:lstStyle/>
                    <a:p>
                      <a:pPr algn="l" indent="0" marL="0">
                        <a:buNone/>
                      </a:pPr>
                      <a:r>
                        <a:rPr lang="en-US" sz="1100" b="1" dirty="0">
                          <a:solidFill>
                            <a:srgbClr val="34D399"/>
                          </a:solidFill>
                          <a:latin typeface="Segoe UI" pitchFamily="34" charset="0"/>
                          <a:ea typeface="Segoe UI" pitchFamily="34" charset="-122"/>
                          <a:cs typeface="Segoe UI" pitchFamily="34" charset="-120"/>
                        </a:rPr>
                        <a:t>LOCBUS (NOSSA PROPOSTA)</a:t>
                      </a:r>
                      <a:endParaRPr lang="en-US" sz="1100" dirty="0">
                        <a:latin typeface="Segoe UI" charset="0"/>
                        <a:ea typeface="Segoe UI" charset="0"/>
                        <a:cs typeface="Segoe UI" charset="0"/>
                      </a:endParaRPr>
                    </a:p>
                  </a:txBody>
                  <a:tcPr marL="91440" marR="91440" marT="45720" marB="45720" anchor="ctr">
                    <a:lnL w="12700" cap="flat" cmpd="sng" algn="ctr">
                      <a:solidFill>
                        <a:srgbClr val="1F2D48"/>
                      </a:solidFill>
                      <a:prstDash val="solid"/>
                      <a:round/>
                      <a:headEnd type="none" w="med" len="med"/>
                      <a:tailEnd type="none" w="med" len="med"/>
                    </a:lnL>
                    <a:lnR w="12700" cap="flat" cmpd="sng" algn="ctr">
                      <a:solidFill>
                        <a:srgbClr val="1F2D48"/>
                      </a:solidFill>
                      <a:prstDash val="solid"/>
                      <a:round/>
                      <a:headEnd type="none" w="med" len="med"/>
                      <a:tailEnd type="none" w="med" len="med"/>
                    </a:lnR>
                    <a:lnT w="12700" cap="flat" cmpd="sng" algn="ctr">
                      <a:solidFill>
                        <a:srgbClr val="1F2D48"/>
                      </a:solidFill>
                      <a:prstDash val="solid"/>
                      <a:round/>
                      <a:headEnd type="none" w="med" len="med"/>
                      <a:tailEnd type="none" w="med" len="med"/>
                    </a:lnT>
                    <a:lnB w="12700" cap="flat" cmpd="sng" algn="ctr">
                      <a:solidFill>
                        <a:srgbClr val="1F2D48"/>
                      </a:solidFill>
                      <a:prstDash val="solid"/>
                      <a:round/>
                      <a:headEnd type="none" w="med" len="med"/>
                      <a:tailEnd type="none" w="med" len="med"/>
                    </a:lnB>
                    <a:solidFill>
                      <a:srgbClr val="0C2822"/>
                    </a:solidFill>
                  </a:tcPr>
                </a:tc>
              </a:tr>
              <a:tr h="548640">
                <a:tc>
                  <a:txBody>
                    <a:bodyPr/>
                    <a:lstStyle/>
                    <a:p>
                      <a:pPr algn="l" indent="0" marL="0">
                        <a:buNone/>
                      </a:pPr>
                      <a:r>
                        <a:rPr lang="en-US" sz="1100" b="1" dirty="0">
                          <a:solidFill>
                            <a:srgbClr val="FFFFFF"/>
                          </a:solidFill>
                          <a:latin typeface="Segoe UI" pitchFamily="34" charset="0"/>
                          <a:ea typeface="Segoe UI" pitchFamily="34" charset="-122"/>
                          <a:cs typeface="Segoe UI" pitchFamily="34" charset="-120"/>
                        </a:rPr>
                        <a:t>Custo de Hardware Veicular</a:t>
                      </a:r>
                      <a:endParaRPr lang="en-US" sz="1100" dirty="0">
                        <a:latin typeface="Segoe UI" charset="0"/>
                        <a:ea typeface="Segoe UI" charset="0"/>
                        <a:cs typeface="Segoe UI" charset="0"/>
                      </a:endParaRPr>
                    </a:p>
                  </a:txBody>
                  <a:tcPr marL="91440" marR="91440" marT="45720" marB="45720" anchor="ctr">
                    <a:lnL w="12700" cap="flat" cmpd="sng" algn="ctr">
                      <a:solidFill>
                        <a:srgbClr val="1F2D48"/>
                      </a:solidFill>
                      <a:prstDash val="solid"/>
                      <a:round/>
                      <a:headEnd type="none" w="med" len="med"/>
                      <a:tailEnd type="none" w="med" len="med"/>
                    </a:lnL>
                    <a:lnR w="12700" cap="flat" cmpd="sng" algn="ctr">
                      <a:solidFill>
                        <a:srgbClr val="1F2D48"/>
                      </a:solidFill>
                      <a:prstDash val="solid"/>
                      <a:round/>
                      <a:headEnd type="none" w="med" len="med"/>
                      <a:tailEnd type="none" w="med" len="med"/>
                    </a:lnR>
                    <a:lnT w="12700" cap="flat" cmpd="sng" algn="ctr">
                      <a:solidFill>
                        <a:srgbClr val="1F2D48"/>
                      </a:solidFill>
                      <a:prstDash val="solid"/>
                      <a:round/>
                      <a:headEnd type="none" w="med" len="med"/>
                      <a:tailEnd type="none" w="med" len="med"/>
                    </a:lnT>
                    <a:lnB w="12700" cap="flat" cmpd="sng" algn="ctr">
                      <a:solidFill>
                        <a:srgbClr val="1F2D48"/>
                      </a:solidFill>
                      <a:prstDash val="solid"/>
                      <a:round/>
                      <a:headEnd type="none" w="med" len="med"/>
                      <a:tailEnd type="none" w="med" len="med"/>
                    </a:lnB>
                    <a:solidFill>
                      <a:srgbClr val="0F172A"/>
                    </a:solidFill>
                  </a:tcPr>
                </a:tc>
                <a:tc>
                  <a:txBody>
                    <a:bodyPr/>
                    <a:lstStyle/>
                    <a:p>
                      <a:pPr algn="l" indent="0" marL="0">
                        <a:buNone/>
                      </a:pPr>
                      <a:r>
                        <a:rPr lang="en-US" sz="1100" dirty="0">
                          <a:solidFill>
                            <a:srgbClr val="CBD5E1"/>
                          </a:solidFill>
                          <a:latin typeface="Segoe UI" pitchFamily="34" charset="0"/>
                          <a:ea typeface="Segoe UI" pitchFamily="34" charset="-122"/>
                          <a:cs typeface="Segoe UI" pitchFamily="34" charset="-120"/>
                        </a:rPr>
                        <a:t>Alto (&gt; R$ 1.500)</a:t>
                      </a:r>
                      <a:endParaRPr lang="en-US" sz="1100" dirty="0">
                        <a:latin typeface="Segoe UI" charset="0"/>
                        <a:ea typeface="Segoe UI" charset="0"/>
                        <a:cs typeface="Segoe UI" charset="0"/>
                      </a:endParaRPr>
                    </a:p>
                  </a:txBody>
                  <a:tcPr marL="91440" marR="91440" marT="45720" marB="45720" anchor="ctr">
                    <a:lnL w="12700" cap="flat" cmpd="sng" algn="ctr">
                      <a:solidFill>
                        <a:srgbClr val="1F2D48"/>
                      </a:solidFill>
                      <a:prstDash val="solid"/>
                      <a:round/>
                      <a:headEnd type="none" w="med" len="med"/>
                      <a:tailEnd type="none" w="med" len="med"/>
                    </a:lnL>
                    <a:lnR w="12700" cap="flat" cmpd="sng" algn="ctr">
                      <a:solidFill>
                        <a:srgbClr val="1F2D48"/>
                      </a:solidFill>
                      <a:prstDash val="solid"/>
                      <a:round/>
                      <a:headEnd type="none" w="med" len="med"/>
                      <a:tailEnd type="none" w="med" len="med"/>
                    </a:lnR>
                    <a:lnT w="12700" cap="flat" cmpd="sng" algn="ctr">
                      <a:solidFill>
                        <a:srgbClr val="1F2D48"/>
                      </a:solidFill>
                      <a:prstDash val="solid"/>
                      <a:round/>
                      <a:headEnd type="none" w="med" len="med"/>
                      <a:tailEnd type="none" w="med" len="med"/>
                    </a:lnT>
                    <a:lnB w="12700" cap="flat" cmpd="sng" algn="ctr">
                      <a:solidFill>
                        <a:srgbClr val="1F2D48"/>
                      </a:solidFill>
                      <a:prstDash val="solid"/>
                      <a:round/>
                      <a:headEnd type="none" w="med" len="med"/>
                      <a:tailEnd type="none" w="med" len="med"/>
                    </a:lnB>
                    <a:solidFill>
                      <a:srgbClr val="0F172A"/>
                    </a:solidFill>
                  </a:tcPr>
                </a:tc>
                <a:tc>
                  <a:txBody>
                    <a:bodyPr/>
                    <a:lstStyle/>
                    <a:p>
                      <a:pPr algn="l" indent="0" marL="0">
                        <a:buNone/>
                      </a:pPr>
                      <a:r>
                        <a:rPr lang="en-US" sz="1100" dirty="0">
                          <a:solidFill>
                            <a:srgbClr val="CBD5E1"/>
                          </a:solidFill>
                          <a:latin typeface="Segoe UI" pitchFamily="34" charset="0"/>
                          <a:ea typeface="Segoe UI" pitchFamily="34" charset="-122"/>
                          <a:cs typeface="Segoe UI" pitchFamily="34" charset="-120"/>
                        </a:rPr>
                        <a:t>Nulo (R$ 0)</a:t>
                      </a:r>
                      <a:endParaRPr lang="en-US" sz="1100" dirty="0">
                        <a:latin typeface="Segoe UI" charset="0"/>
                        <a:ea typeface="Segoe UI" charset="0"/>
                        <a:cs typeface="Segoe UI" charset="0"/>
                      </a:endParaRPr>
                    </a:p>
                  </a:txBody>
                  <a:tcPr marL="91440" marR="91440" marT="45720" marB="45720" anchor="ctr">
                    <a:lnL w="12700" cap="flat" cmpd="sng" algn="ctr">
                      <a:solidFill>
                        <a:srgbClr val="1F2D48"/>
                      </a:solidFill>
                      <a:prstDash val="solid"/>
                      <a:round/>
                      <a:headEnd type="none" w="med" len="med"/>
                      <a:tailEnd type="none" w="med" len="med"/>
                    </a:lnL>
                    <a:lnR w="12700" cap="flat" cmpd="sng" algn="ctr">
                      <a:solidFill>
                        <a:srgbClr val="1F2D48"/>
                      </a:solidFill>
                      <a:prstDash val="solid"/>
                      <a:round/>
                      <a:headEnd type="none" w="med" len="med"/>
                      <a:tailEnd type="none" w="med" len="med"/>
                    </a:lnR>
                    <a:lnT w="12700" cap="flat" cmpd="sng" algn="ctr">
                      <a:solidFill>
                        <a:srgbClr val="1F2D48"/>
                      </a:solidFill>
                      <a:prstDash val="solid"/>
                      <a:round/>
                      <a:headEnd type="none" w="med" len="med"/>
                      <a:tailEnd type="none" w="med" len="med"/>
                    </a:lnT>
                    <a:lnB w="12700" cap="flat" cmpd="sng" algn="ctr">
                      <a:solidFill>
                        <a:srgbClr val="1F2D48"/>
                      </a:solidFill>
                      <a:prstDash val="solid"/>
                      <a:round/>
                      <a:headEnd type="none" w="med" len="med"/>
                      <a:tailEnd type="none" w="med" len="med"/>
                    </a:lnB>
                    <a:solidFill>
                      <a:srgbClr val="0F172A"/>
                    </a:solidFill>
                  </a:tcPr>
                </a:tc>
                <a:tc>
                  <a:txBody>
                    <a:bodyPr/>
                    <a:lstStyle/>
                    <a:p>
                      <a:pPr algn="l" indent="0" marL="0">
                        <a:buNone/>
                      </a:pPr>
                      <a:r>
                        <a:rPr lang="en-US" sz="1100" b="1" dirty="0">
                          <a:solidFill>
                            <a:srgbClr val="34D399"/>
                          </a:solidFill>
                          <a:latin typeface="Segoe UI" pitchFamily="34" charset="0"/>
                          <a:ea typeface="Segoe UI" pitchFamily="34" charset="-122"/>
                          <a:cs typeface="Segoe UI" pitchFamily="34" charset="-120"/>
                        </a:rPr>
                        <a:t>Mínimo (&lt; R$ 40 - ESP32)</a:t>
                      </a:r>
                      <a:endParaRPr lang="en-US" sz="1100" dirty="0">
                        <a:latin typeface="Segoe UI" charset="0"/>
                        <a:ea typeface="Segoe UI" charset="0"/>
                        <a:cs typeface="Segoe UI" charset="0"/>
                      </a:endParaRPr>
                    </a:p>
                  </a:txBody>
                  <a:tcPr marL="91440" marR="91440" marT="45720" marB="45720" anchor="ctr">
                    <a:lnL w="12700" cap="flat" cmpd="sng" algn="ctr">
                      <a:solidFill>
                        <a:srgbClr val="1F2D48"/>
                      </a:solidFill>
                      <a:prstDash val="solid"/>
                      <a:round/>
                      <a:headEnd type="none" w="med" len="med"/>
                      <a:tailEnd type="none" w="med" len="med"/>
                    </a:lnL>
                    <a:lnR w="12700" cap="flat" cmpd="sng" algn="ctr">
                      <a:solidFill>
                        <a:srgbClr val="1F2D48"/>
                      </a:solidFill>
                      <a:prstDash val="solid"/>
                      <a:round/>
                      <a:headEnd type="none" w="med" len="med"/>
                      <a:tailEnd type="none" w="med" len="med"/>
                    </a:lnR>
                    <a:lnT w="12700" cap="flat" cmpd="sng" algn="ctr">
                      <a:solidFill>
                        <a:srgbClr val="1F2D48"/>
                      </a:solidFill>
                      <a:prstDash val="solid"/>
                      <a:round/>
                      <a:headEnd type="none" w="med" len="med"/>
                      <a:tailEnd type="none" w="med" len="med"/>
                    </a:lnT>
                    <a:lnB w="12700" cap="flat" cmpd="sng" algn="ctr">
                      <a:solidFill>
                        <a:srgbClr val="1F2D48"/>
                      </a:solidFill>
                      <a:prstDash val="solid"/>
                      <a:round/>
                      <a:headEnd type="none" w="med" len="med"/>
                      <a:tailEnd type="none" w="med" len="med"/>
                    </a:lnB>
                    <a:solidFill>
                      <a:srgbClr val="0C2822"/>
                    </a:solidFill>
                  </a:tcPr>
                </a:tc>
              </a:tr>
              <a:tr h="548640">
                <a:tc>
                  <a:txBody>
                    <a:bodyPr/>
                    <a:lstStyle/>
                    <a:p>
                      <a:pPr algn="l" indent="0" marL="0">
                        <a:buNone/>
                      </a:pPr>
                      <a:r>
                        <a:rPr lang="en-US" sz="1100" b="1" dirty="0">
                          <a:solidFill>
                            <a:srgbClr val="FFFFFF"/>
                          </a:solidFill>
                          <a:latin typeface="Segoe UI" pitchFamily="34" charset="0"/>
                          <a:ea typeface="Segoe UI" pitchFamily="34" charset="-122"/>
                          <a:cs typeface="Segoe UI" pitchFamily="34" charset="-120"/>
                        </a:rPr>
                        <a:t>Mensalidade de Conectividade</a:t>
                      </a:r>
                      <a:endParaRPr lang="en-US" sz="1100" dirty="0">
                        <a:latin typeface="Segoe UI" charset="0"/>
                        <a:ea typeface="Segoe UI" charset="0"/>
                        <a:cs typeface="Segoe UI" charset="0"/>
                      </a:endParaRPr>
                    </a:p>
                  </a:txBody>
                  <a:tcPr marL="91440" marR="91440" marT="45720" marB="45720" anchor="ctr">
                    <a:lnL w="12700" cap="flat" cmpd="sng" algn="ctr">
                      <a:solidFill>
                        <a:srgbClr val="1F2D48"/>
                      </a:solidFill>
                      <a:prstDash val="solid"/>
                      <a:round/>
                      <a:headEnd type="none" w="med" len="med"/>
                      <a:tailEnd type="none" w="med" len="med"/>
                    </a:lnL>
                    <a:lnR w="12700" cap="flat" cmpd="sng" algn="ctr">
                      <a:solidFill>
                        <a:srgbClr val="1F2D48"/>
                      </a:solidFill>
                      <a:prstDash val="solid"/>
                      <a:round/>
                      <a:headEnd type="none" w="med" len="med"/>
                      <a:tailEnd type="none" w="med" len="med"/>
                    </a:lnR>
                    <a:lnT w="12700" cap="flat" cmpd="sng" algn="ctr">
                      <a:solidFill>
                        <a:srgbClr val="1F2D48"/>
                      </a:solidFill>
                      <a:prstDash val="solid"/>
                      <a:round/>
                      <a:headEnd type="none" w="med" len="med"/>
                      <a:tailEnd type="none" w="med" len="med"/>
                    </a:lnT>
                    <a:lnB w="12700" cap="flat" cmpd="sng" algn="ctr">
                      <a:solidFill>
                        <a:srgbClr val="1F2D48"/>
                      </a:solidFill>
                      <a:prstDash val="solid"/>
                      <a:round/>
                      <a:headEnd type="none" w="med" len="med"/>
                      <a:tailEnd type="none" w="med" len="med"/>
                    </a:lnB>
                    <a:solidFill>
                      <a:srgbClr val="0F172A"/>
                    </a:solidFill>
                  </a:tcPr>
                </a:tc>
                <a:tc>
                  <a:txBody>
                    <a:bodyPr/>
                    <a:lstStyle/>
                    <a:p>
                      <a:pPr algn="l" indent="0" marL="0">
                        <a:buNone/>
                      </a:pPr>
                      <a:r>
                        <a:rPr lang="en-US" sz="1100" dirty="0">
                          <a:solidFill>
                            <a:srgbClr val="FB7185"/>
                          </a:solidFill>
                          <a:latin typeface="Segoe UI" pitchFamily="34" charset="0"/>
                          <a:ea typeface="Segoe UI" pitchFamily="34" charset="-122"/>
                          <a:cs typeface="Segoe UI" pitchFamily="34" charset="-120"/>
                        </a:rPr>
                        <a:t>Obrigatório (R$ 60-120/mês)</a:t>
                      </a:r>
                      <a:endParaRPr lang="en-US" sz="1100" dirty="0">
                        <a:latin typeface="Segoe UI" charset="0"/>
                        <a:ea typeface="Segoe UI" charset="0"/>
                        <a:cs typeface="Segoe UI" charset="0"/>
                      </a:endParaRPr>
                    </a:p>
                  </a:txBody>
                  <a:tcPr marL="91440" marR="91440" marT="45720" marB="45720" anchor="ctr">
                    <a:lnL w="12700" cap="flat" cmpd="sng" algn="ctr">
                      <a:solidFill>
                        <a:srgbClr val="1F2D48"/>
                      </a:solidFill>
                      <a:prstDash val="solid"/>
                      <a:round/>
                      <a:headEnd type="none" w="med" len="med"/>
                      <a:tailEnd type="none" w="med" len="med"/>
                    </a:lnL>
                    <a:lnR w="12700" cap="flat" cmpd="sng" algn="ctr">
                      <a:solidFill>
                        <a:srgbClr val="1F2D48"/>
                      </a:solidFill>
                      <a:prstDash val="solid"/>
                      <a:round/>
                      <a:headEnd type="none" w="med" len="med"/>
                      <a:tailEnd type="none" w="med" len="med"/>
                    </a:lnR>
                    <a:lnT w="12700" cap="flat" cmpd="sng" algn="ctr">
                      <a:solidFill>
                        <a:srgbClr val="1F2D48"/>
                      </a:solidFill>
                      <a:prstDash val="solid"/>
                      <a:round/>
                      <a:headEnd type="none" w="med" len="med"/>
                      <a:tailEnd type="none" w="med" len="med"/>
                    </a:lnT>
                    <a:lnB w="12700" cap="flat" cmpd="sng" algn="ctr">
                      <a:solidFill>
                        <a:srgbClr val="1F2D48"/>
                      </a:solidFill>
                      <a:prstDash val="solid"/>
                      <a:round/>
                      <a:headEnd type="none" w="med" len="med"/>
                      <a:tailEnd type="none" w="med" len="med"/>
                    </a:lnB>
                    <a:solidFill>
                      <a:srgbClr val="0F172A"/>
                    </a:solidFill>
                  </a:tcPr>
                </a:tc>
                <a:tc>
                  <a:txBody>
                    <a:bodyPr/>
                    <a:lstStyle/>
                    <a:p>
                      <a:pPr algn="l" indent="0" marL="0">
                        <a:buNone/>
                      </a:pPr>
                      <a:r>
                        <a:rPr lang="en-US" sz="1100" dirty="0">
                          <a:solidFill>
                            <a:srgbClr val="CBD5E1"/>
                          </a:solidFill>
                          <a:latin typeface="Segoe UI" pitchFamily="34" charset="0"/>
                          <a:ea typeface="Segoe UI" pitchFamily="34" charset="-122"/>
                          <a:cs typeface="Segoe UI" pitchFamily="34" charset="-120"/>
                        </a:rPr>
                        <a:t>Não (Dados do usuário)</a:t>
                      </a:r>
                      <a:endParaRPr lang="en-US" sz="1100" dirty="0">
                        <a:latin typeface="Segoe UI" charset="0"/>
                        <a:ea typeface="Segoe UI" charset="0"/>
                        <a:cs typeface="Segoe UI" charset="0"/>
                      </a:endParaRPr>
                    </a:p>
                  </a:txBody>
                  <a:tcPr marL="91440" marR="91440" marT="45720" marB="45720" anchor="ctr">
                    <a:lnL w="12700" cap="flat" cmpd="sng" algn="ctr">
                      <a:solidFill>
                        <a:srgbClr val="1F2D48"/>
                      </a:solidFill>
                      <a:prstDash val="solid"/>
                      <a:round/>
                      <a:headEnd type="none" w="med" len="med"/>
                      <a:tailEnd type="none" w="med" len="med"/>
                    </a:lnL>
                    <a:lnR w="12700" cap="flat" cmpd="sng" algn="ctr">
                      <a:solidFill>
                        <a:srgbClr val="1F2D48"/>
                      </a:solidFill>
                      <a:prstDash val="solid"/>
                      <a:round/>
                      <a:headEnd type="none" w="med" len="med"/>
                      <a:tailEnd type="none" w="med" len="med"/>
                    </a:lnR>
                    <a:lnT w="12700" cap="flat" cmpd="sng" algn="ctr">
                      <a:solidFill>
                        <a:srgbClr val="1F2D48"/>
                      </a:solidFill>
                      <a:prstDash val="solid"/>
                      <a:round/>
                      <a:headEnd type="none" w="med" len="med"/>
                      <a:tailEnd type="none" w="med" len="med"/>
                    </a:lnT>
                    <a:lnB w="12700" cap="flat" cmpd="sng" algn="ctr">
                      <a:solidFill>
                        <a:srgbClr val="1F2D48"/>
                      </a:solidFill>
                      <a:prstDash val="solid"/>
                      <a:round/>
                      <a:headEnd type="none" w="med" len="med"/>
                      <a:tailEnd type="none" w="med" len="med"/>
                    </a:lnB>
                    <a:solidFill>
                      <a:srgbClr val="0F172A"/>
                    </a:solidFill>
                  </a:tcPr>
                </a:tc>
                <a:tc>
                  <a:txBody>
                    <a:bodyPr/>
                    <a:lstStyle/>
                    <a:p>
                      <a:pPr algn="l" indent="0" marL="0">
                        <a:buNone/>
                      </a:pPr>
                      <a:r>
                        <a:rPr lang="en-US" sz="1100" b="1" dirty="0">
                          <a:solidFill>
                            <a:srgbClr val="34D399"/>
                          </a:solidFill>
                          <a:latin typeface="Segoe UI" pitchFamily="34" charset="0"/>
                          <a:ea typeface="Segoe UI" pitchFamily="34" charset="-122"/>
                          <a:cs typeface="Segoe UI" pitchFamily="34" charset="-120"/>
                        </a:rPr>
                        <a:t>Zero (Planos dos passageiros)</a:t>
                      </a:r>
                      <a:endParaRPr lang="en-US" sz="1100" dirty="0">
                        <a:latin typeface="Segoe UI" charset="0"/>
                        <a:ea typeface="Segoe UI" charset="0"/>
                        <a:cs typeface="Segoe UI" charset="0"/>
                      </a:endParaRPr>
                    </a:p>
                  </a:txBody>
                  <a:tcPr marL="91440" marR="91440" marT="45720" marB="45720" anchor="ctr">
                    <a:lnL w="12700" cap="flat" cmpd="sng" algn="ctr">
                      <a:solidFill>
                        <a:srgbClr val="1F2D48"/>
                      </a:solidFill>
                      <a:prstDash val="solid"/>
                      <a:round/>
                      <a:headEnd type="none" w="med" len="med"/>
                      <a:tailEnd type="none" w="med" len="med"/>
                    </a:lnL>
                    <a:lnR w="12700" cap="flat" cmpd="sng" algn="ctr">
                      <a:solidFill>
                        <a:srgbClr val="1F2D48"/>
                      </a:solidFill>
                      <a:prstDash val="solid"/>
                      <a:round/>
                      <a:headEnd type="none" w="med" len="med"/>
                      <a:tailEnd type="none" w="med" len="med"/>
                    </a:lnR>
                    <a:lnT w="12700" cap="flat" cmpd="sng" algn="ctr">
                      <a:solidFill>
                        <a:srgbClr val="1F2D48"/>
                      </a:solidFill>
                      <a:prstDash val="solid"/>
                      <a:round/>
                      <a:headEnd type="none" w="med" len="med"/>
                      <a:tailEnd type="none" w="med" len="med"/>
                    </a:lnT>
                    <a:lnB w="12700" cap="flat" cmpd="sng" algn="ctr">
                      <a:solidFill>
                        <a:srgbClr val="1F2D48"/>
                      </a:solidFill>
                      <a:prstDash val="solid"/>
                      <a:round/>
                      <a:headEnd type="none" w="med" len="med"/>
                      <a:tailEnd type="none" w="med" len="med"/>
                    </a:lnB>
                    <a:solidFill>
                      <a:srgbClr val="0C2822"/>
                    </a:solidFill>
                  </a:tcPr>
                </a:tc>
              </a:tr>
              <a:tr h="548640">
                <a:tc>
                  <a:txBody>
                    <a:bodyPr/>
                    <a:lstStyle/>
                    <a:p>
                      <a:pPr algn="l" indent="0" marL="0">
                        <a:buNone/>
                      </a:pPr>
                      <a:r>
                        <a:rPr lang="en-US" sz="1100" b="1" dirty="0">
                          <a:solidFill>
                            <a:srgbClr val="FFFFFF"/>
                          </a:solidFill>
                          <a:latin typeface="Segoe UI" pitchFamily="34" charset="0"/>
                          <a:ea typeface="Segoe UI" pitchFamily="34" charset="-122"/>
                          <a:cs typeface="Segoe UI" pitchFamily="34" charset="-120"/>
                        </a:rPr>
                        <a:t>Imunidade a Ruídos de Pedestres</a:t>
                      </a:r>
                      <a:endParaRPr lang="en-US" sz="1100" dirty="0">
                        <a:latin typeface="Segoe UI" charset="0"/>
                        <a:ea typeface="Segoe UI" charset="0"/>
                        <a:cs typeface="Segoe UI" charset="0"/>
                      </a:endParaRPr>
                    </a:p>
                  </a:txBody>
                  <a:tcPr marL="91440" marR="91440" marT="45720" marB="45720" anchor="ctr">
                    <a:lnL w="12700" cap="flat" cmpd="sng" algn="ctr">
                      <a:solidFill>
                        <a:srgbClr val="1F2D48"/>
                      </a:solidFill>
                      <a:prstDash val="solid"/>
                      <a:round/>
                      <a:headEnd type="none" w="med" len="med"/>
                      <a:tailEnd type="none" w="med" len="med"/>
                    </a:lnL>
                    <a:lnR w="12700" cap="flat" cmpd="sng" algn="ctr">
                      <a:solidFill>
                        <a:srgbClr val="1F2D48"/>
                      </a:solidFill>
                      <a:prstDash val="solid"/>
                      <a:round/>
                      <a:headEnd type="none" w="med" len="med"/>
                      <a:tailEnd type="none" w="med" len="med"/>
                    </a:lnR>
                    <a:lnT w="12700" cap="flat" cmpd="sng" algn="ctr">
                      <a:solidFill>
                        <a:srgbClr val="1F2D48"/>
                      </a:solidFill>
                      <a:prstDash val="solid"/>
                      <a:round/>
                      <a:headEnd type="none" w="med" len="med"/>
                      <a:tailEnd type="none" w="med" len="med"/>
                    </a:lnT>
                    <a:lnB w="12700" cap="flat" cmpd="sng" algn="ctr">
                      <a:solidFill>
                        <a:srgbClr val="1F2D48"/>
                      </a:solidFill>
                      <a:prstDash val="solid"/>
                      <a:round/>
                      <a:headEnd type="none" w="med" len="med"/>
                      <a:tailEnd type="none" w="med" len="med"/>
                    </a:lnB>
                    <a:solidFill>
                      <a:srgbClr val="0F172A"/>
                    </a:solidFill>
                  </a:tcPr>
                </a:tc>
                <a:tc>
                  <a:txBody>
                    <a:bodyPr/>
                    <a:lstStyle/>
                    <a:p>
                      <a:pPr algn="l" indent="0" marL="0">
                        <a:buNone/>
                      </a:pPr>
                      <a:r>
                        <a:rPr lang="en-US" sz="1100" dirty="0">
                          <a:solidFill>
                            <a:srgbClr val="CBD5E1"/>
                          </a:solidFill>
                          <a:latin typeface="Segoe UI" pitchFamily="34" charset="0"/>
                          <a:ea typeface="Segoe UI" pitchFamily="34" charset="-122"/>
                          <a:cs typeface="Segoe UI" pitchFamily="34" charset="-120"/>
                        </a:rPr>
                        <a:t>Total</a:t>
                      </a:r>
                      <a:endParaRPr lang="en-US" sz="1100" dirty="0">
                        <a:latin typeface="Segoe UI" charset="0"/>
                        <a:ea typeface="Segoe UI" charset="0"/>
                        <a:cs typeface="Segoe UI" charset="0"/>
                      </a:endParaRPr>
                    </a:p>
                  </a:txBody>
                  <a:tcPr marL="91440" marR="91440" marT="45720" marB="45720" anchor="ctr">
                    <a:lnL w="12700" cap="flat" cmpd="sng" algn="ctr">
                      <a:solidFill>
                        <a:srgbClr val="1F2D48"/>
                      </a:solidFill>
                      <a:prstDash val="solid"/>
                      <a:round/>
                      <a:headEnd type="none" w="med" len="med"/>
                      <a:tailEnd type="none" w="med" len="med"/>
                    </a:lnL>
                    <a:lnR w="12700" cap="flat" cmpd="sng" algn="ctr">
                      <a:solidFill>
                        <a:srgbClr val="1F2D48"/>
                      </a:solidFill>
                      <a:prstDash val="solid"/>
                      <a:round/>
                      <a:headEnd type="none" w="med" len="med"/>
                      <a:tailEnd type="none" w="med" len="med"/>
                    </a:lnR>
                    <a:lnT w="12700" cap="flat" cmpd="sng" algn="ctr">
                      <a:solidFill>
                        <a:srgbClr val="1F2D48"/>
                      </a:solidFill>
                      <a:prstDash val="solid"/>
                      <a:round/>
                      <a:headEnd type="none" w="med" len="med"/>
                      <a:tailEnd type="none" w="med" len="med"/>
                    </a:lnT>
                    <a:lnB w="12700" cap="flat" cmpd="sng" algn="ctr">
                      <a:solidFill>
                        <a:srgbClr val="1F2D48"/>
                      </a:solidFill>
                      <a:prstDash val="solid"/>
                      <a:round/>
                      <a:headEnd type="none" w="med" len="med"/>
                      <a:tailEnd type="none" w="med" len="med"/>
                    </a:lnB>
                    <a:solidFill>
                      <a:srgbClr val="0F172A"/>
                    </a:solidFill>
                  </a:tcPr>
                </a:tc>
                <a:tc>
                  <a:txBody>
                    <a:bodyPr/>
                    <a:lstStyle/>
                    <a:p>
                      <a:pPr algn="l" indent="0" marL="0">
                        <a:buNone/>
                      </a:pPr>
                      <a:r>
                        <a:rPr lang="en-US" sz="1100" dirty="0">
                          <a:solidFill>
                            <a:srgbClr val="FB7185"/>
                          </a:solidFill>
                          <a:latin typeface="Segoe UI" pitchFamily="34" charset="0"/>
                          <a:ea typeface="Segoe UI" pitchFamily="34" charset="-122"/>
                          <a:cs typeface="Segoe UI" pitchFamily="34" charset="-120"/>
                        </a:rPr>
                        <a:t>Vulnerável (Confunde pedestre)</a:t>
                      </a:r>
                      <a:endParaRPr lang="en-US" sz="1100" dirty="0">
                        <a:latin typeface="Segoe UI" charset="0"/>
                        <a:ea typeface="Segoe UI" charset="0"/>
                        <a:cs typeface="Segoe UI" charset="0"/>
                      </a:endParaRPr>
                    </a:p>
                  </a:txBody>
                  <a:tcPr marL="91440" marR="91440" marT="45720" marB="45720" anchor="ctr">
                    <a:lnL w="12700" cap="flat" cmpd="sng" algn="ctr">
                      <a:solidFill>
                        <a:srgbClr val="1F2D48"/>
                      </a:solidFill>
                      <a:prstDash val="solid"/>
                      <a:round/>
                      <a:headEnd type="none" w="med" len="med"/>
                      <a:tailEnd type="none" w="med" len="med"/>
                    </a:lnL>
                    <a:lnR w="12700" cap="flat" cmpd="sng" algn="ctr">
                      <a:solidFill>
                        <a:srgbClr val="1F2D48"/>
                      </a:solidFill>
                      <a:prstDash val="solid"/>
                      <a:round/>
                      <a:headEnd type="none" w="med" len="med"/>
                      <a:tailEnd type="none" w="med" len="med"/>
                    </a:lnR>
                    <a:lnT w="12700" cap="flat" cmpd="sng" algn="ctr">
                      <a:solidFill>
                        <a:srgbClr val="1F2D48"/>
                      </a:solidFill>
                      <a:prstDash val="solid"/>
                      <a:round/>
                      <a:headEnd type="none" w="med" len="med"/>
                      <a:tailEnd type="none" w="med" len="med"/>
                    </a:lnT>
                    <a:lnB w="12700" cap="flat" cmpd="sng" algn="ctr">
                      <a:solidFill>
                        <a:srgbClr val="1F2D48"/>
                      </a:solidFill>
                      <a:prstDash val="solid"/>
                      <a:round/>
                      <a:headEnd type="none" w="med" len="med"/>
                      <a:tailEnd type="none" w="med" len="med"/>
                    </a:lnB>
                    <a:solidFill>
                      <a:srgbClr val="0F172A"/>
                    </a:solidFill>
                  </a:tcPr>
                </a:tc>
                <a:tc>
                  <a:txBody>
                    <a:bodyPr/>
                    <a:lstStyle/>
                    <a:p>
                      <a:pPr algn="l" indent="0" marL="0">
                        <a:buNone/>
                      </a:pPr>
                      <a:r>
                        <a:rPr lang="en-US" sz="1100" b="1" dirty="0">
                          <a:solidFill>
                            <a:srgbClr val="34D399"/>
                          </a:solidFill>
                          <a:latin typeface="Segoe UI" pitchFamily="34" charset="0"/>
                          <a:ea typeface="Segoe UI" pitchFamily="34" charset="-122"/>
                          <a:cs typeface="Segoe UI" pitchFamily="34" charset="-120"/>
                        </a:rPr>
                        <a:t>Total (Autenticação Rádio BLE)</a:t>
                      </a:r>
                      <a:endParaRPr lang="en-US" sz="1100" dirty="0">
                        <a:latin typeface="Segoe UI" charset="0"/>
                        <a:ea typeface="Segoe UI" charset="0"/>
                        <a:cs typeface="Segoe UI" charset="0"/>
                      </a:endParaRPr>
                    </a:p>
                  </a:txBody>
                  <a:tcPr marL="91440" marR="91440" marT="45720" marB="45720" anchor="ctr">
                    <a:lnL w="12700" cap="flat" cmpd="sng" algn="ctr">
                      <a:solidFill>
                        <a:srgbClr val="1F2D48"/>
                      </a:solidFill>
                      <a:prstDash val="solid"/>
                      <a:round/>
                      <a:headEnd type="none" w="med" len="med"/>
                      <a:tailEnd type="none" w="med" len="med"/>
                    </a:lnL>
                    <a:lnR w="12700" cap="flat" cmpd="sng" algn="ctr">
                      <a:solidFill>
                        <a:srgbClr val="1F2D48"/>
                      </a:solidFill>
                      <a:prstDash val="solid"/>
                      <a:round/>
                      <a:headEnd type="none" w="med" len="med"/>
                      <a:tailEnd type="none" w="med" len="med"/>
                    </a:lnR>
                    <a:lnT w="12700" cap="flat" cmpd="sng" algn="ctr">
                      <a:solidFill>
                        <a:srgbClr val="1F2D48"/>
                      </a:solidFill>
                      <a:prstDash val="solid"/>
                      <a:round/>
                      <a:headEnd type="none" w="med" len="med"/>
                      <a:tailEnd type="none" w="med" len="med"/>
                    </a:lnT>
                    <a:lnB w="12700" cap="flat" cmpd="sng" algn="ctr">
                      <a:solidFill>
                        <a:srgbClr val="1F2D48"/>
                      </a:solidFill>
                      <a:prstDash val="solid"/>
                      <a:round/>
                      <a:headEnd type="none" w="med" len="med"/>
                      <a:tailEnd type="none" w="med" len="med"/>
                    </a:lnB>
                    <a:solidFill>
                      <a:srgbClr val="0C2822"/>
                    </a:solidFill>
                  </a:tcPr>
                </a:tc>
              </a:tr>
              <a:tr h="548640">
                <a:tc>
                  <a:txBody>
                    <a:bodyPr/>
                    <a:lstStyle/>
                    <a:p>
                      <a:pPr algn="l" indent="0" marL="0">
                        <a:buNone/>
                      </a:pPr>
                      <a:r>
                        <a:rPr lang="en-US" sz="1100" b="1" dirty="0">
                          <a:solidFill>
                            <a:srgbClr val="FFFFFF"/>
                          </a:solidFill>
                          <a:latin typeface="Segoe UI" pitchFamily="34" charset="0"/>
                          <a:ea typeface="Segoe UI" pitchFamily="34" charset="-122"/>
                          <a:cs typeface="Segoe UI" pitchFamily="34" charset="-120"/>
                        </a:rPr>
                        <a:t>Resistência a GPS Spoofing</a:t>
                      </a:r>
                      <a:endParaRPr lang="en-US" sz="1100" dirty="0">
                        <a:latin typeface="Segoe UI" charset="0"/>
                        <a:ea typeface="Segoe UI" charset="0"/>
                        <a:cs typeface="Segoe UI" charset="0"/>
                      </a:endParaRPr>
                    </a:p>
                  </a:txBody>
                  <a:tcPr marL="91440" marR="91440" marT="45720" marB="45720" anchor="ctr">
                    <a:lnL w="12700" cap="flat" cmpd="sng" algn="ctr">
                      <a:solidFill>
                        <a:srgbClr val="1F2D48"/>
                      </a:solidFill>
                      <a:prstDash val="solid"/>
                      <a:round/>
                      <a:headEnd type="none" w="med" len="med"/>
                      <a:tailEnd type="none" w="med" len="med"/>
                    </a:lnL>
                    <a:lnR w="12700" cap="flat" cmpd="sng" algn="ctr">
                      <a:solidFill>
                        <a:srgbClr val="1F2D48"/>
                      </a:solidFill>
                      <a:prstDash val="solid"/>
                      <a:round/>
                      <a:headEnd type="none" w="med" len="med"/>
                      <a:tailEnd type="none" w="med" len="med"/>
                    </a:lnR>
                    <a:lnT w="12700" cap="flat" cmpd="sng" algn="ctr">
                      <a:solidFill>
                        <a:srgbClr val="1F2D48"/>
                      </a:solidFill>
                      <a:prstDash val="solid"/>
                      <a:round/>
                      <a:headEnd type="none" w="med" len="med"/>
                      <a:tailEnd type="none" w="med" len="med"/>
                    </a:lnT>
                    <a:lnB w="12700" cap="flat" cmpd="sng" algn="ctr">
                      <a:solidFill>
                        <a:srgbClr val="1F2D48"/>
                      </a:solidFill>
                      <a:prstDash val="solid"/>
                      <a:round/>
                      <a:headEnd type="none" w="med" len="med"/>
                      <a:tailEnd type="none" w="med" len="med"/>
                    </a:lnB>
                    <a:solidFill>
                      <a:srgbClr val="0F172A"/>
                    </a:solidFill>
                  </a:tcPr>
                </a:tc>
                <a:tc>
                  <a:txBody>
                    <a:bodyPr/>
                    <a:lstStyle/>
                    <a:p>
                      <a:pPr algn="l" indent="0" marL="0">
                        <a:buNone/>
                      </a:pPr>
                      <a:r>
                        <a:rPr lang="en-US" sz="1100" dirty="0">
                          <a:solidFill>
                            <a:srgbClr val="CBD5E1"/>
                          </a:solidFill>
                          <a:latin typeface="Segoe UI" pitchFamily="34" charset="0"/>
                          <a:ea typeface="Segoe UI" pitchFamily="34" charset="-122"/>
                          <a:cs typeface="Segoe UI" pitchFamily="34" charset="-120"/>
                        </a:rPr>
                        <a:t>Alta</a:t>
                      </a:r>
                      <a:endParaRPr lang="en-US" sz="1100" dirty="0">
                        <a:latin typeface="Segoe UI" charset="0"/>
                        <a:ea typeface="Segoe UI" charset="0"/>
                        <a:cs typeface="Segoe UI" charset="0"/>
                      </a:endParaRPr>
                    </a:p>
                  </a:txBody>
                  <a:tcPr marL="91440" marR="91440" marT="45720" marB="45720" anchor="ctr">
                    <a:lnL w="12700" cap="flat" cmpd="sng" algn="ctr">
                      <a:solidFill>
                        <a:srgbClr val="1F2D48"/>
                      </a:solidFill>
                      <a:prstDash val="solid"/>
                      <a:round/>
                      <a:headEnd type="none" w="med" len="med"/>
                      <a:tailEnd type="none" w="med" len="med"/>
                    </a:lnL>
                    <a:lnR w="12700" cap="flat" cmpd="sng" algn="ctr">
                      <a:solidFill>
                        <a:srgbClr val="1F2D48"/>
                      </a:solidFill>
                      <a:prstDash val="solid"/>
                      <a:round/>
                      <a:headEnd type="none" w="med" len="med"/>
                      <a:tailEnd type="none" w="med" len="med"/>
                    </a:lnR>
                    <a:lnT w="12700" cap="flat" cmpd="sng" algn="ctr">
                      <a:solidFill>
                        <a:srgbClr val="1F2D48"/>
                      </a:solidFill>
                      <a:prstDash val="solid"/>
                      <a:round/>
                      <a:headEnd type="none" w="med" len="med"/>
                      <a:tailEnd type="none" w="med" len="med"/>
                    </a:lnT>
                    <a:lnB w="12700" cap="flat" cmpd="sng" algn="ctr">
                      <a:solidFill>
                        <a:srgbClr val="1F2D48"/>
                      </a:solidFill>
                      <a:prstDash val="solid"/>
                      <a:round/>
                      <a:headEnd type="none" w="med" len="med"/>
                      <a:tailEnd type="none" w="med" len="med"/>
                    </a:lnB>
                    <a:solidFill>
                      <a:srgbClr val="0F172A"/>
                    </a:solidFill>
                  </a:tcPr>
                </a:tc>
                <a:tc>
                  <a:txBody>
                    <a:bodyPr/>
                    <a:lstStyle/>
                    <a:p>
                      <a:pPr algn="l" indent="0" marL="0">
                        <a:buNone/>
                      </a:pPr>
                      <a:r>
                        <a:rPr lang="en-US" sz="1100" dirty="0">
                          <a:solidFill>
                            <a:srgbClr val="FB7185"/>
                          </a:solidFill>
                          <a:latin typeface="Segoe UI" pitchFamily="34" charset="0"/>
                          <a:ea typeface="Segoe UI" pitchFamily="34" charset="-122"/>
                          <a:cs typeface="Segoe UI" pitchFamily="34" charset="-120"/>
                        </a:rPr>
                        <a:t>Baixa (Injeção de coordenadas)</a:t>
                      </a:r>
                      <a:endParaRPr lang="en-US" sz="1100" dirty="0">
                        <a:latin typeface="Segoe UI" charset="0"/>
                        <a:ea typeface="Segoe UI" charset="0"/>
                        <a:cs typeface="Segoe UI" charset="0"/>
                      </a:endParaRPr>
                    </a:p>
                  </a:txBody>
                  <a:tcPr marL="91440" marR="91440" marT="45720" marB="45720" anchor="ctr">
                    <a:lnL w="12700" cap="flat" cmpd="sng" algn="ctr">
                      <a:solidFill>
                        <a:srgbClr val="1F2D48"/>
                      </a:solidFill>
                      <a:prstDash val="solid"/>
                      <a:round/>
                      <a:headEnd type="none" w="med" len="med"/>
                      <a:tailEnd type="none" w="med" len="med"/>
                    </a:lnL>
                    <a:lnR w="12700" cap="flat" cmpd="sng" algn="ctr">
                      <a:solidFill>
                        <a:srgbClr val="1F2D48"/>
                      </a:solidFill>
                      <a:prstDash val="solid"/>
                      <a:round/>
                      <a:headEnd type="none" w="med" len="med"/>
                      <a:tailEnd type="none" w="med" len="med"/>
                    </a:lnR>
                    <a:lnT w="12700" cap="flat" cmpd="sng" algn="ctr">
                      <a:solidFill>
                        <a:srgbClr val="1F2D48"/>
                      </a:solidFill>
                      <a:prstDash val="solid"/>
                      <a:round/>
                      <a:headEnd type="none" w="med" len="med"/>
                      <a:tailEnd type="none" w="med" len="med"/>
                    </a:lnT>
                    <a:lnB w="12700" cap="flat" cmpd="sng" algn="ctr">
                      <a:solidFill>
                        <a:srgbClr val="1F2D48"/>
                      </a:solidFill>
                      <a:prstDash val="solid"/>
                      <a:round/>
                      <a:headEnd type="none" w="med" len="med"/>
                      <a:tailEnd type="none" w="med" len="med"/>
                    </a:lnB>
                    <a:solidFill>
                      <a:srgbClr val="0F172A"/>
                    </a:solidFill>
                  </a:tcPr>
                </a:tc>
                <a:tc>
                  <a:txBody>
                    <a:bodyPr/>
                    <a:lstStyle/>
                    <a:p>
                      <a:pPr algn="l" indent="0" marL="0">
                        <a:buNone/>
                      </a:pPr>
                      <a:r>
                        <a:rPr lang="en-US" sz="1100" b="1" dirty="0">
                          <a:solidFill>
                            <a:srgbClr val="34D399"/>
                          </a:solidFill>
                          <a:latin typeface="Segoe UI" pitchFamily="34" charset="0"/>
                          <a:ea typeface="Segoe UI" pitchFamily="34" charset="-122"/>
                          <a:cs typeface="Segoe UI" pitchFamily="34" charset="-120"/>
                        </a:rPr>
                        <a:t>Alta (BLE + Geofencing 80m)</a:t>
                      </a:r>
                      <a:endParaRPr lang="en-US" sz="1100" dirty="0">
                        <a:latin typeface="Segoe UI" charset="0"/>
                        <a:ea typeface="Segoe UI" charset="0"/>
                        <a:cs typeface="Segoe UI" charset="0"/>
                      </a:endParaRPr>
                    </a:p>
                  </a:txBody>
                  <a:tcPr marL="91440" marR="91440" marT="45720" marB="45720" anchor="ctr">
                    <a:lnL w="12700" cap="flat" cmpd="sng" algn="ctr">
                      <a:solidFill>
                        <a:srgbClr val="1F2D48"/>
                      </a:solidFill>
                      <a:prstDash val="solid"/>
                      <a:round/>
                      <a:headEnd type="none" w="med" len="med"/>
                      <a:tailEnd type="none" w="med" len="med"/>
                    </a:lnL>
                    <a:lnR w="12700" cap="flat" cmpd="sng" algn="ctr">
                      <a:solidFill>
                        <a:srgbClr val="1F2D48"/>
                      </a:solidFill>
                      <a:prstDash val="solid"/>
                      <a:round/>
                      <a:headEnd type="none" w="med" len="med"/>
                      <a:tailEnd type="none" w="med" len="med"/>
                    </a:lnR>
                    <a:lnT w="12700" cap="flat" cmpd="sng" algn="ctr">
                      <a:solidFill>
                        <a:srgbClr val="1F2D48"/>
                      </a:solidFill>
                      <a:prstDash val="solid"/>
                      <a:round/>
                      <a:headEnd type="none" w="med" len="med"/>
                      <a:tailEnd type="none" w="med" len="med"/>
                    </a:lnT>
                    <a:lnB w="12700" cap="flat" cmpd="sng" algn="ctr">
                      <a:solidFill>
                        <a:srgbClr val="1F2D48"/>
                      </a:solidFill>
                      <a:prstDash val="solid"/>
                      <a:round/>
                      <a:headEnd type="none" w="med" len="med"/>
                      <a:tailEnd type="none" w="med" len="med"/>
                    </a:lnB>
                    <a:solidFill>
                      <a:srgbClr val="0C2822"/>
                    </a:solidFill>
                  </a:tcPr>
                </a:tc>
              </a:tr>
              <a:tr h="548640">
                <a:tc>
                  <a:txBody>
                    <a:bodyPr/>
                    <a:lstStyle/>
                    <a:p>
                      <a:pPr algn="l" indent="0" marL="0">
                        <a:buNone/>
                      </a:pPr>
                      <a:r>
                        <a:rPr lang="en-US" sz="1100" b="1" dirty="0">
                          <a:solidFill>
                            <a:srgbClr val="FFFFFF"/>
                          </a:solidFill>
                          <a:latin typeface="Segoe UI" pitchFamily="34" charset="0"/>
                          <a:ea typeface="Segoe UI" pitchFamily="34" charset="-122"/>
                          <a:cs typeface="Segoe UI" pitchFamily="34" charset="-120"/>
                        </a:rPr>
                        <a:t>Latência de Difusão ao Usuário</a:t>
                      </a:r>
                      <a:endParaRPr lang="en-US" sz="1100" dirty="0">
                        <a:latin typeface="Segoe UI" charset="0"/>
                        <a:ea typeface="Segoe UI" charset="0"/>
                        <a:cs typeface="Segoe UI" charset="0"/>
                      </a:endParaRPr>
                    </a:p>
                  </a:txBody>
                  <a:tcPr marL="91440" marR="91440" marT="45720" marB="45720" anchor="ctr">
                    <a:lnL w="12700" cap="flat" cmpd="sng" algn="ctr">
                      <a:solidFill>
                        <a:srgbClr val="1F2D48"/>
                      </a:solidFill>
                      <a:prstDash val="solid"/>
                      <a:round/>
                      <a:headEnd type="none" w="med" len="med"/>
                      <a:tailEnd type="none" w="med" len="med"/>
                    </a:lnL>
                    <a:lnR w="12700" cap="flat" cmpd="sng" algn="ctr">
                      <a:solidFill>
                        <a:srgbClr val="1F2D48"/>
                      </a:solidFill>
                      <a:prstDash val="solid"/>
                      <a:round/>
                      <a:headEnd type="none" w="med" len="med"/>
                      <a:tailEnd type="none" w="med" len="med"/>
                    </a:lnR>
                    <a:lnT w="12700" cap="flat" cmpd="sng" algn="ctr">
                      <a:solidFill>
                        <a:srgbClr val="1F2D48"/>
                      </a:solidFill>
                      <a:prstDash val="solid"/>
                      <a:round/>
                      <a:headEnd type="none" w="med" len="med"/>
                      <a:tailEnd type="none" w="med" len="med"/>
                    </a:lnT>
                    <a:lnB w="12700" cap="flat" cmpd="sng" algn="ctr">
                      <a:solidFill>
                        <a:srgbClr val="1F2D48"/>
                      </a:solidFill>
                      <a:prstDash val="solid"/>
                      <a:round/>
                      <a:headEnd type="none" w="med" len="med"/>
                      <a:tailEnd type="none" w="med" len="med"/>
                    </a:lnB>
                    <a:solidFill>
                      <a:srgbClr val="0F172A"/>
                    </a:solidFill>
                  </a:tcPr>
                </a:tc>
                <a:tc>
                  <a:txBody>
                    <a:bodyPr/>
                    <a:lstStyle/>
                    <a:p>
                      <a:pPr algn="l" indent="0" marL="0">
                        <a:buNone/>
                      </a:pPr>
                      <a:r>
                        <a:rPr lang="en-US" sz="1100" dirty="0">
                          <a:solidFill>
                            <a:srgbClr val="CBD5E1"/>
                          </a:solidFill>
                          <a:latin typeface="Segoe UI" pitchFamily="34" charset="0"/>
                          <a:ea typeface="Segoe UI" pitchFamily="34" charset="-122"/>
                          <a:cs typeface="Segoe UI" pitchFamily="34" charset="-120"/>
                        </a:rPr>
                        <a:t>5 a 15 segundos</a:t>
                      </a:r>
                      <a:endParaRPr lang="en-US" sz="1100" dirty="0">
                        <a:latin typeface="Segoe UI" charset="0"/>
                        <a:ea typeface="Segoe UI" charset="0"/>
                        <a:cs typeface="Segoe UI" charset="0"/>
                      </a:endParaRPr>
                    </a:p>
                  </a:txBody>
                  <a:tcPr marL="91440" marR="91440" marT="45720" marB="45720" anchor="ctr">
                    <a:lnL w="12700" cap="flat" cmpd="sng" algn="ctr">
                      <a:solidFill>
                        <a:srgbClr val="1F2D48"/>
                      </a:solidFill>
                      <a:prstDash val="solid"/>
                      <a:round/>
                      <a:headEnd type="none" w="med" len="med"/>
                      <a:tailEnd type="none" w="med" len="med"/>
                    </a:lnL>
                    <a:lnR w="12700" cap="flat" cmpd="sng" algn="ctr">
                      <a:solidFill>
                        <a:srgbClr val="1F2D48"/>
                      </a:solidFill>
                      <a:prstDash val="solid"/>
                      <a:round/>
                      <a:headEnd type="none" w="med" len="med"/>
                      <a:tailEnd type="none" w="med" len="med"/>
                    </a:lnR>
                    <a:lnT w="12700" cap="flat" cmpd="sng" algn="ctr">
                      <a:solidFill>
                        <a:srgbClr val="1F2D48"/>
                      </a:solidFill>
                      <a:prstDash val="solid"/>
                      <a:round/>
                      <a:headEnd type="none" w="med" len="med"/>
                      <a:tailEnd type="none" w="med" len="med"/>
                    </a:lnT>
                    <a:lnB w="12700" cap="flat" cmpd="sng" algn="ctr">
                      <a:solidFill>
                        <a:srgbClr val="1F2D48"/>
                      </a:solidFill>
                      <a:prstDash val="solid"/>
                      <a:round/>
                      <a:headEnd type="none" w="med" len="med"/>
                      <a:tailEnd type="none" w="med" len="med"/>
                    </a:lnB>
                    <a:solidFill>
                      <a:srgbClr val="0F172A"/>
                    </a:solidFill>
                  </a:tcPr>
                </a:tc>
                <a:tc>
                  <a:txBody>
                    <a:bodyPr/>
                    <a:lstStyle/>
                    <a:p>
                      <a:pPr algn="l" indent="0" marL="0">
                        <a:buNone/>
                      </a:pPr>
                      <a:r>
                        <a:rPr lang="en-US" sz="1100" dirty="0">
                          <a:solidFill>
                            <a:srgbClr val="CBD5E1"/>
                          </a:solidFill>
                          <a:latin typeface="Segoe UI" pitchFamily="34" charset="0"/>
                          <a:ea typeface="Segoe UI" pitchFamily="34" charset="-122"/>
                          <a:cs typeface="Segoe UI" pitchFamily="34" charset="-120"/>
                        </a:rPr>
                        <a:t>15 a 60 segundos</a:t>
                      </a:r>
                      <a:endParaRPr lang="en-US" sz="1100" dirty="0">
                        <a:latin typeface="Segoe UI" charset="0"/>
                        <a:ea typeface="Segoe UI" charset="0"/>
                        <a:cs typeface="Segoe UI" charset="0"/>
                      </a:endParaRPr>
                    </a:p>
                  </a:txBody>
                  <a:tcPr marL="91440" marR="91440" marT="45720" marB="45720" anchor="ctr">
                    <a:lnL w="12700" cap="flat" cmpd="sng" algn="ctr">
                      <a:solidFill>
                        <a:srgbClr val="1F2D48"/>
                      </a:solidFill>
                      <a:prstDash val="solid"/>
                      <a:round/>
                      <a:headEnd type="none" w="med" len="med"/>
                      <a:tailEnd type="none" w="med" len="med"/>
                    </a:lnL>
                    <a:lnR w="12700" cap="flat" cmpd="sng" algn="ctr">
                      <a:solidFill>
                        <a:srgbClr val="1F2D48"/>
                      </a:solidFill>
                      <a:prstDash val="solid"/>
                      <a:round/>
                      <a:headEnd type="none" w="med" len="med"/>
                      <a:tailEnd type="none" w="med" len="med"/>
                    </a:lnR>
                    <a:lnT w="12700" cap="flat" cmpd="sng" algn="ctr">
                      <a:solidFill>
                        <a:srgbClr val="1F2D48"/>
                      </a:solidFill>
                      <a:prstDash val="solid"/>
                      <a:round/>
                      <a:headEnd type="none" w="med" len="med"/>
                      <a:tailEnd type="none" w="med" len="med"/>
                    </a:lnT>
                    <a:lnB w="12700" cap="flat" cmpd="sng" algn="ctr">
                      <a:solidFill>
                        <a:srgbClr val="1F2D48"/>
                      </a:solidFill>
                      <a:prstDash val="solid"/>
                      <a:round/>
                      <a:headEnd type="none" w="med" len="med"/>
                      <a:tailEnd type="none" w="med" len="med"/>
                    </a:lnB>
                    <a:solidFill>
                      <a:srgbClr val="0F172A"/>
                    </a:solidFill>
                  </a:tcPr>
                </a:tc>
                <a:tc>
                  <a:txBody>
                    <a:bodyPr/>
                    <a:lstStyle/>
                    <a:p>
                      <a:pPr algn="l" indent="0" marL="0">
                        <a:buNone/>
                      </a:pPr>
                      <a:r>
                        <a:rPr lang="en-US" sz="1100" b="1" dirty="0">
                          <a:solidFill>
                            <a:srgbClr val="34D399"/>
                          </a:solidFill>
                          <a:latin typeface="Segoe UI" pitchFamily="34" charset="0"/>
                          <a:ea typeface="Segoe UI" pitchFamily="34" charset="-122"/>
                          <a:cs typeface="Segoe UI" pitchFamily="34" charset="-120"/>
                        </a:rPr>
                        <a:t>&lt; 350 ms (Streaming SSE)</a:t>
                      </a:r>
                      <a:endParaRPr lang="en-US" sz="1100" dirty="0">
                        <a:latin typeface="Segoe UI" charset="0"/>
                        <a:ea typeface="Segoe UI" charset="0"/>
                        <a:cs typeface="Segoe UI" charset="0"/>
                      </a:endParaRPr>
                    </a:p>
                  </a:txBody>
                  <a:tcPr marL="91440" marR="91440" marT="45720" marB="45720" anchor="ctr">
                    <a:lnL w="12700" cap="flat" cmpd="sng" algn="ctr">
                      <a:solidFill>
                        <a:srgbClr val="1F2D48"/>
                      </a:solidFill>
                      <a:prstDash val="solid"/>
                      <a:round/>
                      <a:headEnd type="none" w="med" len="med"/>
                      <a:tailEnd type="none" w="med" len="med"/>
                    </a:lnL>
                    <a:lnR w="12700" cap="flat" cmpd="sng" algn="ctr">
                      <a:solidFill>
                        <a:srgbClr val="1F2D48"/>
                      </a:solidFill>
                      <a:prstDash val="solid"/>
                      <a:round/>
                      <a:headEnd type="none" w="med" len="med"/>
                      <a:tailEnd type="none" w="med" len="med"/>
                    </a:lnR>
                    <a:lnT w="12700" cap="flat" cmpd="sng" algn="ctr">
                      <a:solidFill>
                        <a:srgbClr val="1F2D48"/>
                      </a:solidFill>
                      <a:prstDash val="solid"/>
                      <a:round/>
                      <a:headEnd type="none" w="med" len="med"/>
                      <a:tailEnd type="none" w="med" len="med"/>
                    </a:lnT>
                    <a:lnB w="12700" cap="flat" cmpd="sng" algn="ctr">
                      <a:solidFill>
                        <a:srgbClr val="1F2D48"/>
                      </a:solidFill>
                      <a:prstDash val="solid"/>
                      <a:round/>
                      <a:headEnd type="none" w="med" len="med"/>
                      <a:tailEnd type="none" w="med" len="med"/>
                    </a:lnB>
                    <a:solidFill>
                      <a:srgbClr val="0C2822"/>
                    </a:solidFill>
                  </a:tcPr>
                </a:tc>
              </a:tr>
              <a:tr h="548640">
                <a:tc>
                  <a:txBody>
                    <a:bodyPr/>
                    <a:lstStyle/>
                    <a:p>
                      <a:pPr algn="l" indent="0" marL="0">
                        <a:buNone/>
                      </a:pPr>
                      <a:r>
                        <a:rPr lang="en-US" sz="1100" b="1" dirty="0">
                          <a:solidFill>
                            <a:srgbClr val="FFFFFF"/>
                          </a:solidFill>
                          <a:latin typeface="Segoe UI" pitchFamily="34" charset="0"/>
                          <a:ea typeface="Segoe UI" pitchFamily="34" charset="-122"/>
                          <a:cs typeface="Segoe UI" pitchFamily="34" charset="-120"/>
                        </a:rPr>
                        <a:t>Instalação Física no Veículo</a:t>
                      </a:r>
                      <a:endParaRPr lang="en-US" sz="1100" dirty="0">
                        <a:latin typeface="Segoe UI" charset="0"/>
                        <a:ea typeface="Segoe UI" charset="0"/>
                        <a:cs typeface="Segoe UI" charset="0"/>
                      </a:endParaRPr>
                    </a:p>
                  </a:txBody>
                  <a:tcPr marL="91440" marR="91440" marT="45720" marB="45720" anchor="ctr">
                    <a:lnL w="12700" cap="flat" cmpd="sng" algn="ctr">
                      <a:solidFill>
                        <a:srgbClr val="1F2D48"/>
                      </a:solidFill>
                      <a:prstDash val="solid"/>
                      <a:round/>
                      <a:headEnd type="none" w="med" len="med"/>
                      <a:tailEnd type="none" w="med" len="med"/>
                    </a:lnL>
                    <a:lnR w="12700" cap="flat" cmpd="sng" algn="ctr">
                      <a:solidFill>
                        <a:srgbClr val="1F2D48"/>
                      </a:solidFill>
                      <a:prstDash val="solid"/>
                      <a:round/>
                      <a:headEnd type="none" w="med" len="med"/>
                      <a:tailEnd type="none" w="med" len="med"/>
                    </a:lnR>
                    <a:lnT w="12700" cap="flat" cmpd="sng" algn="ctr">
                      <a:solidFill>
                        <a:srgbClr val="1F2D48"/>
                      </a:solidFill>
                      <a:prstDash val="solid"/>
                      <a:round/>
                      <a:headEnd type="none" w="med" len="med"/>
                      <a:tailEnd type="none" w="med" len="med"/>
                    </a:lnT>
                    <a:lnB w="12700" cap="flat" cmpd="sng" algn="ctr">
                      <a:solidFill>
                        <a:srgbClr val="1F2D48"/>
                      </a:solidFill>
                      <a:prstDash val="solid"/>
                      <a:round/>
                      <a:headEnd type="none" w="med" len="med"/>
                      <a:tailEnd type="none" w="med" len="med"/>
                    </a:lnB>
                    <a:solidFill>
                      <a:srgbClr val="0F172A"/>
                    </a:solidFill>
                  </a:tcPr>
                </a:tc>
                <a:tc>
                  <a:txBody>
                    <a:bodyPr/>
                    <a:lstStyle/>
                    <a:p>
                      <a:pPr algn="l" indent="0" marL="0">
                        <a:buNone/>
                      </a:pPr>
                      <a:r>
                        <a:rPr lang="en-US" sz="1100" dirty="0">
                          <a:solidFill>
                            <a:srgbClr val="FB7185"/>
                          </a:solidFill>
                          <a:latin typeface="Segoe UI" pitchFamily="34" charset="0"/>
                          <a:ea typeface="Segoe UI" pitchFamily="34" charset="-122"/>
                          <a:cs typeface="Segoe UI" pitchFamily="34" charset="-120"/>
                        </a:rPr>
                        <a:t>Invasiva (Chicote / CAN)</a:t>
                      </a:r>
                      <a:endParaRPr lang="en-US" sz="1100" dirty="0">
                        <a:latin typeface="Segoe UI" charset="0"/>
                        <a:ea typeface="Segoe UI" charset="0"/>
                        <a:cs typeface="Segoe UI" charset="0"/>
                      </a:endParaRPr>
                    </a:p>
                  </a:txBody>
                  <a:tcPr marL="91440" marR="91440" marT="45720" marB="45720" anchor="ctr">
                    <a:lnL w="12700" cap="flat" cmpd="sng" algn="ctr">
                      <a:solidFill>
                        <a:srgbClr val="1F2D48"/>
                      </a:solidFill>
                      <a:prstDash val="solid"/>
                      <a:round/>
                      <a:headEnd type="none" w="med" len="med"/>
                      <a:tailEnd type="none" w="med" len="med"/>
                    </a:lnL>
                    <a:lnR w="12700" cap="flat" cmpd="sng" algn="ctr">
                      <a:solidFill>
                        <a:srgbClr val="1F2D48"/>
                      </a:solidFill>
                      <a:prstDash val="solid"/>
                      <a:round/>
                      <a:headEnd type="none" w="med" len="med"/>
                      <a:tailEnd type="none" w="med" len="med"/>
                    </a:lnR>
                    <a:lnT w="12700" cap="flat" cmpd="sng" algn="ctr">
                      <a:solidFill>
                        <a:srgbClr val="1F2D48"/>
                      </a:solidFill>
                      <a:prstDash val="solid"/>
                      <a:round/>
                      <a:headEnd type="none" w="med" len="med"/>
                      <a:tailEnd type="none" w="med" len="med"/>
                    </a:lnT>
                    <a:lnB w="12700" cap="flat" cmpd="sng" algn="ctr">
                      <a:solidFill>
                        <a:srgbClr val="1F2D48"/>
                      </a:solidFill>
                      <a:prstDash val="solid"/>
                      <a:round/>
                      <a:headEnd type="none" w="med" len="med"/>
                      <a:tailEnd type="none" w="med" len="med"/>
                    </a:lnB>
                    <a:solidFill>
                      <a:srgbClr val="0F172A"/>
                    </a:solidFill>
                  </a:tcPr>
                </a:tc>
                <a:tc>
                  <a:txBody>
                    <a:bodyPr/>
                    <a:lstStyle/>
                    <a:p>
                      <a:pPr algn="l" indent="0" marL="0">
                        <a:buNone/>
                      </a:pPr>
                      <a:r>
                        <a:rPr lang="en-US" sz="1100" dirty="0">
                          <a:solidFill>
                            <a:srgbClr val="CBD5E1"/>
                          </a:solidFill>
                          <a:latin typeface="Segoe UI" pitchFamily="34" charset="0"/>
                          <a:ea typeface="Segoe UI" pitchFamily="34" charset="-122"/>
                          <a:cs typeface="Segoe UI" pitchFamily="34" charset="-120"/>
                        </a:rPr>
                        <a:t>Nenhuma</a:t>
                      </a:r>
                      <a:endParaRPr lang="en-US" sz="1100" dirty="0">
                        <a:latin typeface="Segoe UI" charset="0"/>
                        <a:ea typeface="Segoe UI" charset="0"/>
                        <a:cs typeface="Segoe UI" charset="0"/>
                      </a:endParaRPr>
                    </a:p>
                  </a:txBody>
                  <a:tcPr marL="91440" marR="91440" marT="45720" marB="45720" anchor="ctr">
                    <a:lnL w="12700" cap="flat" cmpd="sng" algn="ctr">
                      <a:solidFill>
                        <a:srgbClr val="1F2D48"/>
                      </a:solidFill>
                      <a:prstDash val="solid"/>
                      <a:round/>
                      <a:headEnd type="none" w="med" len="med"/>
                      <a:tailEnd type="none" w="med" len="med"/>
                    </a:lnL>
                    <a:lnR w="12700" cap="flat" cmpd="sng" algn="ctr">
                      <a:solidFill>
                        <a:srgbClr val="1F2D48"/>
                      </a:solidFill>
                      <a:prstDash val="solid"/>
                      <a:round/>
                      <a:headEnd type="none" w="med" len="med"/>
                      <a:tailEnd type="none" w="med" len="med"/>
                    </a:lnR>
                    <a:lnT w="12700" cap="flat" cmpd="sng" algn="ctr">
                      <a:solidFill>
                        <a:srgbClr val="1F2D48"/>
                      </a:solidFill>
                      <a:prstDash val="solid"/>
                      <a:round/>
                      <a:headEnd type="none" w="med" len="med"/>
                      <a:tailEnd type="none" w="med" len="med"/>
                    </a:lnT>
                    <a:lnB w="12700" cap="flat" cmpd="sng" algn="ctr">
                      <a:solidFill>
                        <a:srgbClr val="1F2D48"/>
                      </a:solidFill>
                      <a:prstDash val="solid"/>
                      <a:round/>
                      <a:headEnd type="none" w="med" len="med"/>
                      <a:tailEnd type="none" w="med" len="med"/>
                    </a:lnB>
                    <a:solidFill>
                      <a:srgbClr val="0F172A"/>
                    </a:solidFill>
                  </a:tcPr>
                </a:tc>
                <a:tc>
                  <a:txBody>
                    <a:bodyPr/>
                    <a:lstStyle/>
                    <a:p>
                      <a:pPr algn="l" indent="0" marL="0">
                        <a:buNone/>
                      </a:pPr>
                      <a:r>
                        <a:rPr lang="en-US" sz="1100" b="1" dirty="0">
                          <a:solidFill>
                            <a:srgbClr val="34D399"/>
                          </a:solidFill>
                          <a:latin typeface="Segoe UI" pitchFamily="34" charset="0"/>
                          <a:ea typeface="Segoe UI" pitchFamily="34" charset="-122"/>
                          <a:cs typeface="Segoe UI" pitchFamily="34" charset="-120"/>
                        </a:rPr>
                        <a:t>Plug &amp; Play (USB 5V do painel)</a:t>
                      </a:r>
                      <a:endParaRPr lang="en-US" sz="1100" dirty="0">
                        <a:latin typeface="Segoe UI" charset="0"/>
                        <a:ea typeface="Segoe UI" charset="0"/>
                        <a:cs typeface="Segoe UI" charset="0"/>
                      </a:endParaRPr>
                    </a:p>
                  </a:txBody>
                  <a:tcPr marL="91440" marR="91440" marT="45720" marB="45720" anchor="ctr">
                    <a:lnL w="12700" cap="flat" cmpd="sng" algn="ctr">
                      <a:solidFill>
                        <a:srgbClr val="1F2D48"/>
                      </a:solidFill>
                      <a:prstDash val="solid"/>
                      <a:round/>
                      <a:headEnd type="none" w="med" len="med"/>
                      <a:tailEnd type="none" w="med" len="med"/>
                    </a:lnL>
                    <a:lnR w="12700" cap="flat" cmpd="sng" algn="ctr">
                      <a:solidFill>
                        <a:srgbClr val="1F2D48"/>
                      </a:solidFill>
                      <a:prstDash val="solid"/>
                      <a:round/>
                      <a:headEnd type="none" w="med" len="med"/>
                      <a:tailEnd type="none" w="med" len="med"/>
                    </a:lnR>
                    <a:lnT w="12700" cap="flat" cmpd="sng" algn="ctr">
                      <a:solidFill>
                        <a:srgbClr val="1F2D48"/>
                      </a:solidFill>
                      <a:prstDash val="solid"/>
                      <a:round/>
                      <a:headEnd type="none" w="med" len="med"/>
                      <a:tailEnd type="none" w="med" len="med"/>
                    </a:lnT>
                    <a:lnB w="12700" cap="flat" cmpd="sng" algn="ctr">
                      <a:solidFill>
                        <a:srgbClr val="1F2D48"/>
                      </a:solidFill>
                      <a:prstDash val="solid"/>
                      <a:round/>
                      <a:headEnd type="none" w="med" len="med"/>
                      <a:tailEnd type="none" w="med" len="med"/>
                    </a:lnB>
                    <a:solidFill>
                      <a:srgbClr val="0C2822"/>
                    </a:solidFill>
                  </a:tcPr>
                </a:tc>
              </a:tr>
            </a:tbl>
          </a:graphicData>
        </a:graphic>
      </p:graphicFrame>
      <p:sp>
        <p:nvSpPr>
          <p:cNvPr id="7" name="Text 4"/>
          <p:cNvSpPr/>
          <p:nvPr/>
        </p:nvSpPr>
        <p:spPr>
          <a:xfrm>
            <a:off x="731520" y="5760720"/>
            <a:ext cx="10698480" cy="457200"/>
          </a:xfrm>
          <a:prstGeom prst="rect">
            <a:avLst/>
          </a:prstGeom>
          <a:noFill/>
          <a:ln/>
        </p:spPr>
        <p:txBody>
          <a:bodyPr wrap="square" rtlCol="0" anchor="ctr"/>
          <a:lstStyle/>
          <a:p>
            <a:pPr algn="ctr" indent="0" marL="0">
              <a:buNone/>
            </a:pPr>
            <a:r>
              <a:rPr lang="en-US" sz="1200" b="1" dirty="0">
                <a:solidFill>
                  <a:srgbClr val="38BDF8"/>
                </a:solidFill>
                <a:latin typeface="Segoe UI" pitchFamily="34" charset="0"/>
                <a:ea typeface="Segoe UI" pitchFamily="34" charset="-122"/>
                <a:cs typeface="Segoe UI" pitchFamily="34" charset="-120"/>
              </a:rPr>
              <a:t>🎯 O LocBUS preenche a lacuna exata: custo de conectividade zero com a confiabilidade determinística de um rastreador embarcado.</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B14"/>
        </a:solidFill>
      </p:bgPr>
    </p:bg>
    <p:spTree>
      <p:nvGrpSpPr>
        <p:cNvPr id="1" name=""/>
        <p:cNvGrpSpPr/>
        <p:nvPr/>
      </p:nvGrpSpPr>
      <p:grpSpPr>
        <a:xfrm>
          <a:off x="0" y="0"/>
          <a:ext cx="0" cy="0"/>
          <a:chOff x="0" y="0"/>
          <a:chExt cx="0" cy="0"/>
        </a:xfrm>
      </p:grpSpPr>
      <p:sp>
        <p:nvSpPr>
          <p:cNvPr id="2" name="Text 0"/>
          <p:cNvSpPr/>
          <p:nvPr/>
        </p:nvSpPr>
        <p:spPr>
          <a:xfrm>
            <a:off x="731520" y="365760"/>
            <a:ext cx="4114800" cy="292608"/>
          </a:xfrm>
          <a:prstGeom prst="rect">
            <a:avLst/>
          </a:prstGeom>
          <a:solidFill>
            <a:srgbClr val="0E2238"/>
          </a:solidFill>
          <a:ln/>
        </p:spPr>
        <p:txBody>
          <a:bodyPr wrap="square" lIns="0" tIns="101600" rIns="101600" bIns="0" rtlCol="0" anchor="ctr"/>
          <a:lstStyle/>
          <a:p>
            <a:pPr algn="l" indent="0" marL="0">
              <a:buNone/>
            </a:pPr>
            <a:r>
              <a:rPr lang="en-US" sz="1000" b="1" dirty="0">
                <a:solidFill>
                  <a:srgbClr val="38BDF8"/>
                </a:solidFill>
                <a:latin typeface="Segoe UI" pitchFamily="34" charset="0"/>
                <a:ea typeface="Segoe UI" pitchFamily="34" charset="-122"/>
                <a:cs typeface="Segoe UI" pitchFamily="34" charset="-120"/>
              </a:rPr>
              <a:t>A SOLUÇÃO PROPOSTA</a:t>
            </a:r>
            <a:endParaRPr lang="en-US" sz="1000" dirty="0"/>
          </a:p>
        </p:txBody>
      </p:sp>
      <p:sp>
        <p:nvSpPr>
          <p:cNvPr id="3" name="Text 1"/>
          <p:cNvSpPr/>
          <p:nvPr/>
        </p:nvSpPr>
        <p:spPr>
          <a:xfrm>
            <a:off x="7772400" y="365760"/>
            <a:ext cx="3657600" cy="292608"/>
          </a:xfrm>
          <a:prstGeom prst="rect">
            <a:avLst/>
          </a:prstGeom>
          <a:noFill/>
          <a:ln/>
        </p:spPr>
        <p:txBody>
          <a:bodyPr wrap="square" rtlCol="0" anchor="ctr"/>
          <a:lstStyle/>
          <a:p>
            <a:pPr algn="r" indent="0" marL="0">
              <a:buNone/>
            </a:pPr>
            <a:r>
              <a:rPr lang="en-US" sz="1000" dirty="0">
                <a:solidFill>
                  <a:srgbClr val="94A3B8"/>
                </a:solidFill>
                <a:latin typeface="Consolas" pitchFamily="34" charset="0"/>
                <a:ea typeface="Consolas" pitchFamily="34" charset="-122"/>
                <a:cs typeface="Consolas" pitchFamily="34" charset="-120"/>
              </a:rPr>
              <a:t>⏱️ 08:00 - 09:30 (1m30s)</a:t>
            </a:r>
            <a:endParaRPr lang="en-US" sz="1000" dirty="0"/>
          </a:p>
        </p:txBody>
      </p:sp>
      <p:sp>
        <p:nvSpPr>
          <p:cNvPr id="4" name="Text 2"/>
          <p:cNvSpPr/>
          <p:nvPr/>
        </p:nvSpPr>
        <p:spPr>
          <a:xfrm>
            <a:off x="731520" y="713232"/>
            <a:ext cx="10698480" cy="548640"/>
          </a:xfrm>
          <a:prstGeom prst="rect">
            <a:avLst/>
          </a:prstGeom>
          <a:noFill/>
          <a:ln/>
        </p:spPr>
        <p:txBody>
          <a:bodyPr wrap="square" rtlCol="0" anchor="t"/>
          <a:lstStyle/>
          <a:p>
            <a:pPr indent="0" marL="0">
              <a:buNone/>
            </a:pPr>
            <a:r>
              <a:rPr lang="en-US" sz="2200" b="1" dirty="0">
                <a:solidFill>
                  <a:srgbClr val="FFFFFF"/>
                </a:solidFill>
                <a:latin typeface="Segoe UI" pitchFamily="34" charset="0"/>
                <a:ea typeface="Segoe UI" pitchFamily="34" charset="-122"/>
                <a:cs typeface="Segoe UI" pitchFamily="34" charset="-120"/>
              </a:rPr>
              <a:t>A Proposta LocBUS: Telemetria Híbrida Simbiótica</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300" dirty="0">
                <a:solidFill>
                  <a:srgbClr val="38BDF8"/>
                </a:solidFill>
                <a:latin typeface="Segoe UI" pitchFamily="34" charset="0"/>
                <a:ea typeface="Segoe UI" pitchFamily="34" charset="-122"/>
                <a:cs typeface="Segoe UI" pitchFamily="34" charset="-120"/>
              </a:rPr>
              <a:t>Fusão inteligente entre rádio veicular de curto alcance e sensoriamento móvel participativo</a:t>
            </a:r>
            <a:endParaRPr lang="en-US" sz="1300" dirty="0"/>
          </a:p>
        </p:txBody>
      </p:sp>
      <p:sp>
        <p:nvSpPr>
          <p:cNvPr id="6" name="Shape 4"/>
          <p:cNvSpPr/>
          <p:nvPr/>
        </p:nvSpPr>
        <p:spPr>
          <a:xfrm>
            <a:off x="731520" y="1691640"/>
            <a:ext cx="6583680" cy="4480560"/>
          </a:xfrm>
          <a:prstGeom prst="roundRect">
            <a:avLst>
              <a:gd name="adj" fmla="val 2041"/>
            </a:avLst>
          </a:prstGeom>
          <a:solidFill>
            <a:srgbClr val="0F172A"/>
          </a:solidFill>
          <a:ln w="12700">
            <a:solidFill>
              <a:srgbClr val="1F2D48"/>
            </a:solidFill>
            <a:prstDash val="solid"/>
          </a:ln>
        </p:spPr>
      </p:sp>
      <p:sp>
        <p:nvSpPr>
          <p:cNvPr id="7" name="Text 5"/>
          <p:cNvSpPr/>
          <p:nvPr/>
        </p:nvSpPr>
        <p:spPr>
          <a:xfrm>
            <a:off x="1005840" y="1874520"/>
            <a:ext cx="6035040" cy="365760"/>
          </a:xfrm>
          <a:prstGeom prst="rect">
            <a:avLst/>
          </a:prstGeom>
          <a:noFill/>
          <a:ln/>
        </p:spPr>
        <p:txBody>
          <a:bodyPr wrap="square" rtlCol="0" anchor="ctr"/>
          <a:lstStyle/>
          <a:p>
            <a:pPr indent="0" marL="0">
              <a:buNone/>
            </a:pPr>
            <a:r>
              <a:rPr lang="en-US" sz="1500" b="1" dirty="0">
                <a:solidFill>
                  <a:srgbClr val="38BDF8"/>
                </a:solidFill>
                <a:latin typeface="Segoe UI" pitchFamily="34" charset="0"/>
                <a:ea typeface="Segoe UI" pitchFamily="34" charset="-122"/>
                <a:cs typeface="Segoe UI" pitchFamily="34" charset="-120"/>
              </a:rPr>
              <a:t>⚙️ Fluxo Operacional Simbiótico</a:t>
            </a:r>
            <a:endParaRPr lang="en-US" sz="1500" dirty="0"/>
          </a:p>
        </p:txBody>
      </p:sp>
      <p:sp>
        <p:nvSpPr>
          <p:cNvPr id="8" name="Text 6"/>
          <p:cNvSpPr/>
          <p:nvPr/>
        </p:nvSpPr>
        <p:spPr>
          <a:xfrm>
            <a:off x="1005840" y="2331720"/>
            <a:ext cx="365760" cy="365760"/>
          </a:xfrm>
          <a:prstGeom prst="rect">
            <a:avLst/>
          </a:prstGeom>
          <a:solidFill>
            <a:srgbClr val="0A1E35"/>
          </a:solidFill>
          <a:ln/>
        </p:spPr>
        <p:txBody>
          <a:bodyPr wrap="square" rtlCol="0" anchor="ctr"/>
          <a:lstStyle/>
          <a:p>
            <a:pPr algn="ctr" indent="0" marL="0">
              <a:buNone/>
            </a:pPr>
            <a:r>
              <a:rPr lang="en-US" sz="1200" b="1" dirty="0">
                <a:solidFill>
                  <a:srgbClr val="38BDF8"/>
                </a:solidFill>
                <a:latin typeface="Segoe UI" pitchFamily="34" charset="0"/>
                <a:ea typeface="Segoe UI" pitchFamily="34" charset="-122"/>
                <a:cs typeface="Segoe UI" pitchFamily="34" charset="-120"/>
              </a:rPr>
              <a:t>1</a:t>
            </a:r>
            <a:endParaRPr lang="en-US" sz="1200" dirty="0"/>
          </a:p>
        </p:txBody>
      </p:sp>
      <p:sp>
        <p:nvSpPr>
          <p:cNvPr id="9" name="Text 7"/>
          <p:cNvSpPr/>
          <p:nvPr/>
        </p:nvSpPr>
        <p:spPr>
          <a:xfrm>
            <a:off x="1463040" y="2286000"/>
            <a:ext cx="5577840" cy="868680"/>
          </a:xfrm>
          <a:prstGeom prst="rect">
            <a:avLst/>
          </a:prstGeom>
          <a:noFill/>
          <a:ln/>
        </p:spPr>
        <p:txBody>
          <a:bodyPr wrap="square" rtlCol="0" anchor="ctr"/>
          <a:lstStyle/>
          <a:p>
            <a:pPr indent="0" marL="0">
              <a:lnSpc>
                <a:spcPct val="115000"/>
              </a:lnSpc>
              <a:buNone/>
            </a:pPr>
            <a:r>
              <a:rPr lang="en-US" sz="1150" b="1" dirty="0">
                <a:solidFill>
                  <a:srgbClr val="FFFFFF"/>
                </a:solidFill>
                <a:latin typeface="Segoe UI" pitchFamily="34" charset="0"/>
                <a:ea typeface="Segoe UI" pitchFamily="34" charset="-122"/>
                <a:cs typeface="Segoe UI" pitchFamily="34" charset="-120"/>
              </a:rPr>
              <a:t>Validação de Presença Física
</a:t>
            </a:r>
            <a:pPr indent="0" marL="0">
              <a:lnSpc>
                <a:spcPct val="115000"/>
              </a:lnSpc>
              <a:buNone/>
            </a:pPr>
            <a:r>
              <a:rPr lang="en-US" sz="1050" dirty="0">
                <a:solidFill>
                  <a:srgbClr val="CBD5E1"/>
                </a:solidFill>
                <a:latin typeface="Segoe UI" pitchFamily="34" charset="0"/>
                <a:ea typeface="Segoe UI" pitchFamily="34" charset="-122"/>
                <a:cs typeface="Segoe UI" pitchFamily="34" charset="-120"/>
              </a:rPr>
              <a:t>O estudante embarca no ônibus. A PWA detecta o sinal de rádio RSSI do ESP32 veicular (&gt; -75 dBm) via Web Bluetooth.</a:t>
            </a:r>
            <a:endParaRPr lang="en-US" sz="1150" dirty="0"/>
          </a:p>
        </p:txBody>
      </p:sp>
      <p:sp>
        <p:nvSpPr>
          <p:cNvPr id="10" name="Text 8"/>
          <p:cNvSpPr/>
          <p:nvPr/>
        </p:nvSpPr>
        <p:spPr>
          <a:xfrm>
            <a:off x="1005840" y="3291840"/>
            <a:ext cx="365760" cy="365760"/>
          </a:xfrm>
          <a:prstGeom prst="rect">
            <a:avLst/>
          </a:prstGeom>
          <a:solidFill>
            <a:srgbClr val="0A1E35"/>
          </a:solidFill>
          <a:ln/>
        </p:spPr>
        <p:txBody>
          <a:bodyPr wrap="square" rtlCol="0" anchor="ctr"/>
          <a:lstStyle/>
          <a:p>
            <a:pPr algn="ctr" indent="0" marL="0">
              <a:buNone/>
            </a:pPr>
            <a:r>
              <a:rPr lang="en-US" sz="1200" b="1" dirty="0">
                <a:solidFill>
                  <a:srgbClr val="34D399"/>
                </a:solidFill>
                <a:latin typeface="Segoe UI" pitchFamily="34" charset="0"/>
                <a:ea typeface="Segoe UI" pitchFamily="34" charset="-122"/>
                <a:cs typeface="Segoe UI" pitchFamily="34" charset="-120"/>
              </a:rPr>
              <a:t>2</a:t>
            </a:r>
            <a:endParaRPr lang="en-US" sz="1200" dirty="0"/>
          </a:p>
        </p:txBody>
      </p:sp>
      <p:sp>
        <p:nvSpPr>
          <p:cNvPr id="11" name="Text 9"/>
          <p:cNvSpPr/>
          <p:nvPr/>
        </p:nvSpPr>
        <p:spPr>
          <a:xfrm>
            <a:off x="1463040" y="3246120"/>
            <a:ext cx="5577840" cy="868680"/>
          </a:xfrm>
          <a:prstGeom prst="rect">
            <a:avLst/>
          </a:prstGeom>
          <a:noFill/>
          <a:ln/>
        </p:spPr>
        <p:txBody>
          <a:bodyPr wrap="square" rtlCol="0" anchor="ctr"/>
          <a:lstStyle/>
          <a:p>
            <a:pPr indent="0" marL="0">
              <a:lnSpc>
                <a:spcPct val="115000"/>
              </a:lnSpc>
              <a:buNone/>
            </a:pPr>
            <a:r>
              <a:rPr lang="en-US" sz="1150" b="1" dirty="0">
                <a:solidFill>
                  <a:srgbClr val="FFFFFF"/>
                </a:solidFill>
                <a:latin typeface="Segoe UI" pitchFamily="34" charset="0"/>
                <a:ea typeface="Segoe UI" pitchFamily="34" charset="-122"/>
                <a:cs typeface="Segoe UI" pitchFamily="34" charset="-120"/>
              </a:rPr>
              <a:t>Coleta Oportunista GNSS
</a:t>
            </a:r>
            <a:pPr indent="0" marL="0">
              <a:lnSpc>
                <a:spcPct val="115000"/>
              </a:lnSpc>
              <a:buNone/>
            </a:pPr>
            <a:r>
              <a:rPr lang="en-US" sz="1050" dirty="0">
                <a:solidFill>
                  <a:srgbClr val="CBD5E1"/>
                </a:solidFill>
                <a:latin typeface="Segoe UI" pitchFamily="34" charset="0"/>
                <a:ea typeface="Segoe UI" pitchFamily="34" charset="-122"/>
                <a:cs typeface="Segoe UI" pitchFamily="34" charset="-120"/>
              </a:rPr>
              <a:t>O smartphone inicia a transmissão do seu GPS com intervalo estrito de Δt = 4 segundos (economizando bateria móvel).</a:t>
            </a:r>
            <a:endParaRPr lang="en-US" sz="1150" dirty="0"/>
          </a:p>
        </p:txBody>
      </p:sp>
      <p:sp>
        <p:nvSpPr>
          <p:cNvPr id="12" name="Text 10"/>
          <p:cNvSpPr/>
          <p:nvPr/>
        </p:nvSpPr>
        <p:spPr>
          <a:xfrm>
            <a:off x="1005840" y="4251960"/>
            <a:ext cx="365760" cy="365760"/>
          </a:xfrm>
          <a:prstGeom prst="rect">
            <a:avLst/>
          </a:prstGeom>
          <a:solidFill>
            <a:srgbClr val="0A1E35"/>
          </a:solidFill>
          <a:ln/>
        </p:spPr>
        <p:txBody>
          <a:bodyPr wrap="square" rtlCol="0" anchor="ctr"/>
          <a:lstStyle/>
          <a:p>
            <a:pPr algn="ctr" indent="0" marL="0">
              <a:buNone/>
            </a:pPr>
            <a:r>
              <a:rPr lang="en-US" sz="1200" b="1" dirty="0">
                <a:solidFill>
                  <a:srgbClr val="F59E0B"/>
                </a:solidFill>
                <a:latin typeface="Segoe UI" pitchFamily="34" charset="0"/>
                <a:ea typeface="Segoe UI" pitchFamily="34" charset="-122"/>
                <a:cs typeface="Segoe UI" pitchFamily="34" charset="-120"/>
              </a:rPr>
              <a:t>3</a:t>
            </a:r>
            <a:endParaRPr lang="en-US" sz="1200" dirty="0"/>
          </a:p>
        </p:txBody>
      </p:sp>
      <p:sp>
        <p:nvSpPr>
          <p:cNvPr id="13" name="Text 11"/>
          <p:cNvSpPr/>
          <p:nvPr/>
        </p:nvSpPr>
        <p:spPr>
          <a:xfrm>
            <a:off x="1463040" y="4206240"/>
            <a:ext cx="5577840" cy="868680"/>
          </a:xfrm>
          <a:prstGeom prst="rect">
            <a:avLst/>
          </a:prstGeom>
          <a:noFill/>
          <a:ln/>
        </p:spPr>
        <p:txBody>
          <a:bodyPr wrap="square" rtlCol="0" anchor="ctr"/>
          <a:lstStyle/>
          <a:p>
            <a:pPr indent="0" marL="0">
              <a:lnSpc>
                <a:spcPct val="115000"/>
              </a:lnSpc>
              <a:buNone/>
            </a:pPr>
            <a:r>
              <a:rPr lang="en-US" sz="1150" b="1" dirty="0">
                <a:solidFill>
                  <a:srgbClr val="FFFFFF"/>
                </a:solidFill>
                <a:latin typeface="Segoe UI" pitchFamily="34" charset="0"/>
                <a:ea typeface="Segoe UI" pitchFamily="34" charset="-122"/>
                <a:cs typeface="Segoe UI" pitchFamily="34" charset="-120"/>
              </a:rPr>
              <a:t>Filtragem e Limpeza em Nuvem
</a:t>
            </a:r>
            <a:pPr indent="0" marL="0">
              <a:lnSpc>
                <a:spcPct val="115000"/>
              </a:lnSpc>
              <a:buNone/>
            </a:pPr>
            <a:r>
              <a:rPr lang="en-US" sz="1050" dirty="0">
                <a:solidFill>
                  <a:srgbClr val="CBD5E1"/>
                </a:solidFill>
                <a:latin typeface="Segoe UI" pitchFamily="34" charset="0"/>
                <a:ea typeface="Segoe UI" pitchFamily="34" charset="-122"/>
                <a:cs typeface="Segoe UI" pitchFamily="34" charset="-120"/>
              </a:rPr>
              <a:t>O backend FastAPI valida a posição no geofence da rota (80m) e descarta saltos anômalos acima de 65 km/h.</a:t>
            </a:r>
            <a:endParaRPr lang="en-US" sz="1150" dirty="0"/>
          </a:p>
        </p:txBody>
      </p:sp>
      <p:sp>
        <p:nvSpPr>
          <p:cNvPr id="14" name="Text 12"/>
          <p:cNvSpPr/>
          <p:nvPr/>
        </p:nvSpPr>
        <p:spPr>
          <a:xfrm>
            <a:off x="1005840" y="5212080"/>
            <a:ext cx="365760" cy="365760"/>
          </a:xfrm>
          <a:prstGeom prst="rect">
            <a:avLst/>
          </a:prstGeom>
          <a:solidFill>
            <a:srgbClr val="0A1E35"/>
          </a:solidFill>
          <a:ln/>
        </p:spPr>
        <p:txBody>
          <a:bodyPr wrap="square" rtlCol="0" anchor="ctr"/>
          <a:lstStyle/>
          <a:p>
            <a:pPr algn="ctr" indent="0" marL="0">
              <a:buNone/>
            </a:pPr>
            <a:r>
              <a:rPr lang="en-US" sz="1200" b="1" dirty="0">
                <a:solidFill>
                  <a:srgbClr val="38BDF8"/>
                </a:solidFill>
                <a:latin typeface="Segoe UI" pitchFamily="34" charset="0"/>
                <a:ea typeface="Segoe UI" pitchFamily="34" charset="-122"/>
                <a:cs typeface="Segoe UI" pitchFamily="34" charset="-120"/>
              </a:rPr>
              <a:t>4</a:t>
            </a:r>
            <a:endParaRPr lang="en-US" sz="1200" dirty="0"/>
          </a:p>
        </p:txBody>
      </p:sp>
      <p:sp>
        <p:nvSpPr>
          <p:cNvPr id="15" name="Text 13"/>
          <p:cNvSpPr/>
          <p:nvPr/>
        </p:nvSpPr>
        <p:spPr>
          <a:xfrm>
            <a:off x="1463040" y="5166360"/>
            <a:ext cx="5577840" cy="868680"/>
          </a:xfrm>
          <a:prstGeom prst="rect">
            <a:avLst/>
          </a:prstGeom>
          <a:noFill/>
          <a:ln/>
        </p:spPr>
        <p:txBody>
          <a:bodyPr wrap="square" rtlCol="0" anchor="ctr"/>
          <a:lstStyle/>
          <a:p>
            <a:pPr indent="0" marL="0">
              <a:lnSpc>
                <a:spcPct val="115000"/>
              </a:lnSpc>
              <a:buNone/>
            </a:pPr>
            <a:r>
              <a:rPr lang="en-US" sz="1150" b="1" dirty="0">
                <a:solidFill>
                  <a:srgbClr val="FFFFFF"/>
                </a:solidFill>
                <a:latin typeface="Segoe UI" pitchFamily="34" charset="0"/>
                <a:ea typeface="Segoe UI" pitchFamily="34" charset="-122"/>
                <a:cs typeface="Segoe UI" pitchFamily="34" charset="-120"/>
              </a:rPr>
              <a:t>Difusão Instantânea aos Usuários
</a:t>
            </a:r>
            <a:pPr indent="0" marL="0">
              <a:lnSpc>
                <a:spcPct val="115000"/>
              </a:lnSpc>
              <a:buNone/>
            </a:pPr>
            <a:r>
              <a:rPr lang="en-US" sz="1050" dirty="0">
                <a:solidFill>
                  <a:srgbClr val="CBD5E1"/>
                </a:solidFill>
                <a:latin typeface="Segoe UI" pitchFamily="34" charset="0"/>
                <a:ea typeface="Segoe UI" pitchFamily="34" charset="-122"/>
                <a:cs typeface="Segoe UI" pitchFamily="34" charset="-120"/>
              </a:rPr>
              <a:t>A posição consolidada é distribuída instantaneamente para quem espera nas paradas via Server-Sent Events (&lt; 350 ms).</a:t>
            </a:r>
            <a:endParaRPr lang="en-US" sz="1150" dirty="0"/>
          </a:p>
        </p:txBody>
      </p:sp>
      <p:sp>
        <p:nvSpPr>
          <p:cNvPr id="16" name="Shape 14"/>
          <p:cNvSpPr/>
          <p:nvPr/>
        </p:nvSpPr>
        <p:spPr>
          <a:xfrm>
            <a:off x="7589520" y="1691640"/>
            <a:ext cx="3840480" cy="4480560"/>
          </a:xfrm>
          <a:prstGeom prst="roundRect">
            <a:avLst>
              <a:gd name="adj" fmla="val 3571"/>
            </a:avLst>
          </a:prstGeom>
          <a:solidFill>
            <a:srgbClr val="0A1020"/>
          </a:solidFill>
          <a:ln w="25400">
            <a:solidFill>
              <a:srgbClr val="334155"/>
            </a:solidFill>
            <a:prstDash val="solid"/>
          </a:ln>
        </p:spPr>
      </p:sp>
      <p:sp>
        <p:nvSpPr>
          <p:cNvPr id="17" name="Text 15"/>
          <p:cNvSpPr/>
          <p:nvPr/>
        </p:nvSpPr>
        <p:spPr>
          <a:xfrm>
            <a:off x="7589520" y="1783080"/>
            <a:ext cx="3840480" cy="274320"/>
          </a:xfrm>
          <a:prstGeom prst="rect">
            <a:avLst/>
          </a:prstGeom>
          <a:noFill/>
          <a:ln/>
        </p:spPr>
        <p:txBody>
          <a:bodyPr wrap="square" rtlCol="0" anchor="ctr"/>
          <a:lstStyle/>
          <a:p>
            <a:pPr algn="ctr" indent="0" marL="0">
              <a:buNone/>
            </a:pPr>
            <a:r>
              <a:rPr lang="en-US" sz="900" b="1" dirty="0">
                <a:solidFill>
                  <a:srgbClr val="34D399"/>
                </a:solidFill>
                <a:latin typeface="Segoe UI" pitchFamily="34" charset="0"/>
                <a:ea typeface="Segoe UI" pitchFamily="34" charset="-122"/>
                <a:cs typeface="Segoe UI" pitchFamily="34" charset="-120"/>
              </a:rPr>
              <a:t>PWA MOBILE • COMPARTILHAR GPS</a:t>
            </a:r>
            <a:endParaRPr lang="en-US" sz="900" dirty="0"/>
          </a:p>
        </p:txBody>
      </p:sp>
      <p:pic>
        <p:nvPicPr>
          <p:cNvPr id="18" name="Image 0" descr="E:\prof3\apresentacao_15min\assets\mobile_interface_pwa.png">    </p:cNvPr>
          <p:cNvPicPr>
            <a:picLocks noChangeAspect="1"/>
          </p:cNvPicPr>
          <p:nvPr/>
        </p:nvPicPr>
        <p:blipFill>
          <a:blip r:embed="rId1"/>
          <a:srcRect l="0" r="0" t="0" b="0"/>
          <a:stretch/>
        </p:blipFill>
        <p:spPr>
          <a:xfrm>
            <a:off x="7772400" y="2103120"/>
            <a:ext cx="3474720" cy="39319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B14"/>
        </a:solidFill>
      </p:bgPr>
    </p:bg>
    <p:spTree>
      <p:nvGrpSpPr>
        <p:cNvPr id="1" name=""/>
        <p:cNvGrpSpPr/>
        <p:nvPr/>
      </p:nvGrpSpPr>
      <p:grpSpPr>
        <a:xfrm>
          <a:off x="0" y="0"/>
          <a:ext cx="0" cy="0"/>
          <a:chOff x="0" y="0"/>
          <a:chExt cx="0" cy="0"/>
        </a:xfrm>
      </p:grpSpPr>
      <p:sp>
        <p:nvSpPr>
          <p:cNvPr id="2" name="Text 0"/>
          <p:cNvSpPr/>
          <p:nvPr/>
        </p:nvSpPr>
        <p:spPr>
          <a:xfrm>
            <a:off x="731520" y="365760"/>
            <a:ext cx="4114800" cy="292608"/>
          </a:xfrm>
          <a:prstGeom prst="rect">
            <a:avLst/>
          </a:prstGeom>
          <a:solidFill>
            <a:srgbClr val="0E2238"/>
          </a:solidFill>
          <a:ln/>
        </p:spPr>
        <p:txBody>
          <a:bodyPr wrap="square" lIns="0" tIns="101600" rIns="101600" bIns="0" rtlCol="0" anchor="ctr"/>
          <a:lstStyle/>
          <a:p>
            <a:pPr algn="l" indent="0" marL="0">
              <a:buNone/>
            </a:pPr>
            <a:r>
              <a:rPr lang="en-US" sz="1000" b="1" dirty="0">
                <a:solidFill>
                  <a:srgbClr val="38BDF8"/>
                </a:solidFill>
                <a:latin typeface="Segoe UI" pitchFamily="34" charset="0"/>
                <a:ea typeface="Segoe UI" pitchFamily="34" charset="-122"/>
                <a:cs typeface="Segoe UI" pitchFamily="34" charset="-120"/>
              </a:rPr>
              <a:t>ENGENHARIA DE SOFTWARE</a:t>
            </a:r>
            <a:endParaRPr lang="en-US" sz="1000" dirty="0"/>
          </a:p>
        </p:txBody>
      </p:sp>
      <p:sp>
        <p:nvSpPr>
          <p:cNvPr id="3" name="Text 1"/>
          <p:cNvSpPr/>
          <p:nvPr/>
        </p:nvSpPr>
        <p:spPr>
          <a:xfrm>
            <a:off x="7772400" y="365760"/>
            <a:ext cx="3657600" cy="292608"/>
          </a:xfrm>
          <a:prstGeom prst="rect">
            <a:avLst/>
          </a:prstGeom>
          <a:noFill/>
          <a:ln/>
        </p:spPr>
        <p:txBody>
          <a:bodyPr wrap="square" rtlCol="0" anchor="ctr"/>
          <a:lstStyle/>
          <a:p>
            <a:pPr algn="r" indent="0" marL="0">
              <a:buNone/>
            </a:pPr>
            <a:r>
              <a:rPr lang="en-US" sz="1000" dirty="0">
                <a:solidFill>
                  <a:srgbClr val="94A3B8"/>
                </a:solidFill>
                <a:latin typeface="Consolas" pitchFamily="34" charset="0"/>
                <a:ea typeface="Consolas" pitchFamily="34" charset="-122"/>
                <a:cs typeface="Consolas" pitchFamily="34" charset="-120"/>
              </a:rPr>
              <a:t>⏱️ 09:30 - 10:30 (1m00s)</a:t>
            </a:r>
            <a:endParaRPr lang="en-US" sz="1000" dirty="0"/>
          </a:p>
        </p:txBody>
      </p:sp>
      <p:sp>
        <p:nvSpPr>
          <p:cNvPr id="4" name="Text 2"/>
          <p:cNvSpPr/>
          <p:nvPr/>
        </p:nvSpPr>
        <p:spPr>
          <a:xfrm>
            <a:off x="731520" y="713232"/>
            <a:ext cx="10698480" cy="548640"/>
          </a:xfrm>
          <a:prstGeom prst="rect">
            <a:avLst/>
          </a:prstGeom>
          <a:noFill/>
          <a:ln/>
        </p:spPr>
        <p:txBody>
          <a:bodyPr wrap="square" rtlCol="0" anchor="t"/>
          <a:lstStyle/>
          <a:p>
            <a:pPr indent="0" marL="0">
              <a:buNone/>
            </a:pPr>
            <a:r>
              <a:rPr lang="en-US" sz="2200" b="1" dirty="0">
                <a:solidFill>
                  <a:srgbClr val="FFFFFF"/>
                </a:solidFill>
                <a:latin typeface="Segoe UI" pitchFamily="34" charset="0"/>
                <a:ea typeface="Segoe UI" pitchFamily="34" charset="-122"/>
                <a:cs typeface="Segoe UI" pitchFamily="34" charset="-120"/>
              </a:rPr>
              <a:t>Requisitos de Engenharia (RFs e RNFs)</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300" dirty="0">
                <a:solidFill>
                  <a:srgbClr val="38BDF8"/>
                </a:solidFill>
                <a:latin typeface="Segoe UI" pitchFamily="34" charset="0"/>
                <a:ea typeface="Segoe UI" pitchFamily="34" charset="-122"/>
                <a:cs typeface="Segoe UI" pitchFamily="34" charset="-120"/>
              </a:rPr>
              <a:t>Critérios rigorosos de especificação técnica para viabilidade em produção</a:t>
            </a:r>
            <a:endParaRPr lang="en-US" sz="1300" dirty="0"/>
          </a:p>
        </p:txBody>
      </p:sp>
      <p:sp>
        <p:nvSpPr>
          <p:cNvPr id="6" name="Shape 4"/>
          <p:cNvSpPr/>
          <p:nvPr/>
        </p:nvSpPr>
        <p:spPr>
          <a:xfrm>
            <a:off x="731520" y="1691640"/>
            <a:ext cx="5212080" cy="4480560"/>
          </a:xfrm>
          <a:prstGeom prst="roundRect">
            <a:avLst>
              <a:gd name="adj" fmla="val 2041"/>
            </a:avLst>
          </a:prstGeom>
          <a:solidFill>
            <a:srgbClr val="0F172A"/>
          </a:solidFill>
          <a:ln w="12700">
            <a:solidFill>
              <a:srgbClr val="1F2D48"/>
            </a:solidFill>
            <a:prstDash val="solid"/>
          </a:ln>
        </p:spPr>
      </p:sp>
      <p:sp>
        <p:nvSpPr>
          <p:cNvPr id="7" name="Text 5"/>
          <p:cNvSpPr/>
          <p:nvPr/>
        </p:nvSpPr>
        <p:spPr>
          <a:xfrm>
            <a:off x="1005840" y="1874520"/>
            <a:ext cx="4663440" cy="365760"/>
          </a:xfrm>
          <a:prstGeom prst="rect">
            <a:avLst/>
          </a:prstGeom>
          <a:noFill/>
          <a:ln/>
        </p:spPr>
        <p:txBody>
          <a:bodyPr wrap="square" rtlCol="0" anchor="ctr"/>
          <a:lstStyle/>
          <a:p>
            <a:pPr indent="0" marL="0">
              <a:buNone/>
            </a:pPr>
            <a:r>
              <a:rPr lang="en-US" sz="1400" b="1" dirty="0">
                <a:solidFill>
                  <a:srgbClr val="38BDF8"/>
                </a:solidFill>
                <a:latin typeface="Segoe UI" pitchFamily="34" charset="0"/>
                <a:ea typeface="Segoe UI" pitchFamily="34" charset="-122"/>
                <a:cs typeface="Segoe UI" pitchFamily="34" charset="-120"/>
              </a:rPr>
              <a:t>📋 Requisitos Funcionais (RFs)</a:t>
            </a:r>
            <a:endParaRPr lang="en-US" sz="1400" dirty="0"/>
          </a:p>
        </p:txBody>
      </p:sp>
      <p:sp>
        <p:nvSpPr>
          <p:cNvPr id="8" name="Text 6"/>
          <p:cNvSpPr/>
          <p:nvPr/>
        </p:nvSpPr>
        <p:spPr>
          <a:xfrm>
            <a:off x="1005840" y="2331720"/>
            <a:ext cx="4663440" cy="3657600"/>
          </a:xfrm>
          <a:prstGeom prst="rect">
            <a:avLst/>
          </a:prstGeom>
          <a:noFill/>
          <a:ln/>
        </p:spPr>
        <p:txBody>
          <a:bodyPr wrap="square" rtlCol="0" anchor="ctr"/>
          <a:lstStyle/>
          <a:p>
            <a:pPr indent="0" marL="0">
              <a:lnSpc>
                <a:spcPct val="120000"/>
              </a:lnSpc>
              <a:buNone/>
            </a:pPr>
            <a:r>
              <a:rPr lang="en-US" sz="1100" b="1" dirty="0">
                <a:solidFill>
                  <a:srgbClr val="FFFFFF"/>
                </a:solidFill>
                <a:latin typeface="Segoe UI" pitchFamily="34" charset="0"/>
                <a:ea typeface="Segoe UI" pitchFamily="34" charset="-122"/>
                <a:cs typeface="Segoe UI" pitchFamily="34" charset="-120"/>
              </a:rPr>
              <a:t>• RF01 (Autenticação BLE): </a:t>
            </a:r>
            <a:pPr indent="0" marL="0">
              <a:lnSpc>
                <a:spcPct val="120000"/>
              </a:lnSpc>
              <a:buNone/>
            </a:pPr>
            <a:r>
              <a:rPr lang="en-US" sz="1100" dirty="0">
                <a:solidFill>
                  <a:srgbClr val="CBD5E1"/>
                </a:solidFill>
                <a:latin typeface="Segoe UI" pitchFamily="34" charset="0"/>
                <a:ea typeface="Segoe UI" pitchFamily="34" charset="-122"/>
                <a:cs typeface="Segoe UI" pitchFamily="34" charset="-120"/>
              </a:rPr>
              <a:t>Rastreamento colaborativo só é aceito mediante validação do rádio veicular;
</a:t>
            </a:r>
            <a:pPr indent="0" marL="0">
              <a:lnSpc>
                <a:spcPct val="120000"/>
              </a:lnSpc>
              <a:buNone/>
            </a:pPr>
            <a:r>
              <a:rPr lang="en-US" sz="1100" b="1" dirty="0">
                <a:solidFill>
                  <a:srgbClr val="FFFFFF"/>
                </a:solidFill>
                <a:latin typeface="Segoe UI" pitchFamily="34" charset="0"/>
                <a:ea typeface="Segoe UI" pitchFamily="34" charset="-122"/>
                <a:cs typeface="Segoe UI" pitchFamily="34" charset="-120"/>
              </a:rPr>
              <a:t>• RF02 (Geofencing Contínuo): </a:t>
            </a:r>
            <a:pPr indent="0" marL="0">
              <a:lnSpc>
                <a:spcPct val="120000"/>
              </a:lnSpc>
              <a:buNone/>
            </a:pPr>
            <a:r>
              <a:rPr lang="en-US" sz="1100" dirty="0">
                <a:solidFill>
                  <a:srgbClr val="CBD5E1"/>
                </a:solidFill>
                <a:latin typeface="Segoe UI" pitchFamily="34" charset="0"/>
                <a:ea typeface="Segoe UI" pitchFamily="34" charset="-122"/>
                <a:cs typeface="Segoe UI" pitchFamily="34" charset="-120"/>
              </a:rPr>
              <a:t>Descarte imediato de telemetria além de 80 metros do eixo viário oficial da UFPB;
</a:t>
            </a:r>
            <a:pPr indent="0" marL="0">
              <a:lnSpc>
                <a:spcPct val="120000"/>
              </a:lnSpc>
              <a:buNone/>
            </a:pPr>
            <a:r>
              <a:rPr lang="en-US" sz="1100" b="1" dirty="0">
                <a:solidFill>
                  <a:srgbClr val="FFFFFF"/>
                </a:solidFill>
                <a:latin typeface="Segoe UI" pitchFamily="34" charset="0"/>
                <a:ea typeface="Segoe UI" pitchFamily="34" charset="-122"/>
                <a:cs typeface="Segoe UI" pitchFamily="34" charset="-120"/>
              </a:rPr>
              <a:t>• RF03 (Filtro Cinemático): </a:t>
            </a:r>
            <a:pPr indent="0" marL="0">
              <a:lnSpc>
                <a:spcPct val="120000"/>
              </a:lnSpc>
              <a:buNone/>
            </a:pPr>
            <a:r>
              <a:rPr lang="en-US" sz="1100" dirty="0">
                <a:solidFill>
                  <a:srgbClr val="CBD5E1"/>
                </a:solidFill>
                <a:latin typeface="Segoe UI" pitchFamily="34" charset="0"/>
                <a:ea typeface="Segoe UI" pitchFamily="34" charset="-122"/>
                <a:cs typeface="Segoe UI" pitchFamily="34" charset="-120"/>
              </a:rPr>
              <a:t>Descarte de saltos de GPS ou velocidades computadas superiores a 65 km/h;
</a:t>
            </a:r>
            <a:pPr indent="0" marL="0">
              <a:lnSpc>
                <a:spcPct val="120000"/>
              </a:lnSpc>
              <a:buNone/>
            </a:pPr>
            <a:r>
              <a:rPr lang="en-US" sz="1100" b="1" dirty="0">
                <a:solidFill>
                  <a:srgbClr val="FFFFFF"/>
                </a:solidFill>
                <a:latin typeface="Segoe UI" pitchFamily="34" charset="0"/>
                <a:ea typeface="Segoe UI" pitchFamily="34" charset="-122"/>
                <a:cs typeface="Segoe UI" pitchFamily="34" charset="-120"/>
              </a:rPr>
              <a:t>• RF04 (Clustering Ponderado): </a:t>
            </a:r>
            <a:pPr indent="0" marL="0">
              <a:lnSpc>
                <a:spcPct val="120000"/>
              </a:lnSpc>
              <a:buNone/>
            </a:pPr>
            <a:r>
              <a:rPr lang="en-US" sz="1100" dirty="0">
                <a:solidFill>
                  <a:srgbClr val="CBD5E1"/>
                </a:solidFill>
                <a:latin typeface="Segoe UI" pitchFamily="34" charset="0"/>
                <a:ea typeface="Segoe UI" pitchFamily="34" charset="-122"/>
                <a:cs typeface="Segoe UI" pitchFamily="34" charset="-120"/>
              </a:rPr>
              <a:t>Agregação de múltiplos passageiros ponderada pelo inverso da acurácia (1/σ);
</a:t>
            </a:r>
            <a:pPr indent="0" marL="0">
              <a:lnSpc>
                <a:spcPct val="120000"/>
              </a:lnSpc>
              <a:buNone/>
            </a:pPr>
            <a:r>
              <a:rPr lang="en-US" sz="1100" b="1" dirty="0">
                <a:solidFill>
                  <a:srgbClr val="FFFFFF"/>
                </a:solidFill>
                <a:latin typeface="Segoe UI" pitchFamily="34" charset="0"/>
                <a:ea typeface="Segoe UI" pitchFamily="34" charset="-122"/>
                <a:cs typeface="Segoe UI" pitchFamily="34" charset="-120"/>
              </a:rPr>
              <a:t>• RF05 (Difusão SSE): </a:t>
            </a:r>
            <a:pPr indent="0" marL="0">
              <a:lnSpc>
                <a:spcPct val="120000"/>
              </a:lnSpc>
              <a:buNone/>
            </a:pPr>
            <a:r>
              <a:rPr lang="en-US" sz="1100" dirty="0">
                <a:solidFill>
                  <a:srgbClr val="CBD5E1"/>
                </a:solidFill>
                <a:latin typeface="Segoe UI" pitchFamily="34" charset="0"/>
                <a:ea typeface="Segoe UI" pitchFamily="34" charset="-122"/>
                <a:cs typeface="Segoe UI" pitchFamily="34" charset="-120"/>
              </a:rPr>
              <a:t>Publicação contínua unidirecional via Server-Sent Events.</a:t>
            </a:r>
            <a:endParaRPr lang="en-US" sz="1100" dirty="0"/>
          </a:p>
        </p:txBody>
      </p:sp>
      <p:sp>
        <p:nvSpPr>
          <p:cNvPr id="9" name="Shape 7"/>
          <p:cNvSpPr/>
          <p:nvPr/>
        </p:nvSpPr>
        <p:spPr>
          <a:xfrm>
            <a:off x="6217920" y="1691640"/>
            <a:ext cx="5212080" cy="4480560"/>
          </a:xfrm>
          <a:prstGeom prst="roundRect">
            <a:avLst>
              <a:gd name="adj" fmla="val 2041"/>
            </a:avLst>
          </a:prstGeom>
          <a:solidFill>
            <a:srgbClr val="0F172A"/>
          </a:solidFill>
          <a:ln w="12700">
            <a:solidFill>
              <a:srgbClr val="1F2D48"/>
            </a:solidFill>
            <a:prstDash val="solid"/>
          </a:ln>
        </p:spPr>
      </p:sp>
      <p:sp>
        <p:nvSpPr>
          <p:cNvPr id="10" name="Text 8"/>
          <p:cNvSpPr/>
          <p:nvPr/>
        </p:nvSpPr>
        <p:spPr>
          <a:xfrm>
            <a:off x="6492240" y="1874520"/>
            <a:ext cx="4663440" cy="365760"/>
          </a:xfrm>
          <a:prstGeom prst="rect">
            <a:avLst/>
          </a:prstGeom>
          <a:noFill/>
          <a:ln/>
        </p:spPr>
        <p:txBody>
          <a:bodyPr wrap="square" rtlCol="0" anchor="ctr"/>
          <a:lstStyle/>
          <a:p>
            <a:pPr indent="0" marL="0">
              <a:buNone/>
            </a:pPr>
            <a:r>
              <a:rPr lang="en-US" sz="1400" b="1" dirty="0">
                <a:solidFill>
                  <a:srgbClr val="34D399"/>
                </a:solidFill>
                <a:latin typeface="Segoe UI" pitchFamily="34" charset="0"/>
                <a:ea typeface="Segoe UI" pitchFamily="34" charset="-122"/>
                <a:cs typeface="Segoe UI" pitchFamily="34" charset="-120"/>
              </a:rPr>
              <a:t>⚡ Requisitos Não-Funcionais (RNFs)</a:t>
            </a:r>
            <a:endParaRPr lang="en-US" sz="1400" dirty="0"/>
          </a:p>
        </p:txBody>
      </p:sp>
      <p:sp>
        <p:nvSpPr>
          <p:cNvPr id="11" name="Text 9"/>
          <p:cNvSpPr/>
          <p:nvPr/>
        </p:nvSpPr>
        <p:spPr>
          <a:xfrm>
            <a:off x="6492240" y="2331720"/>
            <a:ext cx="4663440" cy="3657600"/>
          </a:xfrm>
          <a:prstGeom prst="rect">
            <a:avLst/>
          </a:prstGeom>
          <a:noFill/>
          <a:ln/>
        </p:spPr>
        <p:txBody>
          <a:bodyPr wrap="square" rtlCol="0" anchor="ctr"/>
          <a:lstStyle/>
          <a:p>
            <a:pPr indent="0" marL="0">
              <a:lnSpc>
                <a:spcPct val="120000"/>
              </a:lnSpc>
              <a:buNone/>
            </a:pPr>
            <a:r>
              <a:rPr lang="en-US" sz="1100" b="1" dirty="0">
                <a:solidFill>
                  <a:srgbClr val="FFFFFF"/>
                </a:solidFill>
                <a:latin typeface="Segoe UI" pitchFamily="34" charset="0"/>
                <a:ea typeface="Segoe UI" pitchFamily="34" charset="-122"/>
                <a:cs typeface="Segoe UI" pitchFamily="34" charset="-120"/>
              </a:rPr>
              <a:t>• RNF01 (Latência Estrita): </a:t>
            </a:r>
            <a:pPr indent="0" marL="0">
              <a:lnSpc>
                <a:spcPct val="120000"/>
              </a:lnSpc>
              <a:buNone/>
            </a:pPr>
            <a:r>
              <a:rPr lang="en-US" sz="1100" dirty="0">
                <a:solidFill>
                  <a:srgbClr val="CBD5E1"/>
                </a:solidFill>
                <a:latin typeface="Segoe UI" pitchFamily="34" charset="0"/>
                <a:ea typeface="Segoe UI" pitchFamily="34" charset="-122"/>
                <a:cs typeface="Segoe UI" pitchFamily="34" charset="-120"/>
              </a:rPr>
              <a:t>Latência fim a fim inferior a 500 ms (atingido ~220 ms nos testes reais);
</a:t>
            </a:r>
            <a:pPr indent="0" marL="0">
              <a:lnSpc>
                <a:spcPct val="120000"/>
              </a:lnSpc>
              <a:buNone/>
            </a:pPr>
            <a:r>
              <a:rPr lang="en-US" sz="1100" b="1" dirty="0">
                <a:solidFill>
                  <a:srgbClr val="FFFFFF"/>
                </a:solidFill>
                <a:latin typeface="Segoe UI" pitchFamily="34" charset="0"/>
                <a:ea typeface="Segoe UI" pitchFamily="34" charset="-122"/>
                <a:cs typeface="Segoe UI" pitchFamily="34" charset="-120"/>
              </a:rPr>
              <a:t>• RNF02 (Eficiência Energética): </a:t>
            </a:r>
            <a:pPr indent="0" marL="0">
              <a:lnSpc>
                <a:spcPct val="120000"/>
              </a:lnSpc>
              <a:buNone/>
            </a:pPr>
            <a:r>
              <a:rPr lang="en-US" sz="1100" dirty="0">
                <a:solidFill>
                  <a:srgbClr val="CBD5E1"/>
                </a:solidFill>
                <a:latin typeface="Segoe UI" pitchFamily="34" charset="0"/>
                <a:ea typeface="Segoe UI" pitchFamily="34" charset="-122"/>
                <a:cs typeface="Segoe UI" pitchFamily="34" charset="-120"/>
              </a:rPr>
              <a:t>Throttling de 4 segundos e cache oportunista W3C para preservar bateria do celular;
</a:t>
            </a:r>
            <a:pPr indent="0" marL="0">
              <a:lnSpc>
                <a:spcPct val="120000"/>
              </a:lnSpc>
              <a:buNone/>
            </a:pPr>
            <a:r>
              <a:rPr lang="en-US" sz="1100" b="1" dirty="0">
                <a:solidFill>
                  <a:srgbClr val="FFFFFF"/>
                </a:solidFill>
                <a:latin typeface="Segoe UI" pitchFamily="34" charset="0"/>
                <a:ea typeface="Segoe UI" pitchFamily="34" charset="-122"/>
                <a:cs typeface="Segoe UI" pitchFamily="34" charset="-120"/>
              </a:rPr>
              <a:t>• RNF03 (Universalidade PWA): </a:t>
            </a:r>
            <a:pPr indent="0" marL="0">
              <a:lnSpc>
                <a:spcPct val="120000"/>
              </a:lnSpc>
              <a:buNone/>
            </a:pPr>
            <a:r>
              <a:rPr lang="en-US" sz="1100" dirty="0">
                <a:solidFill>
                  <a:srgbClr val="CBD5E1"/>
                </a:solidFill>
                <a:latin typeface="Segoe UI" pitchFamily="34" charset="0"/>
                <a:ea typeface="Segoe UI" pitchFamily="34" charset="-122"/>
                <a:cs typeface="Segoe UI" pitchFamily="34" charset="-120"/>
              </a:rPr>
              <a:t>Execução direta no navegador Web, dispensando downloads em lojas de apps;
</a:t>
            </a:r>
            <a:pPr indent="0" marL="0">
              <a:lnSpc>
                <a:spcPct val="120000"/>
              </a:lnSpc>
              <a:buNone/>
            </a:pPr>
            <a:r>
              <a:rPr lang="en-US" sz="1100" b="1" dirty="0">
                <a:solidFill>
                  <a:srgbClr val="FFFFFF"/>
                </a:solidFill>
                <a:latin typeface="Segoe UI" pitchFamily="34" charset="0"/>
                <a:ea typeface="Segoe UI" pitchFamily="34" charset="-122"/>
                <a:cs typeface="Segoe UI" pitchFamily="34" charset="-120"/>
              </a:rPr>
              <a:t>• RNF04 (Privacidade e LGPD): </a:t>
            </a:r>
            <a:pPr indent="0" marL="0">
              <a:lnSpc>
                <a:spcPct val="120000"/>
              </a:lnSpc>
              <a:buNone/>
            </a:pPr>
            <a:r>
              <a:rPr lang="en-US" sz="1100" dirty="0">
                <a:solidFill>
                  <a:srgbClr val="CBD5E1"/>
                </a:solidFill>
                <a:latin typeface="Segoe UI" pitchFamily="34" charset="0"/>
                <a:ea typeface="Segoe UI" pitchFamily="34" charset="-122"/>
                <a:cs typeface="Segoe UI" pitchFamily="34" charset="-120"/>
              </a:rPr>
              <a:t>Transmissão 100% anônima em memória volátil com TTL; zero gravação em disco de CPF, IMEI ou identificadores pessoais.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B14"/>
        </a:solidFill>
      </p:bgPr>
    </p:bg>
    <p:spTree>
      <p:nvGrpSpPr>
        <p:cNvPr id="1" name=""/>
        <p:cNvGrpSpPr/>
        <p:nvPr/>
      </p:nvGrpSpPr>
      <p:grpSpPr>
        <a:xfrm>
          <a:off x="0" y="0"/>
          <a:ext cx="0" cy="0"/>
          <a:chOff x="0" y="0"/>
          <a:chExt cx="0" cy="0"/>
        </a:xfrm>
      </p:grpSpPr>
      <p:sp>
        <p:nvSpPr>
          <p:cNvPr id="2" name="Text 0"/>
          <p:cNvSpPr/>
          <p:nvPr/>
        </p:nvSpPr>
        <p:spPr>
          <a:xfrm>
            <a:off x="731520" y="365760"/>
            <a:ext cx="4114800" cy="292608"/>
          </a:xfrm>
          <a:prstGeom prst="rect">
            <a:avLst/>
          </a:prstGeom>
          <a:solidFill>
            <a:srgbClr val="0E2238"/>
          </a:solidFill>
          <a:ln/>
        </p:spPr>
        <p:txBody>
          <a:bodyPr wrap="square" lIns="0" tIns="101600" rIns="101600" bIns="0" rtlCol="0" anchor="ctr"/>
          <a:lstStyle/>
          <a:p>
            <a:pPr algn="l" indent="0" marL="0">
              <a:buNone/>
            </a:pPr>
            <a:r>
              <a:rPr lang="en-US" sz="1000" b="1" dirty="0">
                <a:solidFill>
                  <a:srgbClr val="38BDF8"/>
                </a:solidFill>
                <a:latin typeface="Segoe UI" pitchFamily="34" charset="0"/>
                <a:ea typeface="Segoe UI" pitchFamily="34" charset="-122"/>
                <a:cs typeface="Segoe UI" pitchFamily="34" charset="-120"/>
              </a:rPr>
              <a:t>ARQUITETURA DE SISTEMAS</a:t>
            </a:r>
            <a:endParaRPr lang="en-US" sz="1000" dirty="0"/>
          </a:p>
        </p:txBody>
      </p:sp>
      <p:sp>
        <p:nvSpPr>
          <p:cNvPr id="3" name="Text 1"/>
          <p:cNvSpPr/>
          <p:nvPr/>
        </p:nvSpPr>
        <p:spPr>
          <a:xfrm>
            <a:off x="7772400" y="365760"/>
            <a:ext cx="3657600" cy="292608"/>
          </a:xfrm>
          <a:prstGeom prst="rect">
            <a:avLst/>
          </a:prstGeom>
          <a:noFill/>
          <a:ln/>
        </p:spPr>
        <p:txBody>
          <a:bodyPr wrap="square" rtlCol="0" anchor="ctr"/>
          <a:lstStyle/>
          <a:p>
            <a:pPr algn="r" indent="0" marL="0">
              <a:buNone/>
            </a:pPr>
            <a:r>
              <a:rPr lang="en-US" sz="1000" dirty="0">
                <a:solidFill>
                  <a:srgbClr val="94A3B8"/>
                </a:solidFill>
                <a:latin typeface="Consolas" pitchFamily="34" charset="0"/>
                <a:ea typeface="Consolas" pitchFamily="34" charset="-122"/>
                <a:cs typeface="Consolas" pitchFamily="34" charset="-120"/>
              </a:rPr>
              <a:t>⏱️ 10:30 - 12:00 (1m30s)</a:t>
            </a:r>
            <a:endParaRPr lang="en-US" sz="1000" dirty="0"/>
          </a:p>
        </p:txBody>
      </p:sp>
      <p:sp>
        <p:nvSpPr>
          <p:cNvPr id="4" name="Text 2"/>
          <p:cNvSpPr/>
          <p:nvPr/>
        </p:nvSpPr>
        <p:spPr>
          <a:xfrm>
            <a:off x="731520" y="713232"/>
            <a:ext cx="10698480" cy="548640"/>
          </a:xfrm>
          <a:prstGeom prst="rect">
            <a:avLst/>
          </a:prstGeom>
          <a:noFill/>
          <a:ln/>
        </p:spPr>
        <p:txBody>
          <a:bodyPr wrap="square" rtlCol="0" anchor="t"/>
          <a:lstStyle/>
          <a:p>
            <a:pPr indent="0" marL="0">
              <a:buNone/>
            </a:pPr>
            <a:r>
              <a:rPr lang="en-US" sz="2200" b="1" dirty="0">
                <a:solidFill>
                  <a:srgbClr val="FFFFFF"/>
                </a:solidFill>
                <a:latin typeface="Segoe UI" pitchFamily="34" charset="0"/>
                <a:ea typeface="Segoe UI" pitchFamily="34" charset="-122"/>
                <a:cs typeface="Segoe UI" pitchFamily="34" charset="-120"/>
              </a:rPr>
              <a:t>Arquitetura Desacoplada em 4 Camadas</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300" dirty="0">
                <a:solidFill>
                  <a:srgbClr val="38BDF8"/>
                </a:solidFill>
                <a:latin typeface="Segoe UI" pitchFamily="34" charset="0"/>
                <a:ea typeface="Segoe UI" pitchFamily="34" charset="-122"/>
                <a:cs typeface="Segoe UI" pitchFamily="34" charset="-120"/>
              </a:rPr>
              <a:t>Do nó veicular físico à difusão em tempo real no navegador do passageiro</a:t>
            </a:r>
            <a:endParaRPr lang="en-US" sz="1300" dirty="0"/>
          </a:p>
        </p:txBody>
      </p:sp>
      <p:sp>
        <p:nvSpPr>
          <p:cNvPr id="6" name="Shape 4"/>
          <p:cNvSpPr/>
          <p:nvPr/>
        </p:nvSpPr>
        <p:spPr>
          <a:xfrm>
            <a:off x="731520" y="1691640"/>
            <a:ext cx="10698480" cy="3749040"/>
          </a:xfrm>
          <a:prstGeom prst="roundRect">
            <a:avLst>
              <a:gd name="adj" fmla="val 2439"/>
            </a:avLst>
          </a:prstGeom>
          <a:solidFill>
            <a:srgbClr val="FFFFFF"/>
          </a:solidFill>
          <a:ln w="25400">
            <a:solidFill>
              <a:srgbClr val="334155"/>
            </a:solidFill>
            <a:prstDash val="solid"/>
          </a:ln>
        </p:spPr>
      </p:sp>
      <p:pic>
        <p:nvPicPr>
          <p:cNvPr id="7" name="Image 0" descr="E:\prof3\apresentacao_15min\assets\fig1_arquitetura.png">    </p:cNvPr>
          <p:cNvPicPr>
            <a:picLocks noChangeAspect="1"/>
          </p:cNvPicPr>
          <p:nvPr/>
        </p:nvPicPr>
        <p:blipFill>
          <a:blip r:embed="rId1"/>
          <a:srcRect l="0" r="0" t="0" b="0"/>
          <a:stretch/>
        </p:blipFill>
        <p:spPr>
          <a:xfrm>
            <a:off x="914400" y="1783080"/>
            <a:ext cx="10332720" cy="3566160"/>
          </a:xfrm>
          <a:prstGeom prst="rect">
            <a:avLst/>
          </a:prstGeom>
        </p:spPr>
      </p:pic>
      <p:sp>
        <p:nvSpPr>
          <p:cNvPr id="8" name="Shape 5"/>
          <p:cNvSpPr/>
          <p:nvPr/>
        </p:nvSpPr>
        <p:spPr>
          <a:xfrm>
            <a:off x="731520" y="5577840"/>
            <a:ext cx="2560320" cy="685800"/>
          </a:xfrm>
          <a:prstGeom prst="roundRect">
            <a:avLst>
              <a:gd name="adj" fmla="val 10667"/>
            </a:avLst>
          </a:prstGeom>
          <a:solidFill>
            <a:srgbClr val="141E33"/>
          </a:solidFill>
          <a:ln w="12700">
            <a:solidFill>
              <a:srgbClr val="1F2D48"/>
            </a:solidFill>
            <a:prstDash val="solid"/>
          </a:ln>
        </p:spPr>
      </p:sp>
      <p:sp>
        <p:nvSpPr>
          <p:cNvPr id="9" name="Text 6"/>
          <p:cNvSpPr/>
          <p:nvPr/>
        </p:nvSpPr>
        <p:spPr>
          <a:xfrm>
            <a:off x="731520" y="5623560"/>
            <a:ext cx="2560320" cy="320040"/>
          </a:xfrm>
          <a:prstGeom prst="rect">
            <a:avLst/>
          </a:prstGeom>
          <a:noFill/>
          <a:ln/>
        </p:spPr>
        <p:txBody>
          <a:bodyPr wrap="square" rtlCol="0" anchor="ctr"/>
          <a:lstStyle/>
          <a:p>
            <a:pPr algn="ctr" indent="0" marL="0">
              <a:buNone/>
            </a:pPr>
            <a:r>
              <a:rPr lang="en-US" sz="1050" b="1" dirty="0">
                <a:solidFill>
                  <a:srgbClr val="38BDF8"/>
                </a:solidFill>
                <a:latin typeface="Segoe UI" pitchFamily="34" charset="0"/>
                <a:ea typeface="Segoe UI" pitchFamily="34" charset="-122"/>
                <a:cs typeface="Segoe UI" pitchFamily="34" charset="-120"/>
              </a:rPr>
              <a:t>1. Veículo</a:t>
            </a:r>
            <a:endParaRPr lang="en-US" sz="1050" dirty="0"/>
          </a:p>
        </p:txBody>
      </p:sp>
      <p:sp>
        <p:nvSpPr>
          <p:cNvPr id="10" name="Text 7"/>
          <p:cNvSpPr/>
          <p:nvPr/>
        </p:nvSpPr>
        <p:spPr>
          <a:xfrm>
            <a:off x="731520" y="5897880"/>
            <a:ext cx="2560320" cy="320040"/>
          </a:xfrm>
          <a:prstGeom prst="rect">
            <a:avLst/>
          </a:prstGeom>
          <a:noFill/>
          <a:ln/>
        </p:spPr>
        <p:txBody>
          <a:bodyPr wrap="square" rtlCol="0" anchor="ctr"/>
          <a:lstStyle/>
          <a:p>
            <a:pPr algn="ctr" indent="0" marL="0">
              <a:buNone/>
            </a:pPr>
            <a:r>
              <a:rPr lang="en-US" sz="850" dirty="0">
                <a:solidFill>
                  <a:srgbClr val="CBD5E1"/>
                </a:solidFill>
                <a:latin typeface="Segoe UI" pitchFamily="34" charset="0"/>
                <a:ea typeface="Segoe UI" pitchFamily="34" charset="-122"/>
                <a:cs typeface="Segoe UI" pitchFamily="34" charset="-120"/>
              </a:rPr>
              <a:t>ESP32 iBeacon USB (0.4W)</a:t>
            </a:r>
            <a:endParaRPr lang="en-US" sz="850" dirty="0"/>
          </a:p>
        </p:txBody>
      </p:sp>
      <p:sp>
        <p:nvSpPr>
          <p:cNvPr id="11" name="Shape 8"/>
          <p:cNvSpPr/>
          <p:nvPr/>
        </p:nvSpPr>
        <p:spPr>
          <a:xfrm>
            <a:off x="3429000" y="5577840"/>
            <a:ext cx="2560320" cy="685800"/>
          </a:xfrm>
          <a:prstGeom prst="roundRect">
            <a:avLst>
              <a:gd name="adj" fmla="val 10667"/>
            </a:avLst>
          </a:prstGeom>
          <a:solidFill>
            <a:srgbClr val="141E33"/>
          </a:solidFill>
          <a:ln w="12700">
            <a:solidFill>
              <a:srgbClr val="1F2D48"/>
            </a:solidFill>
            <a:prstDash val="solid"/>
          </a:ln>
        </p:spPr>
      </p:sp>
      <p:sp>
        <p:nvSpPr>
          <p:cNvPr id="12" name="Text 9"/>
          <p:cNvSpPr/>
          <p:nvPr/>
        </p:nvSpPr>
        <p:spPr>
          <a:xfrm>
            <a:off x="3429000" y="5623560"/>
            <a:ext cx="2560320" cy="320040"/>
          </a:xfrm>
          <a:prstGeom prst="rect">
            <a:avLst/>
          </a:prstGeom>
          <a:noFill/>
          <a:ln/>
        </p:spPr>
        <p:txBody>
          <a:bodyPr wrap="square" rtlCol="0" anchor="ctr"/>
          <a:lstStyle/>
          <a:p>
            <a:pPr algn="ctr" indent="0" marL="0">
              <a:buNone/>
            </a:pPr>
            <a:r>
              <a:rPr lang="en-US" sz="1050" b="1" dirty="0">
                <a:solidFill>
                  <a:srgbClr val="38BDF8"/>
                </a:solidFill>
                <a:latin typeface="Segoe UI" pitchFamily="34" charset="0"/>
                <a:ea typeface="Segoe UI" pitchFamily="34" charset="-122"/>
                <a:cs typeface="Segoe UI" pitchFamily="34" charset="-120"/>
              </a:rPr>
              <a:t>2. Borda</a:t>
            </a:r>
            <a:endParaRPr lang="en-US" sz="1050" dirty="0"/>
          </a:p>
        </p:txBody>
      </p:sp>
      <p:sp>
        <p:nvSpPr>
          <p:cNvPr id="13" name="Text 10"/>
          <p:cNvSpPr/>
          <p:nvPr/>
        </p:nvSpPr>
        <p:spPr>
          <a:xfrm>
            <a:off x="3429000" y="5897880"/>
            <a:ext cx="2560320" cy="320040"/>
          </a:xfrm>
          <a:prstGeom prst="rect">
            <a:avLst/>
          </a:prstGeom>
          <a:noFill/>
          <a:ln/>
        </p:spPr>
        <p:txBody>
          <a:bodyPr wrap="square" rtlCol="0" anchor="ctr"/>
          <a:lstStyle/>
          <a:p>
            <a:pPr algn="ctr" indent="0" marL="0">
              <a:buNone/>
            </a:pPr>
            <a:r>
              <a:rPr lang="en-US" sz="850" dirty="0">
                <a:solidFill>
                  <a:srgbClr val="CBD5E1"/>
                </a:solidFill>
                <a:latin typeface="Segoe UI" pitchFamily="34" charset="0"/>
                <a:ea typeface="Segoe UI" pitchFamily="34" charset="-122"/>
                <a:cs typeface="Segoe UI" pitchFamily="34" charset="-120"/>
              </a:rPr>
              <a:t>PWA + Web Bluetooth + W3C GPS</a:t>
            </a:r>
            <a:endParaRPr lang="en-US" sz="850" dirty="0"/>
          </a:p>
        </p:txBody>
      </p:sp>
      <p:sp>
        <p:nvSpPr>
          <p:cNvPr id="14" name="Shape 11"/>
          <p:cNvSpPr/>
          <p:nvPr/>
        </p:nvSpPr>
        <p:spPr>
          <a:xfrm>
            <a:off x="6126480" y="5577840"/>
            <a:ext cx="2560320" cy="685800"/>
          </a:xfrm>
          <a:prstGeom prst="roundRect">
            <a:avLst>
              <a:gd name="adj" fmla="val 10667"/>
            </a:avLst>
          </a:prstGeom>
          <a:solidFill>
            <a:srgbClr val="141E33"/>
          </a:solidFill>
          <a:ln w="12700">
            <a:solidFill>
              <a:srgbClr val="1F2D48"/>
            </a:solidFill>
            <a:prstDash val="solid"/>
          </a:ln>
        </p:spPr>
      </p:sp>
      <p:sp>
        <p:nvSpPr>
          <p:cNvPr id="15" name="Text 12"/>
          <p:cNvSpPr/>
          <p:nvPr/>
        </p:nvSpPr>
        <p:spPr>
          <a:xfrm>
            <a:off x="6126480" y="5623560"/>
            <a:ext cx="2560320" cy="320040"/>
          </a:xfrm>
          <a:prstGeom prst="rect">
            <a:avLst/>
          </a:prstGeom>
          <a:noFill/>
          <a:ln/>
        </p:spPr>
        <p:txBody>
          <a:bodyPr wrap="square" rtlCol="0" anchor="ctr"/>
          <a:lstStyle/>
          <a:p>
            <a:pPr algn="ctr" indent="0" marL="0">
              <a:buNone/>
            </a:pPr>
            <a:r>
              <a:rPr lang="en-US" sz="1050" b="1" dirty="0">
                <a:solidFill>
                  <a:srgbClr val="38BDF8"/>
                </a:solidFill>
                <a:latin typeface="Segoe UI" pitchFamily="34" charset="0"/>
                <a:ea typeface="Segoe UI" pitchFamily="34" charset="-122"/>
                <a:cs typeface="Segoe UI" pitchFamily="34" charset="-120"/>
              </a:rPr>
              <a:t>3. Nuvem</a:t>
            </a:r>
            <a:endParaRPr lang="en-US" sz="1050" dirty="0"/>
          </a:p>
        </p:txBody>
      </p:sp>
      <p:sp>
        <p:nvSpPr>
          <p:cNvPr id="16" name="Text 13"/>
          <p:cNvSpPr/>
          <p:nvPr/>
        </p:nvSpPr>
        <p:spPr>
          <a:xfrm>
            <a:off x="6126480" y="5897880"/>
            <a:ext cx="2560320" cy="320040"/>
          </a:xfrm>
          <a:prstGeom prst="rect">
            <a:avLst/>
          </a:prstGeom>
          <a:noFill/>
          <a:ln/>
        </p:spPr>
        <p:txBody>
          <a:bodyPr wrap="square" rtlCol="0" anchor="ctr"/>
          <a:lstStyle/>
          <a:p>
            <a:pPr algn="ctr" indent="0" marL="0">
              <a:buNone/>
            </a:pPr>
            <a:r>
              <a:rPr lang="en-US" sz="850" dirty="0">
                <a:solidFill>
                  <a:srgbClr val="CBD5E1"/>
                </a:solidFill>
                <a:latin typeface="Segoe UI" pitchFamily="34" charset="0"/>
                <a:ea typeface="Segoe UI" pitchFamily="34" charset="-122"/>
                <a:cs typeface="Segoe UI" pitchFamily="34" charset="-120"/>
              </a:rPr>
              <a:t>FastAPI + Geofence + SSE Broker</a:t>
            </a:r>
            <a:endParaRPr lang="en-US" sz="850" dirty="0"/>
          </a:p>
        </p:txBody>
      </p:sp>
      <p:sp>
        <p:nvSpPr>
          <p:cNvPr id="17" name="Shape 14"/>
          <p:cNvSpPr/>
          <p:nvPr/>
        </p:nvSpPr>
        <p:spPr>
          <a:xfrm>
            <a:off x="8823960" y="5577840"/>
            <a:ext cx="2560320" cy="685800"/>
          </a:xfrm>
          <a:prstGeom prst="roundRect">
            <a:avLst>
              <a:gd name="adj" fmla="val 10667"/>
            </a:avLst>
          </a:prstGeom>
          <a:solidFill>
            <a:srgbClr val="141E33"/>
          </a:solidFill>
          <a:ln w="12700">
            <a:solidFill>
              <a:srgbClr val="1F2D48"/>
            </a:solidFill>
            <a:prstDash val="solid"/>
          </a:ln>
        </p:spPr>
      </p:sp>
      <p:sp>
        <p:nvSpPr>
          <p:cNvPr id="18" name="Text 15"/>
          <p:cNvSpPr/>
          <p:nvPr/>
        </p:nvSpPr>
        <p:spPr>
          <a:xfrm>
            <a:off x="8823960" y="5623560"/>
            <a:ext cx="2560320" cy="320040"/>
          </a:xfrm>
          <a:prstGeom prst="rect">
            <a:avLst/>
          </a:prstGeom>
          <a:noFill/>
          <a:ln/>
        </p:spPr>
        <p:txBody>
          <a:bodyPr wrap="square" rtlCol="0" anchor="ctr"/>
          <a:lstStyle/>
          <a:p>
            <a:pPr algn="ctr" indent="0" marL="0">
              <a:buNone/>
            </a:pPr>
            <a:r>
              <a:rPr lang="en-US" sz="1050" b="1" dirty="0">
                <a:solidFill>
                  <a:srgbClr val="38BDF8"/>
                </a:solidFill>
                <a:latin typeface="Segoe UI" pitchFamily="34" charset="0"/>
                <a:ea typeface="Segoe UI" pitchFamily="34" charset="-122"/>
                <a:cs typeface="Segoe UI" pitchFamily="34" charset="-120"/>
              </a:rPr>
              <a:t>4. Cliente</a:t>
            </a:r>
            <a:endParaRPr lang="en-US" sz="1050" dirty="0"/>
          </a:p>
        </p:txBody>
      </p:sp>
      <p:sp>
        <p:nvSpPr>
          <p:cNvPr id="19" name="Text 16"/>
          <p:cNvSpPr/>
          <p:nvPr/>
        </p:nvSpPr>
        <p:spPr>
          <a:xfrm>
            <a:off x="8823960" y="5897880"/>
            <a:ext cx="2560320" cy="320040"/>
          </a:xfrm>
          <a:prstGeom prst="rect">
            <a:avLst/>
          </a:prstGeom>
          <a:noFill/>
          <a:ln/>
        </p:spPr>
        <p:txBody>
          <a:bodyPr wrap="square" rtlCol="0" anchor="ctr"/>
          <a:lstStyle/>
          <a:p>
            <a:pPr algn="ctr" indent="0" marL="0">
              <a:buNone/>
            </a:pPr>
            <a:r>
              <a:rPr lang="en-US" sz="850" dirty="0">
                <a:solidFill>
                  <a:srgbClr val="CBD5E1"/>
                </a:solidFill>
                <a:latin typeface="Segoe UI" pitchFamily="34" charset="0"/>
                <a:ea typeface="Segoe UI" pitchFamily="34" charset="-122"/>
                <a:cs typeface="Segoe UI" pitchFamily="34" charset="-120"/>
              </a:rPr>
              <a:t>Leaflet.js + ETA Dinâmico</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B14"/>
        </a:solidFill>
      </p:bgPr>
    </p:bg>
    <p:spTree>
      <p:nvGrpSpPr>
        <p:cNvPr id="1" name=""/>
        <p:cNvGrpSpPr/>
        <p:nvPr/>
      </p:nvGrpSpPr>
      <p:grpSpPr>
        <a:xfrm>
          <a:off x="0" y="0"/>
          <a:ext cx="0" cy="0"/>
          <a:chOff x="0" y="0"/>
          <a:chExt cx="0" cy="0"/>
        </a:xfrm>
      </p:grpSpPr>
      <p:sp>
        <p:nvSpPr>
          <p:cNvPr id="2" name="Text 0"/>
          <p:cNvSpPr/>
          <p:nvPr/>
        </p:nvSpPr>
        <p:spPr>
          <a:xfrm>
            <a:off x="731520" y="365760"/>
            <a:ext cx="4114800" cy="292608"/>
          </a:xfrm>
          <a:prstGeom prst="rect">
            <a:avLst/>
          </a:prstGeom>
          <a:solidFill>
            <a:srgbClr val="0E2238"/>
          </a:solidFill>
          <a:ln/>
        </p:spPr>
        <p:txBody>
          <a:bodyPr wrap="square" lIns="0" tIns="101600" rIns="101600" bIns="0" rtlCol="0" anchor="ctr"/>
          <a:lstStyle/>
          <a:p>
            <a:pPr algn="l" indent="0" marL="0">
              <a:buNone/>
            </a:pPr>
            <a:r>
              <a:rPr lang="en-US" sz="1000" b="1" dirty="0">
                <a:solidFill>
                  <a:srgbClr val="38BDF8"/>
                </a:solidFill>
                <a:latin typeface="Segoe UI" pitchFamily="34" charset="0"/>
                <a:ea typeface="Segoe UI" pitchFamily="34" charset="-122"/>
                <a:cs typeface="Segoe UI" pitchFamily="34" charset="-120"/>
              </a:rPr>
              <a:t>MODELAGEM MATEMÁTICA &amp; ALGORITMOS</a:t>
            </a:r>
            <a:endParaRPr lang="en-US" sz="1000" dirty="0"/>
          </a:p>
        </p:txBody>
      </p:sp>
      <p:sp>
        <p:nvSpPr>
          <p:cNvPr id="3" name="Text 1"/>
          <p:cNvSpPr/>
          <p:nvPr/>
        </p:nvSpPr>
        <p:spPr>
          <a:xfrm>
            <a:off x="7772400" y="365760"/>
            <a:ext cx="3657600" cy="292608"/>
          </a:xfrm>
          <a:prstGeom prst="rect">
            <a:avLst/>
          </a:prstGeom>
          <a:noFill/>
          <a:ln/>
        </p:spPr>
        <p:txBody>
          <a:bodyPr wrap="square" rtlCol="0" anchor="ctr"/>
          <a:lstStyle/>
          <a:p>
            <a:pPr algn="r" indent="0" marL="0">
              <a:buNone/>
            </a:pPr>
            <a:r>
              <a:rPr lang="en-US" sz="1000" dirty="0">
                <a:solidFill>
                  <a:srgbClr val="94A3B8"/>
                </a:solidFill>
                <a:latin typeface="Consolas" pitchFamily="34" charset="0"/>
                <a:ea typeface="Consolas" pitchFamily="34" charset="-122"/>
                <a:cs typeface="Consolas" pitchFamily="34" charset="-120"/>
              </a:rPr>
              <a:t>⏱️ 12:00 - 13:15 (1m15s)</a:t>
            </a:r>
            <a:endParaRPr lang="en-US" sz="1000" dirty="0"/>
          </a:p>
        </p:txBody>
      </p:sp>
      <p:sp>
        <p:nvSpPr>
          <p:cNvPr id="4" name="Text 2"/>
          <p:cNvSpPr/>
          <p:nvPr/>
        </p:nvSpPr>
        <p:spPr>
          <a:xfrm>
            <a:off x="731520" y="713232"/>
            <a:ext cx="10698480" cy="548640"/>
          </a:xfrm>
          <a:prstGeom prst="rect">
            <a:avLst/>
          </a:prstGeom>
          <a:noFill/>
          <a:ln/>
        </p:spPr>
        <p:txBody>
          <a:bodyPr wrap="square" rtlCol="0" anchor="t"/>
          <a:lstStyle/>
          <a:p>
            <a:pPr indent="0" marL="0">
              <a:buNone/>
            </a:pPr>
            <a:r>
              <a:rPr lang="en-US" sz="2200" b="1" dirty="0">
                <a:solidFill>
                  <a:srgbClr val="FFFFFF"/>
                </a:solidFill>
                <a:latin typeface="Segoe UI" pitchFamily="34" charset="0"/>
                <a:ea typeface="Segoe UI" pitchFamily="34" charset="-122"/>
                <a:cs typeface="Segoe UI" pitchFamily="34" charset="-120"/>
              </a:rPr>
              <a:t>Geofencing Haversine e Clustering Ponderado</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300" dirty="0">
                <a:solidFill>
                  <a:srgbClr val="38BDF8"/>
                </a:solidFill>
                <a:latin typeface="Segoe UI" pitchFamily="34" charset="0"/>
                <a:ea typeface="Segoe UI" pitchFamily="34" charset="-122"/>
                <a:cs typeface="Segoe UI" pitchFamily="34" charset="-120"/>
              </a:rPr>
              <a:t>Como o sistema garante estabilidade espacial e elimina coordenadas aberrantes</a:t>
            </a:r>
            <a:endParaRPr lang="en-US" sz="1300" dirty="0"/>
          </a:p>
        </p:txBody>
      </p:sp>
      <p:sp>
        <p:nvSpPr>
          <p:cNvPr id="6" name="Shape 4"/>
          <p:cNvSpPr/>
          <p:nvPr/>
        </p:nvSpPr>
        <p:spPr>
          <a:xfrm>
            <a:off x="731520" y="1691640"/>
            <a:ext cx="5212080" cy="4389120"/>
          </a:xfrm>
          <a:prstGeom prst="roundRect">
            <a:avLst>
              <a:gd name="adj" fmla="val 2083"/>
            </a:avLst>
          </a:prstGeom>
          <a:solidFill>
            <a:srgbClr val="0F172A"/>
          </a:solidFill>
          <a:ln w="12700">
            <a:solidFill>
              <a:srgbClr val="1F2D48"/>
            </a:solidFill>
            <a:prstDash val="solid"/>
          </a:ln>
        </p:spPr>
      </p:sp>
      <p:sp>
        <p:nvSpPr>
          <p:cNvPr id="7" name="Text 5"/>
          <p:cNvSpPr/>
          <p:nvPr/>
        </p:nvSpPr>
        <p:spPr>
          <a:xfrm>
            <a:off x="1005840" y="1874520"/>
            <a:ext cx="4663440" cy="365760"/>
          </a:xfrm>
          <a:prstGeom prst="rect">
            <a:avLst/>
          </a:prstGeom>
          <a:noFill/>
          <a:ln/>
        </p:spPr>
        <p:txBody>
          <a:bodyPr wrap="square" rtlCol="0" anchor="ctr"/>
          <a:lstStyle/>
          <a:p>
            <a:pPr indent="0" marL="0">
              <a:buNone/>
            </a:pPr>
            <a:r>
              <a:rPr lang="en-US" sz="1400" b="1" dirty="0">
                <a:solidFill>
                  <a:srgbClr val="38BDF8"/>
                </a:solidFill>
                <a:latin typeface="Segoe UI" pitchFamily="34" charset="0"/>
                <a:ea typeface="Segoe UI" pitchFamily="34" charset="-122"/>
                <a:cs typeface="Segoe UI" pitchFamily="34" charset="-120"/>
              </a:rPr>
              <a:t>📐 Validação Esférica de Geofencing</a:t>
            </a:r>
            <a:endParaRPr lang="en-US" sz="1400" dirty="0"/>
          </a:p>
        </p:txBody>
      </p:sp>
      <p:sp>
        <p:nvSpPr>
          <p:cNvPr id="8" name="Text 6"/>
          <p:cNvSpPr/>
          <p:nvPr/>
        </p:nvSpPr>
        <p:spPr>
          <a:xfrm>
            <a:off x="1005840" y="2286000"/>
            <a:ext cx="4663440" cy="548640"/>
          </a:xfrm>
          <a:prstGeom prst="rect">
            <a:avLst/>
          </a:prstGeom>
          <a:noFill/>
          <a:ln/>
        </p:spPr>
        <p:txBody>
          <a:bodyPr wrap="square" rtlCol="0" anchor="ctr"/>
          <a:lstStyle/>
          <a:p>
            <a:pPr indent="0" marL="0">
              <a:buNone/>
            </a:pPr>
            <a:r>
              <a:rPr lang="en-US" sz="1150" dirty="0">
                <a:solidFill>
                  <a:srgbClr val="CBD5E1"/>
                </a:solidFill>
                <a:latin typeface="Segoe UI" pitchFamily="34" charset="0"/>
                <a:ea typeface="Segoe UI" pitchFamily="34" charset="-122"/>
                <a:cs typeface="Segoe UI" pitchFamily="34" charset="-120"/>
              </a:rPr>
              <a:t>Cálculo da distância geodésica mínima entre o ponto móvel P(φ, λ) e o segmento viário oficial S(φ, λ):</a:t>
            </a:r>
            <a:endParaRPr lang="en-US" sz="1150" dirty="0"/>
          </a:p>
        </p:txBody>
      </p:sp>
      <p:sp>
        <p:nvSpPr>
          <p:cNvPr id="9" name="Shape 7"/>
          <p:cNvSpPr/>
          <p:nvPr/>
        </p:nvSpPr>
        <p:spPr>
          <a:xfrm>
            <a:off x="1005840" y="2880360"/>
            <a:ext cx="4663440" cy="1097280"/>
          </a:xfrm>
          <a:prstGeom prst="roundRect">
            <a:avLst>
              <a:gd name="adj" fmla="val 6667"/>
            </a:avLst>
          </a:prstGeom>
          <a:solidFill>
            <a:srgbClr val="0A1122"/>
          </a:solidFill>
          <a:ln w="19050">
            <a:solidFill>
              <a:srgbClr val="0284C7"/>
            </a:solidFill>
            <a:prstDash val="solid"/>
          </a:ln>
        </p:spPr>
      </p:sp>
      <p:sp>
        <p:nvSpPr>
          <p:cNvPr id="10" name="Text 8"/>
          <p:cNvSpPr/>
          <p:nvPr/>
        </p:nvSpPr>
        <p:spPr>
          <a:xfrm>
            <a:off x="1097280" y="2971800"/>
            <a:ext cx="4480560" cy="914400"/>
          </a:xfrm>
          <a:prstGeom prst="rect">
            <a:avLst/>
          </a:prstGeom>
          <a:noFill/>
          <a:ln/>
        </p:spPr>
        <p:txBody>
          <a:bodyPr wrap="square" rtlCol="0" anchor="ctr"/>
          <a:lstStyle/>
          <a:p>
            <a:pPr algn="ctr" indent="0" marL="0">
              <a:buNone/>
            </a:pPr>
            <a:r>
              <a:rPr lang="en-US" sz="1200" b="1" dirty="0">
                <a:solidFill>
                  <a:srgbClr val="34D399"/>
                </a:solidFill>
                <a:latin typeface="Consolas" pitchFamily="34" charset="0"/>
                <a:ea typeface="Consolas" pitchFamily="34" charset="-122"/>
                <a:cs typeface="Consolas" pitchFamily="34" charset="-120"/>
              </a:rPr>
              <a:t>d = 2R · arcsin(√(sin²(Δφ/2) + cos φ₁ · cos φ₂ · sin²(Δλ/2)))</a:t>
            </a:r>
            <a:endParaRPr lang="en-US" sz="1200" dirty="0"/>
          </a:p>
          <a:p>
            <a:pPr algn="ctr" indent="0" marL="0">
              <a:buNone/>
            </a:pPr>
            <a:endParaRPr lang="en-US" sz="1200" dirty="0"/>
          </a:p>
          <a:p>
            <a:pPr algn="ctr" indent="0" marL="0">
              <a:buNone/>
            </a:pPr>
            <a:r>
              <a:rPr lang="en-US" sz="1200" b="1" dirty="0">
                <a:solidFill>
                  <a:srgbClr val="34D399"/>
                </a:solidFill>
                <a:latin typeface="Consolas" pitchFamily="34" charset="0"/>
                <a:ea typeface="Consolas" pitchFamily="34" charset="-122"/>
                <a:cs typeface="Consolas" pitchFamily="34" charset="-120"/>
              </a:rPr>
              <a:t>Condição de Aceite:  d ≤ 80 metros</a:t>
            </a:r>
            <a:endParaRPr lang="en-US" sz="1200" dirty="0"/>
          </a:p>
        </p:txBody>
      </p:sp>
      <p:sp>
        <p:nvSpPr>
          <p:cNvPr id="11" name="Text 9"/>
          <p:cNvSpPr/>
          <p:nvPr/>
        </p:nvSpPr>
        <p:spPr>
          <a:xfrm>
            <a:off x="1005840" y="4114800"/>
            <a:ext cx="4663440" cy="1645920"/>
          </a:xfrm>
          <a:prstGeom prst="rect">
            <a:avLst/>
          </a:prstGeom>
          <a:noFill/>
          <a:ln/>
        </p:spPr>
        <p:txBody>
          <a:bodyPr wrap="square" rtlCol="0" anchor="ctr"/>
          <a:lstStyle/>
          <a:p>
            <a:pPr indent="0" marL="0">
              <a:lnSpc>
                <a:spcPct val="125000"/>
              </a:lnSpc>
              <a:buNone/>
            </a:pPr>
            <a:r>
              <a:rPr lang="en-US" sz="1150" dirty="0">
                <a:solidFill>
                  <a:srgbClr val="CBD5E1"/>
                </a:solidFill>
                <a:latin typeface="Segoe UI" pitchFamily="34" charset="0"/>
                <a:ea typeface="Segoe UI" pitchFamily="34" charset="-122"/>
                <a:cs typeface="Segoe UI" pitchFamily="34" charset="-120"/>
              </a:rPr>
              <a:t>Descarte Automático: Se o passageiro enviar coordenada além de 80m do eixo viário (ex: caminhando na calçada oposta ou em comércio vizinho), o backend rejeita o ponto antes do cálculo do ônibus.</a:t>
            </a:r>
            <a:endParaRPr lang="en-US" sz="1150" dirty="0"/>
          </a:p>
        </p:txBody>
      </p:sp>
      <p:sp>
        <p:nvSpPr>
          <p:cNvPr id="12" name="Shape 10"/>
          <p:cNvSpPr/>
          <p:nvPr/>
        </p:nvSpPr>
        <p:spPr>
          <a:xfrm>
            <a:off x="6217920" y="1691640"/>
            <a:ext cx="5212080" cy="4389120"/>
          </a:xfrm>
          <a:prstGeom prst="roundRect">
            <a:avLst>
              <a:gd name="adj" fmla="val 2083"/>
            </a:avLst>
          </a:prstGeom>
          <a:solidFill>
            <a:srgbClr val="0F172A"/>
          </a:solidFill>
          <a:ln w="12700">
            <a:solidFill>
              <a:srgbClr val="1F2D48"/>
            </a:solidFill>
            <a:prstDash val="solid"/>
          </a:ln>
        </p:spPr>
      </p:sp>
      <p:sp>
        <p:nvSpPr>
          <p:cNvPr id="13" name="Text 11"/>
          <p:cNvSpPr/>
          <p:nvPr/>
        </p:nvSpPr>
        <p:spPr>
          <a:xfrm>
            <a:off x="6492240" y="1874520"/>
            <a:ext cx="4663440" cy="365760"/>
          </a:xfrm>
          <a:prstGeom prst="rect">
            <a:avLst/>
          </a:prstGeom>
          <a:noFill/>
          <a:ln/>
        </p:spPr>
        <p:txBody>
          <a:bodyPr wrap="square" rtlCol="0" anchor="ctr"/>
          <a:lstStyle/>
          <a:p>
            <a:pPr indent="0" marL="0">
              <a:buNone/>
            </a:pPr>
            <a:r>
              <a:rPr lang="en-US" sz="1400" b="1" dirty="0">
                <a:solidFill>
                  <a:srgbClr val="38BDF8"/>
                </a:solidFill>
                <a:latin typeface="Segoe UI" pitchFamily="34" charset="0"/>
                <a:ea typeface="Segoe UI" pitchFamily="34" charset="-122"/>
                <a:cs typeface="Segoe UI" pitchFamily="34" charset="-120"/>
              </a:rPr>
              <a:t>🎯 Centróide Ponderado por Inverso da Acurácia</a:t>
            </a:r>
            <a:endParaRPr lang="en-US" sz="1400" dirty="0"/>
          </a:p>
        </p:txBody>
      </p:sp>
      <p:sp>
        <p:nvSpPr>
          <p:cNvPr id="14" name="Text 12"/>
          <p:cNvSpPr/>
          <p:nvPr/>
        </p:nvSpPr>
        <p:spPr>
          <a:xfrm>
            <a:off x="6492240" y="2286000"/>
            <a:ext cx="4663440" cy="548640"/>
          </a:xfrm>
          <a:prstGeom prst="rect">
            <a:avLst/>
          </a:prstGeom>
          <a:noFill/>
          <a:ln/>
        </p:spPr>
        <p:txBody>
          <a:bodyPr wrap="square" rtlCol="0" anchor="ctr"/>
          <a:lstStyle/>
          <a:p>
            <a:pPr indent="0" marL="0">
              <a:buNone/>
            </a:pPr>
            <a:r>
              <a:rPr lang="en-US" sz="1150" dirty="0">
                <a:solidFill>
                  <a:srgbClr val="CBD5E1"/>
                </a:solidFill>
                <a:latin typeface="Segoe UI" pitchFamily="34" charset="0"/>
                <a:ea typeface="Segoe UI" pitchFamily="34" charset="-122"/>
                <a:cs typeface="Segoe UI" pitchFamily="34" charset="-120"/>
              </a:rPr>
              <a:t>Quando múltiplos passageiros transmitem simultaneamente a bordo do mesmo veículo:</a:t>
            </a:r>
            <a:endParaRPr lang="en-US" sz="1150" dirty="0"/>
          </a:p>
        </p:txBody>
      </p:sp>
      <p:sp>
        <p:nvSpPr>
          <p:cNvPr id="15" name="Shape 13"/>
          <p:cNvSpPr/>
          <p:nvPr/>
        </p:nvSpPr>
        <p:spPr>
          <a:xfrm>
            <a:off x="6492240" y="2880360"/>
            <a:ext cx="4663440" cy="1097280"/>
          </a:xfrm>
          <a:prstGeom prst="roundRect">
            <a:avLst>
              <a:gd name="adj" fmla="val 6667"/>
            </a:avLst>
          </a:prstGeom>
          <a:solidFill>
            <a:srgbClr val="0A1122"/>
          </a:solidFill>
          <a:ln w="19050">
            <a:solidFill>
              <a:srgbClr val="0284C7"/>
            </a:solidFill>
            <a:prstDash val="solid"/>
          </a:ln>
        </p:spPr>
      </p:sp>
      <p:sp>
        <p:nvSpPr>
          <p:cNvPr id="16" name="Text 14"/>
          <p:cNvSpPr/>
          <p:nvPr/>
        </p:nvSpPr>
        <p:spPr>
          <a:xfrm>
            <a:off x="6583680" y="2971800"/>
            <a:ext cx="4480560" cy="914400"/>
          </a:xfrm>
          <a:prstGeom prst="rect">
            <a:avLst/>
          </a:prstGeom>
          <a:noFill/>
          <a:ln/>
        </p:spPr>
        <p:txBody>
          <a:bodyPr wrap="square" rtlCol="0" anchor="ctr"/>
          <a:lstStyle/>
          <a:p>
            <a:pPr algn="ctr" indent="0" marL="0">
              <a:buNone/>
            </a:pPr>
            <a:r>
              <a:rPr lang="en-US" sz="1300" b="1" dirty="0">
                <a:solidFill>
                  <a:srgbClr val="38BDF8"/>
                </a:solidFill>
                <a:latin typeface="Consolas" pitchFamily="34" charset="0"/>
                <a:ea typeface="Consolas" pitchFamily="34" charset="-122"/>
                <a:cs typeface="Consolas" pitchFamily="34" charset="-120"/>
              </a:rPr>
              <a:t>wₖ = 1 / max(σₖ, 1.0)</a:t>
            </a:r>
            <a:endParaRPr lang="en-US" sz="1300" dirty="0"/>
          </a:p>
          <a:p>
            <a:pPr algn="ctr" indent="0" marL="0">
              <a:buNone/>
            </a:pPr>
            <a:endParaRPr lang="en-US" sz="1300" dirty="0"/>
          </a:p>
          <a:p>
            <a:pPr algn="ctr" indent="0" marL="0">
              <a:buNone/>
            </a:pPr>
            <a:r>
              <a:rPr lang="en-US" sz="1300" b="1" dirty="0">
                <a:solidFill>
                  <a:srgbClr val="38BDF8"/>
                </a:solidFill>
                <a:latin typeface="Consolas" pitchFamily="34" charset="0"/>
                <a:ea typeface="Consolas" pitchFamily="34" charset="-122"/>
                <a:cs typeface="Consolas" pitchFamily="34" charset="-120"/>
              </a:rPr>
              <a:t>X_bus = ( Σ wₖ · Xₖ ) / ( Σ wₖ )</a:t>
            </a:r>
            <a:endParaRPr lang="en-US" sz="1300" dirty="0"/>
          </a:p>
        </p:txBody>
      </p:sp>
      <p:sp>
        <p:nvSpPr>
          <p:cNvPr id="17" name="Text 15"/>
          <p:cNvSpPr/>
          <p:nvPr/>
        </p:nvSpPr>
        <p:spPr>
          <a:xfrm>
            <a:off x="6492240" y="4114800"/>
            <a:ext cx="4663440" cy="1645920"/>
          </a:xfrm>
          <a:prstGeom prst="rect">
            <a:avLst/>
          </a:prstGeom>
          <a:noFill/>
          <a:ln/>
        </p:spPr>
        <p:txBody>
          <a:bodyPr wrap="square" rtlCol="0" anchor="ctr"/>
          <a:lstStyle/>
          <a:p>
            <a:pPr indent="0" marL="0">
              <a:lnSpc>
                <a:spcPct val="125000"/>
              </a:lnSpc>
              <a:buNone/>
            </a:pPr>
            <a:r>
              <a:rPr lang="en-US" sz="1150" dirty="0">
                <a:solidFill>
                  <a:srgbClr val="CBD5E1"/>
                </a:solidFill>
                <a:latin typeface="Segoe UI" pitchFamily="34" charset="0"/>
                <a:ea typeface="Segoe UI" pitchFamily="34" charset="-122"/>
                <a:cs typeface="Segoe UI" pitchFamily="34" charset="-120"/>
              </a:rPr>
              <a:t>Efeito Estatístico: Se um passageiro possui smartphone moderno com acurácia de 3 metros (w = 0.33) e outro possui aparelho antigo com margem de 20 metros (w = 0.05), o sinal de alta qualidade tem peso 6.6x superior na rota.</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0B14"/>
        </a:solidFill>
      </p:bgPr>
    </p:bg>
    <p:spTree>
      <p:nvGrpSpPr>
        <p:cNvPr id="1" name=""/>
        <p:cNvGrpSpPr/>
        <p:nvPr/>
      </p:nvGrpSpPr>
      <p:grpSpPr>
        <a:xfrm>
          <a:off x="0" y="0"/>
          <a:ext cx="0" cy="0"/>
          <a:chOff x="0" y="0"/>
          <a:chExt cx="0" cy="0"/>
        </a:xfrm>
      </p:grpSpPr>
      <p:sp>
        <p:nvSpPr>
          <p:cNvPr id="2" name="Text 0"/>
          <p:cNvSpPr/>
          <p:nvPr/>
        </p:nvSpPr>
        <p:spPr>
          <a:xfrm>
            <a:off x="731520" y="365760"/>
            <a:ext cx="4114800" cy="292608"/>
          </a:xfrm>
          <a:prstGeom prst="rect">
            <a:avLst/>
          </a:prstGeom>
          <a:solidFill>
            <a:srgbClr val="0E2238"/>
          </a:solidFill>
          <a:ln/>
        </p:spPr>
        <p:txBody>
          <a:bodyPr wrap="square" lIns="0" tIns="101600" rIns="101600" bIns="0" rtlCol="0" anchor="ctr"/>
          <a:lstStyle/>
          <a:p>
            <a:pPr algn="l" indent="0" marL="0">
              <a:buNone/>
            </a:pPr>
            <a:r>
              <a:rPr lang="en-US" sz="1000" b="1" dirty="0">
                <a:solidFill>
                  <a:srgbClr val="38BDF8"/>
                </a:solidFill>
                <a:latin typeface="Segoe UI" pitchFamily="34" charset="0"/>
                <a:ea typeface="Segoe UI" pitchFamily="34" charset="-122"/>
                <a:cs typeface="Segoe UI" pitchFamily="34" charset="-120"/>
              </a:rPr>
              <a:t>VALIDAÇÃO EXPERIMENTAL</a:t>
            </a:r>
            <a:endParaRPr lang="en-US" sz="1000" dirty="0"/>
          </a:p>
        </p:txBody>
      </p:sp>
      <p:sp>
        <p:nvSpPr>
          <p:cNvPr id="3" name="Text 1"/>
          <p:cNvSpPr/>
          <p:nvPr/>
        </p:nvSpPr>
        <p:spPr>
          <a:xfrm>
            <a:off x="7772400" y="365760"/>
            <a:ext cx="3657600" cy="292608"/>
          </a:xfrm>
          <a:prstGeom prst="rect">
            <a:avLst/>
          </a:prstGeom>
          <a:noFill/>
          <a:ln/>
        </p:spPr>
        <p:txBody>
          <a:bodyPr wrap="square" rtlCol="0" anchor="ctr"/>
          <a:lstStyle/>
          <a:p>
            <a:pPr algn="r" indent="0" marL="0">
              <a:buNone/>
            </a:pPr>
            <a:r>
              <a:rPr lang="en-US" sz="1000" dirty="0">
                <a:solidFill>
                  <a:srgbClr val="94A3B8"/>
                </a:solidFill>
                <a:latin typeface="Consolas" pitchFamily="34" charset="0"/>
                <a:ea typeface="Consolas" pitchFamily="34" charset="-122"/>
                <a:cs typeface="Consolas" pitchFamily="34" charset="-120"/>
              </a:rPr>
              <a:t>⏱️ 13:15 - 14:15 (1m00s)</a:t>
            </a:r>
            <a:endParaRPr lang="en-US" sz="1000" dirty="0"/>
          </a:p>
        </p:txBody>
      </p:sp>
      <p:sp>
        <p:nvSpPr>
          <p:cNvPr id="4" name="Text 2"/>
          <p:cNvSpPr/>
          <p:nvPr/>
        </p:nvSpPr>
        <p:spPr>
          <a:xfrm>
            <a:off x="731520" y="713232"/>
            <a:ext cx="10698480" cy="548640"/>
          </a:xfrm>
          <a:prstGeom prst="rect">
            <a:avLst/>
          </a:prstGeom>
          <a:noFill/>
          <a:ln/>
        </p:spPr>
        <p:txBody>
          <a:bodyPr wrap="square" rtlCol="0" anchor="t"/>
          <a:lstStyle/>
          <a:p>
            <a:pPr indent="0" marL="0">
              <a:buNone/>
            </a:pPr>
            <a:r>
              <a:rPr lang="en-US" sz="2200" b="1" dirty="0">
                <a:solidFill>
                  <a:srgbClr val="FFFFFF"/>
                </a:solidFill>
                <a:latin typeface="Segoe UI" pitchFamily="34" charset="0"/>
                <a:ea typeface="Segoe UI" pitchFamily="34" charset="-122"/>
                <a:cs typeface="Segoe UI" pitchFamily="34" charset="-120"/>
              </a:rPr>
              <a:t>Resultados da PoC: Simulação e Teste de Campo Real</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300" dirty="0">
                <a:solidFill>
                  <a:srgbClr val="38BDF8"/>
                </a:solidFill>
                <a:latin typeface="Segoe UI" pitchFamily="34" charset="0"/>
                <a:ea typeface="Segoe UI" pitchFamily="34" charset="-122"/>
                <a:cs typeface="Segoe UI" pitchFamily="34" charset="-120"/>
              </a:rPr>
              <a:t>Evidências empíricas da estabilidade do sistema em bancada e em vias públicas</a:t>
            </a:r>
            <a:endParaRPr lang="en-US" sz="1300" dirty="0"/>
          </a:p>
        </p:txBody>
      </p:sp>
      <p:sp>
        <p:nvSpPr>
          <p:cNvPr id="6" name="Shape 4"/>
          <p:cNvSpPr/>
          <p:nvPr/>
        </p:nvSpPr>
        <p:spPr>
          <a:xfrm>
            <a:off x="731520" y="1691640"/>
            <a:ext cx="5212080" cy="3200400"/>
          </a:xfrm>
          <a:prstGeom prst="roundRect">
            <a:avLst>
              <a:gd name="adj" fmla="val 2857"/>
            </a:avLst>
          </a:prstGeom>
          <a:solidFill>
            <a:srgbClr val="0F172A"/>
          </a:solidFill>
          <a:ln w="12700">
            <a:solidFill>
              <a:srgbClr val="1F2D48"/>
            </a:solidFill>
            <a:prstDash val="solid"/>
          </a:ln>
        </p:spPr>
      </p:sp>
      <p:sp>
        <p:nvSpPr>
          <p:cNvPr id="7" name="Text 5"/>
          <p:cNvSpPr/>
          <p:nvPr/>
        </p:nvSpPr>
        <p:spPr>
          <a:xfrm>
            <a:off x="914400" y="1783080"/>
            <a:ext cx="4846320" cy="274320"/>
          </a:xfrm>
          <a:prstGeom prst="rect">
            <a:avLst/>
          </a:prstGeom>
          <a:noFill/>
          <a:ln/>
        </p:spPr>
        <p:txBody>
          <a:bodyPr wrap="square" rtlCol="0" anchor="ctr"/>
          <a:lstStyle/>
          <a:p>
            <a:pPr indent="0" marL="0">
              <a:buNone/>
            </a:pPr>
            <a:r>
              <a:rPr lang="en-US" sz="950" b="1" dirty="0">
                <a:solidFill>
                  <a:srgbClr val="34D399"/>
                </a:solidFill>
                <a:latin typeface="Segoe UI" pitchFamily="34" charset="0"/>
                <a:ea typeface="Segoe UI" pitchFamily="34" charset="-122"/>
                <a:cs typeface="Segoe UI" pitchFamily="34" charset="-120"/>
              </a:rPr>
              <a:t>Aplicação Principal: Rota UFPB (24 Testes Pytest OK)</a:t>
            </a:r>
            <a:endParaRPr lang="en-US" sz="950" dirty="0"/>
          </a:p>
        </p:txBody>
      </p:sp>
      <p:pic>
        <p:nvPicPr>
          <p:cNvPr id="8" name="Image 0" descr="E:\prof3\apresentacao_15min\assets\desktop_mapa_ao_vivo.png">    </p:cNvPr>
          <p:cNvPicPr>
            <a:picLocks noChangeAspect="1"/>
          </p:cNvPicPr>
          <p:nvPr/>
        </p:nvPicPr>
        <p:blipFill>
          <a:blip r:embed="rId1"/>
          <a:srcRect l="0" r="0" t="0" b="0"/>
          <a:stretch/>
        </p:blipFill>
        <p:spPr>
          <a:xfrm>
            <a:off x="822960" y="2103120"/>
            <a:ext cx="5029200" cy="2651760"/>
          </a:xfrm>
          <a:prstGeom prst="rect">
            <a:avLst/>
          </a:prstGeom>
        </p:spPr>
      </p:pic>
      <p:sp>
        <p:nvSpPr>
          <p:cNvPr id="9" name="Shape 6"/>
          <p:cNvSpPr/>
          <p:nvPr/>
        </p:nvSpPr>
        <p:spPr>
          <a:xfrm>
            <a:off x="6217920" y="1691640"/>
            <a:ext cx="5212080" cy="3200400"/>
          </a:xfrm>
          <a:prstGeom prst="roundRect">
            <a:avLst>
              <a:gd name="adj" fmla="val 2857"/>
            </a:avLst>
          </a:prstGeom>
          <a:solidFill>
            <a:srgbClr val="0F172A"/>
          </a:solidFill>
          <a:ln w="12700">
            <a:solidFill>
              <a:srgbClr val="1F2D48"/>
            </a:solidFill>
            <a:prstDash val="solid"/>
          </a:ln>
        </p:spPr>
      </p:sp>
      <p:sp>
        <p:nvSpPr>
          <p:cNvPr id="10" name="Text 7"/>
          <p:cNvSpPr/>
          <p:nvPr/>
        </p:nvSpPr>
        <p:spPr>
          <a:xfrm>
            <a:off x="6400800" y="1783080"/>
            <a:ext cx="4846320" cy="274320"/>
          </a:xfrm>
          <a:prstGeom prst="rect">
            <a:avLst/>
          </a:prstGeom>
          <a:noFill/>
          <a:ln/>
        </p:spPr>
        <p:txBody>
          <a:bodyPr wrap="square" rtlCol="0" anchor="ctr"/>
          <a:lstStyle/>
          <a:p>
            <a:pPr indent="0" marL="0">
              <a:buNone/>
            </a:pPr>
            <a:r>
              <a:rPr lang="en-US" sz="950" b="1" dirty="0">
                <a:solidFill>
                  <a:srgbClr val="38BDF8"/>
                </a:solidFill>
                <a:latin typeface="Segoe UI" pitchFamily="34" charset="0"/>
                <a:ea typeface="Segoe UI" pitchFamily="34" charset="-122"/>
                <a:cs typeface="Segoe UI" pitchFamily="34" charset="-120"/>
              </a:rPr>
              <a:t>Teste de Campo em Vias Reais (Pedras de Fogo - PB)</a:t>
            </a:r>
            <a:endParaRPr lang="en-US" sz="950" dirty="0"/>
          </a:p>
        </p:txBody>
      </p:sp>
      <p:pic>
        <p:nvPicPr>
          <p:cNvPr id="11" name="Image 1" descr="E:\prof3\apresentacao_15min\assets\validacao_campo_telemetria.png">    </p:cNvPr>
          <p:cNvPicPr>
            <a:picLocks noChangeAspect="1"/>
          </p:cNvPicPr>
          <p:nvPr/>
        </p:nvPicPr>
        <p:blipFill>
          <a:blip r:embed="rId2"/>
          <a:srcRect l="0" r="0" t="0" b="0"/>
          <a:stretch/>
        </p:blipFill>
        <p:spPr>
          <a:xfrm>
            <a:off x="6309360" y="2103120"/>
            <a:ext cx="5029200" cy="2651760"/>
          </a:xfrm>
          <a:prstGeom prst="rect">
            <a:avLst/>
          </a:prstGeom>
        </p:spPr>
      </p:pic>
      <p:sp>
        <p:nvSpPr>
          <p:cNvPr id="12" name="Shape 8"/>
          <p:cNvSpPr/>
          <p:nvPr/>
        </p:nvSpPr>
        <p:spPr>
          <a:xfrm>
            <a:off x="731520" y="5074920"/>
            <a:ext cx="2560320" cy="1234440"/>
          </a:xfrm>
          <a:prstGeom prst="roundRect">
            <a:avLst>
              <a:gd name="adj" fmla="val 7407"/>
            </a:avLst>
          </a:prstGeom>
          <a:solidFill>
            <a:srgbClr val="141E33"/>
          </a:solidFill>
          <a:ln w="12700">
            <a:solidFill>
              <a:srgbClr val="1F2D48"/>
            </a:solidFill>
            <a:prstDash val="solid"/>
          </a:ln>
        </p:spPr>
      </p:sp>
      <p:sp>
        <p:nvSpPr>
          <p:cNvPr id="13" name="Text 9"/>
          <p:cNvSpPr/>
          <p:nvPr/>
        </p:nvSpPr>
        <p:spPr>
          <a:xfrm>
            <a:off x="731520" y="5212080"/>
            <a:ext cx="2560320" cy="502920"/>
          </a:xfrm>
          <a:prstGeom prst="rect">
            <a:avLst/>
          </a:prstGeom>
          <a:noFill/>
          <a:ln/>
        </p:spPr>
        <p:txBody>
          <a:bodyPr wrap="square" rtlCol="0" anchor="ctr"/>
          <a:lstStyle/>
          <a:p>
            <a:pPr algn="ctr" indent="0" marL="0">
              <a:buNone/>
            </a:pPr>
            <a:r>
              <a:rPr lang="en-US" sz="2000" b="1" dirty="0">
                <a:solidFill>
                  <a:srgbClr val="34D399"/>
                </a:solidFill>
                <a:latin typeface="Consolas" pitchFamily="34" charset="0"/>
                <a:ea typeface="Consolas" pitchFamily="34" charset="-122"/>
                <a:cs typeface="Consolas" pitchFamily="34" charset="-120"/>
              </a:rPr>
              <a:t>24 / 24</a:t>
            </a:r>
            <a:endParaRPr lang="en-US" sz="2000" dirty="0"/>
          </a:p>
        </p:txBody>
      </p:sp>
      <p:sp>
        <p:nvSpPr>
          <p:cNvPr id="14" name="Text 10"/>
          <p:cNvSpPr/>
          <p:nvPr/>
        </p:nvSpPr>
        <p:spPr>
          <a:xfrm>
            <a:off x="731520" y="5760720"/>
            <a:ext cx="2560320" cy="365760"/>
          </a:xfrm>
          <a:prstGeom prst="rect">
            <a:avLst/>
          </a:prstGeom>
          <a:noFill/>
          <a:ln/>
        </p:spPr>
        <p:txBody>
          <a:bodyPr wrap="square" rtlCol="0" anchor="ctr"/>
          <a:lstStyle/>
          <a:p>
            <a:pPr algn="ctr" indent="0" marL="0">
              <a:buNone/>
            </a:pPr>
            <a:r>
              <a:rPr lang="en-US" sz="850" b="1" dirty="0">
                <a:solidFill>
                  <a:srgbClr val="94A3B8"/>
                </a:solidFill>
                <a:latin typeface="Segoe UI" pitchFamily="34" charset="0"/>
                <a:ea typeface="Segoe UI" pitchFamily="34" charset="-122"/>
                <a:cs typeface="Segoe UI" pitchFamily="34" charset="-120"/>
              </a:rPr>
              <a:t>TESTES PYTEST APROVADOS</a:t>
            </a:r>
            <a:endParaRPr lang="en-US" sz="850" dirty="0"/>
          </a:p>
        </p:txBody>
      </p:sp>
      <p:sp>
        <p:nvSpPr>
          <p:cNvPr id="15" name="Shape 11"/>
          <p:cNvSpPr/>
          <p:nvPr/>
        </p:nvSpPr>
        <p:spPr>
          <a:xfrm>
            <a:off x="3429000" y="5074920"/>
            <a:ext cx="2560320" cy="1234440"/>
          </a:xfrm>
          <a:prstGeom prst="roundRect">
            <a:avLst>
              <a:gd name="adj" fmla="val 7407"/>
            </a:avLst>
          </a:prstGeom>
          <a:solidFill>
            <a:srgbClr val="141E33"/>
          </a:solidFill>
          <a:ln w="12700">
            <a:solidFill>
              <a:srgbClr val="1F2D48"/>
            </a:solidFill>
            <a:prstDash val="solid"/>
          </a:ln>
        </p:spPr>
      </p:sp>
      <p:sp>
        <p:nvSpPr>
          <p:cNvPr id="16" name="Text 12"/>
          <p:cNvSpPr/>
          <p:nvPr/>
        </p:nvSpPr>
        <p:spPr>
          <a:xfrm>
            <a:off x="3429000" y="5212080"/>
            <a:ext cx="2560320" cy="502920"/>
          </a:xfrm>
          <a:prstGeom prst="rect">
            <a:avLst/>
          </a:prstGeom>
          <a:noFill/>
          <a:ln/>
        </p:spPr>
        <p:txBody>
          <a:bodyPr wrap="square" rtlCol="0" anchor="ctr"/>
          <a:lstStyle/>
          <a:p>
            <a:pPr algn="ctr" indent="0" marL="0">
              <a:buNone/>
            </a:pPr>
            <a:r>
              <a:rPr lang="en-US" sz="2000" b="1" dirty="0">
                <a:solidFill>
                  <a:srgbClr val="FFFFFF"/>
                </a:solidFill>
                <a:latin typeface="Consolas" pitchFamily="34" charset="0"/>
                <a:ea typeface="Consolas" pitchFamily="34" charset="-122"/>
                <a:cs typeface="Consolas" pitchFamily="34" charset="-120"/>
              </a:rPr>
              <a:t>~220 ms</a:t>
            </a:r>
            <a:endParaRPr lang="en-US" sz="2000" dirty="0"/>
          </a:p>
        </p:txBody>
      </p:sp>
      <p:sp>
        <p:nvSpPr>
          <p:cNvPr id="17" name="Text 13"/>
          <p:cNvSpPr/>
          <p:nvPr/>
        </p:nvSpPr>
        <p:spPr>
          <a:xfrm>
            <a:off x="3429000" y="5760720"/>
            <a:ext cx="2560320" cy="365760"/>
          </a:xfrm>
          <a:prstGeom prst="rect">
            <a:avLst/>
          </a:prstGeom>
          <a:noFill/>
          <a:ln/>
        </p:spPr>
        <p:txBody>
          <a:bodyPr wrap="square" rtlCol="0" anchor="ctr"/>
          <a:lstStyle/>
          <a:p>
            <a:pPr algn="ctr" indent="0" marL="0">
              <a:buNone/>
            </a:pPr>
            <a:r>
              <a:rPr lang="en-US" sz="850" b="1" dirty="0">
                <a:solidFill>
                  <a:srgbClr val="94A3B8"/>
                </a:solidFill>
                <a:latin typeface="Segoe UI" pitchFamily="34" charset="0"/>
                <a:ea typeface="Segoe UI" pitchFamily="34" charset="-122"/>
                <a:cs typeface="Segoe UI" pitchFamily="34" charset="-120"/>
              </a:rPr>
              <a:t>LATÊNCIA MÉDIA SSE</a:t>
            </a:r>
            <a:endParaRPr lang="en-US" sz="850" dirty="0"/>
          </a:p>
        </p:txBody>
      </p:sp>
      <p:sp>
        <p:nvSpPr>
          <p:cNvPr id="18" name="Shape 14"/>
          <p:cNvSpPr/>
          <p:nvPr/>
        </p:nvSpPr>
        <p:spPr>
          <a:xfrm>
            <a:off x="6126480" y="5074920"/>
            <a:ext cx="2560320" cy="1234440"/>
          </a:xfrm>
          <a:prstGeom prst="roundRect">
            <a:avLst>
              <a:gd name="adj" fmla="val 7407"/>
            </a:avLst>
          </a:prstGeom>
          <a:solidFill>
            <a:srgbClr val="141E33"/>
          </a:solidFill>
          <a:ln w="12700">
            <a:solidFill>
              <a:srgbClr val="1F2D48"/>
            </a:solidFill>
            <a:prstDash val="solid"/>
          </a:ln>
        </p:spPr>
      </p:sp>
      <p:sp>
        <p:nvSpPr>
          <p:cNvPr id="19" name="Text 15"/>
          <p:cNvSpPr/>
          <p:nvPr/>
        </p:nvSpPr>
        <p:spPr>
          <a:xfrm>
            <a:off x="6126480" y="5212080"/>
            <a:ext cx="2560320" cy="502920"/>
          </a:xfrm>
          <a:prstGeom prst="rect">
            <a:avLst/>
          </a:prstGeom>
          <a:noFill/>
          <a:ln/>
        </p:spPr>
        <p:txBody>
          <a:bodyPr wrap="square" rtlCol="0" anchor="ctr"/>
          <a:lstStyle/>
          <a:p>
            <a:pPr algn="ctr" indent="0" marL="0">
              <a:buNone/>
            </a:pPr>
            <a:r>
              <a:rPr lang="en-US" sz="2000" b="1" dirty="0">
                <a:solidFill>
                  <a:srgbClr val="38BDF8"/>
                </a:solidFill>
                <a:latin typeface="Consolas" pitchFamily="34" charset="0"/>
                <a:ea typeface="Consolas" pitchFamily="34" charset="-122"/>
                <a:cs typeface="Consolas" pitchFamily="34" charset="-120"/>
              </a:rPr>
              <a:t>31 Pts</a:t>
            </a:r>
            <a:endParaRPr lang="en-US" sz="2000" dirty="0"/>
          </a:p>
        </p:txBody>
      </p:sp>
      <p:sp>
        <p:nvSpPr>
          <p:cNvPr id="20" name="Text 16"/>
          <p:cNvSpPr/>
          <p:nvPr/>
        </p:nvSpPr>
        <p:spPr>
          <a:xfrm>
            <a:off x="6126480" y="5760720"/>
            <a:ext cx="2560320" cy="365760"/>
          </a:xfrm>
          <a:prstGeom prst="rect">
            <a:avLst/>
          </a:prstGeom>
          <a:noFill/>
          <a:ln/>
        </p:spPr>
        <p:txBody>
          <a:bodyPr wrap="square" rtlCol="0" anchor="ctr"/>
          <a:lstStyle/>
          <a:p>
            <a:pPr algn="ctr" indent="0" marL="0">
              <a:buNone/>
            </a:pPr>
            <a:r>
              <a:rPr lang="en-US" sz="850" b="1" dirty="0">
                <a:solidFill>
                  <a:srgbClr val="94A3B8"/>
                </a:solidFill>
                <a:latin typeface="Segoe UI" pitchFamily="34" charset="0"/>
                <a:ea typeface="Segoe UI" pitchFamily="34" charset="-122"/>
                <a:cs typeface="Segoe UI" pitchFamily="34" charset="-120"/>
              </a:rPr>
              <a:t>CICLO COMPLETO SIMULADO</a:t>
            </a:r>
            <a:endParaRPr lang="en-US" sz="850" dirty="0"/>
          </a:p>
        </p:txBody>
      </p:sp>
      <p:sp>
        <p:nvSpPr>
          <p:cNvPr id="21" name="Shape 17"/>
          <p:cNvSpPr/>
          <p:nvPr/>
        </p:nvSpPr>
        <p:spPr>
          <a:xfrm>
            <a:off x="8823960" y="5074920"/>
            <a:ext cx="2560320" cy="1234440"/>
          </a:xfrm>
          <a:prstGeom prst="roundRect">
            <a:avLst>
              <a:gd name="adj" fmla="val 7407"/>
            </a:avLst>
          </a:prstGeom>
          <a:solidFill>
            <a:srgbClr val="141E33"/>
          </a:solidFill>
          <a:ln w="12700">
            <a:solidFill>
              <a:srgbClr val="1F2D48"/>
            </a:solidFill>
            <a:prstDash val="solid"/>
          </a:ln>
        </p:spPr>
      </p:sp>
      <p:sp>
        <p:nvSpPr>
          <p:cNvPr id="22" name="Text 18"/>
          <p:cNvSpPr/>
          <p:nvPr/>
        </p:nvSpPr>
        <p:spPr>
          <a:xfrm>
            <a:off x="8823960" y="5212080"/>
            <a:ext cx="2560320" cy="502920"/>
          </a:xfrm>
          <a:prstGeom prst="rect">
            <a:avLst/>
          </a:prstGeom>
          <a:noFill/>
          <a:ln/>
        </p:spPr>
        <p:txBody>
          <a:bodyPr wrap="square" rtlCol="0" anchor="ctr"/>
          <a:lstStyle/>
          <a:p>
            <a:pPr algn="ctr" indent="0" marL="0">
              <a:buNone/>
            </a:pPr>
            <a:r>
              <a:rPr lang="en-US" sz="2000" b="1" dirty="0">
                <a:solidFill>
                  <a:srgbClr val="34D399"/>
                </a:solidFill>
                <a:latin typeface="Consolas" pitchFamily="34" charset="0"/>
                <a:ea typeface="Consolas" pitchFamily="34" charset="-122"/>
                <a:cs typeface="Consolas" pitchFamily="34" charset="-120"/>
              </a:rPr>
              <a:t>100%</a:t>
            </a:r>
            <a:endParaRPr lang="en-US" sz="2000" dirty="0"/>
          </a:p>
        </p:txBody>
      </p:sp>
      <p:sp>
        <p:nvSpPr>
          <p:cNvPr id="23" name="Text 19"/>
          <p:cNvSpPr/>
          <p:nvPr/>
        </p:nvSpPr>
        <p:spPr>
          <a:xfrm>
            <a:off x="8823960" y="5760720"/>
            <a:ext cx="2560320" cy="365760"/>
          </a:xfrm>
          <a:prstGeom prst="rect">
            <a:avLst/>
          </a:prstGeom>
          <a:noFill/>
          <a:ln/>
        </p:spPr>
        <p:txBody>
          <a:bodyPr wrap="square" rtlCol="0" anchor="ctr"/>
          <a:lstStyle/>
          <a:p>
            <a:pPr algn="ctr" indent="0" marL="0">
              <a:buNone/>
            </a:pPr>
            <a:r>
              <a:rPr lang="en-US" sz="850" b="1" dirty="0">
                <a:solidFill>
                  <a:srgbClr val="94A3B8"/>
                </a:solidFill>
                <a:latin typeface="Segoe UI" pitchFamily="34" charset="0"/>
                <a:ea typeface="Segoe UI" pitchFamily="34" charset="-122"/>
                <a:cs typeface="Segoe UI" pitchFamily="34" charset="-120"/>
              </a:rPr>
              <a:t>CONTINUIDADE EM CAMPO</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0B14"/>
        </a:solidFill>
      </p:bgPr>
    </p:bg>
    <p:spTree>
      <p:nvGrpSpPr>
        <p:cNvPr id="1" name=""/>
        <p:cNvGrpSpPr/>
        <p:nvPr/>
      </p:nvGrpSpPr>
      <p:grpSpPr>
        <a:xfrm>
          <a:off x="0" y="0"/>
          <a:ext cx="0" cy="0"/>
          <a:chOff x="0" y="0"/>
          <a:chExt cx="0" cy="0"/>
        </a:xfrm>
      </p:grpSpPr>
      <p:sp>
        <p:nvSpPr>
          <p:cNvPr id="2" name="Text 0"/>
          <p:cNvSpPr/>
          <p:nvPr/>
        </p:nvSpPr>
        <p:spPr>
          <a:xfrm>
            <a:off x="731520" y="365760"/>
            <a:ext cx="4114800" cy="292608"/>
          </a:xfrm>
          <a:prstGeom prst="rect">
            <a:avLst/>
          </a:prstGeom>
          <a:solidFill>
            <a:srgbClr val="0E2238"/>
          </a:solidFill>
          <a:ln/>
        </p:spPr>
        <p:txBody>
          <a:bodyPr wrap="square" lIns="0" tIns="101600" rIns="101600" bIns="0" rtlCol="0" anchor="ctr"/>
          <a:lstStyle/>
          <a:p>
            <a:pPr algn="l" indent="0" marL="0">
              <a:buNone/>
            </a:pPr>
            <a:r>
              <a:rPr lang="en-US" sz="1000" b="1" dirty="0">
                <a:solidFill>
                  <a:srgbClr val="38BDF8"/>
                </a:solidFill>
                <a:latin typeface="Segoe UI" pitchFamily="34" charset="0"/>
                <a:ea typeface="Segoe UI" pitchFamily="34" charset="-122"/>
                <a:cs typeface="Segoe UI" pitchFamily="34" charset="-120"/>
              </a:rPr>
              <a:t>CONCLUSÃO &amp; IMPACTO</a:t>
            </a:r>
            <a:endParaRPr lang="en-US" sz="1000" dirty="0"/>
          </a:p>
        </p:txBody>
      </p:sp>
      <p:sp>
        <p:nvSpPr>
          <p:cNvPr id="3" name="Text 1"/>
          <p:cNvSpPr/>
          <p:nvPr/>
        </p:nvSpPr>
        <p:spPr>
          <a:xfrm>
            <a:off x="7772400" y="365760"/>
            <a:ext cx="3657600" cy="292608"/>
          </a:xfrm>
          <a:prstGeom prst="rect">
            <a:avLst/>
          </a:prstGeom>
          <a:noFill/>
          <a:ln/>
        </p:spPr>
        <p:txBody>
          <a:bodyPr wrap="square" rtlCol="0" anchor="ctr"/>
          <a:lstStyle/>
          <a:p>
            <a:pPr algn="r" indent="0" marL="0">
              <a:buNone/>
            </a:pPr>
            <a:r>
              <a:rPr lang="en-US" sz="1000" dirty="0">
                <a:solidFill>
                  <a:srgbClr val="94A3B8"/>
                </a:solidFill>
                <a:latin typeface="Consolas" pitchFamily="34" charset="0"/>
                <a:ea typeface="Consolas" pitchFamily="34" charset="-122"/>
                <a:cs typeface="Consolas" pitchFamily="34" charset="-120"/>
              </a:rPr>
              <a:t>⏱️ 14:15 - 15:00 (45s)</a:t>
            </a:r>
            <a:endParaRPr lang="en-US" sz="1000" dirty="0"/>
          </a:p>
        </p:txBody>
      </p:sp>
      <p:sp>
        <p:nvSpPr>
          <p:cNvPr id="4" name="Text 2"/>
          <p:cNvSpPr/>
          <p:nvPr/>
        </p:nvSpPr>
        <p:spPr>
          <a:xfrm>
            <a:off x="731520" y="713232"/>
            <a:ext cx="10698480" cy="548640"/>
          </a:xfrm>
          <a:prstGeom prst="rect">
            <a:avLst/>
          </a:prstGeom>
          <a:noFill/>
          <a:ln/>
        </p:spPr>
        <p:txBody>
          <a:bodyPr wrap="square" rtlCol="0" anchor="t"/>
          <a:lstStyle/>
          <a:p>
            <a:pPr indent="0" marL="0">
              <a:buNone/>
            </a:pPr>
            <a:r>
              <a:rPr lang="en-US" sz="2200" b="1" dirty="0">
                <a:solidFill>
                  <a:srgbClr val="FFFFFF"/>
                </a:solidFill>
                <a:latin typeface="Segoe UI" pitchFamily="34" charset="0"/>
                <a:ea typeface="Segoe UI" pitchFamily="34" charset="-122"/>
                <a:cs typeface="Segoe UI" pitchFamily="34" charset="-120"/>
              </a:rPr>
              <a:t>Conclusão, Próximos Passos e Contribuição</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300" dirty="0">
                <a:solidFill>
                  <a:srgbClr val="38BDF8"/>
                </a:solidFill>
                <a:latin typeface="Segoe UI" pitchFamily="34" charset="0"/>
                <a:ea typeface="Segoe UI" pitchFamily="34" charset="-122"/>
                <a:cs typeface="Segoe UI" pitchFamily="34" charset="-120"/>
              </a:rPr>
              <a:t>Democratização da telemetria de transporte público com engenharia frugal e aberta</a:t>
            </a:r>
            <a:endParaRPr lang="en-US" sz="1300" dirty="0"/>
          </a:p>
        </p:txBody>
      </p:sp>
      <p:sp>
        <p:nvSpPr>
          <p:cNvPr id="6" name="Shape 4"/>
          <p:cNvSpPr/>
          <p:nvPr/>
        </p:nvSpPr>
        <p:spPr>
          <a:xfrm>
            <a:off x="731520" y="1691640"/>
            <a:ext cx="5212080" cy="3200400"/>
          </a:xfrm>
          <a:prstGeom prst="roundRect">
            <a:avLst>
              <a:gd name="adj" fmla="val 2857"/>
            </a:avLst>
          </a:prstGeom>
          <a:solidFill>
            <a:srgbClr val="0F172A"/>
          </a:solidFill>
          <a:ln w="12700">
            <a:solidFill>
              <a:srgbClr val="10B981"/>
            </a:solidFill>
            <a:prstDash val="solid"/>
          </a:ln>
        </p:spPr>
      </p:sp>
      <p:sp>
        <p:nvSpPr>
          <p:cNvPr id="7" name="Text 5"/>
          <p:cNvSpPr/>
          <p:nvPr/>
        </p:nvSpPr>
        <p:spPr>
          <a:xfrm>
            <a:off x="1005840" y="1874520"/>
            <a:ext cx="4663440" cy="365760"/>
          </a:xfrm>
          <a:prstGeom prst="rect">
            <a:avLst/>
          </a:prstGeom>
          <a:noFill/>
          <a:ln/>
        </p:spPr>
        <p:txBody>
          <a:bodyPr wrap="square" rtlCol="0" anchor="ctr"/>
          <a:lstStyle/>
          <a:p>
            <a:pPr indent="0" marL="0">
              <a:buNone/>
            </a:pPr>
            <a:r>
              <a:rPr lang="en-US" sz="1400" b="1" dirty="0">
                <a:solidFill>
                  <a:srgbClr val="34D399"/>
                </a:solidFill>
                <a:latin typeface="Segoe UI" pitchFamily="34" charset="0"/>
                <a:ea typeface="Segoe UI" pitchFamily="34" charset="-122"/>
                <a:cs typeface="Segoe UI" pitchFamily="34" charset="-120"/>
              </a:rPr>
              <a:t>🎓 Conclusão Científica &amp; Técnica</a:t>
            </a:r>
            <a:endParaRPr lang="en-US" sz="1400" dirty="0"/>
          </a:p>
        </p:txBody>
      </p:sp>
      <p:sp>
        <p:nvSpPr>
          <p:cNvPr id="8" name="Text 6"/>
          <p:cNvSpPr/>
          <p:nvPr/>
        </p:nvSpPr>
        <p:spPr>
          <a:xfrm>
            <a:off x="1005840" y="2286000"/>
            <a:ext cx="4663440" cy="2468880"/>
          </a:xfrm>
          <a:prstGeom prst="rect">
            <a:avLst/>
          </a:prstGeom>
          <a:noFill/>
          <a:ln/>
        </p:spPr>
        <p:txBody>
          <a:bodyPr wrap="square" rtlCol="0" anchor="ctr"/>
          <a:lstStyle/>
          <a:p>
            <a:pPr indent="0" marL="0">
              <a:lnSpc>
                <a:spcPct val="125000"/>
              </a:lnSpc>
              <a:buNone/>
            </a:pPr>
            <a:r>
              <a:rPr lang="en-US" sz="1150" dirty="0">
                <a:solidFill>
                  <a:srgbClr val="CBD5E1"/>
                </a:solidFill>
                <a:latin typeface="Segoe UI" pitchFamily="34" charset="0"/>
                <a:ea typeface="Segoe UI" pitchFamily="34" charset="-122"/>
                <a:cs typeface="Segoe UI" pitchFamily="34" charset="-120"/>
              </a:rPr>
              <a:t>• A fusão de microbalizas BLE (&lt; R$ 40) com conectividade participativa </a:t>
            </a:r>
            <a:pPr indent="0" marL="0">
              <a:lnSpc>
                <a:spcPct val="125000"/>
              </a:lnSpc>
              <a:buNone/>
            </a:pPr>
            <a:r>
              <a:rPr lang="en-US" sz="1150" b="1" dirty="0">
                <a:solidFill>
                  <a:srgbClr val="FFFFFF"/>
                </a:solidFill>
                <a:latin typeface="Segoe UI" pitchFamily="34" charset="0"/>
                <a:ea typeface="Segoe UI" pitchFamily="34" charset="-122"/>
                <a:cs typeface="Segoe UI" pitchFamily="34" charset="-120"/>
              </a:rPr>
              <a:t>elimina definitivamente a dependência de modems 4G veiculares pagos</a:t>
            </a:r>
            <a:pPr indent="0" marL="0">
              <a:lnSpc>
                <a:spcPct val="125000"/>
              </a:lnSpc>
              <a:buNone/>
            </a:pPr>
            <a:r>
              <a:rPr lang="en-US" sz="1150" dirty="0">
                <a:solidFill>
                  <a:srgbClr val="CBD5E1"/>
                </a:solidFill>
                <a:latin typeface="Segoe UI" pitchFamily="34" charset="0"/>
                <a:ea typeface="Segoe UI" pitchFamily="34" charset="-122"/>
                <a:cs typeface="Segoe UI" pitchFamily="34" charset="-120"/>
              </a:rPr>
              <a:t>;</a:t>
            </a:r>
            <a:endParaRPr lang="en-US" sz="1150" dirty="0"/>
          </a:p>
          <a:p>
            <a:pPr indent="0" marL="0">
              <a:lnSpc>
                <a:spcPct val="125000"/>
              </a:lnSpc>
              <a:buNone/>
            </a:pPr>
            <a:endParaRPr lang="en-US" sz="1150" dirty="0"/>
          </a:p>
          <a:p>
            <a:pPr indent="0" marL="0">
              <a:lnSpc>
                <a:spcPct val="125000"/>
              </a:lnSpc>
              <a:buNone/>
            </a:pPr>
            <a:r>
              <a:rPr lang="en-US" sz="1150" dirty="0">
                <a:solidFill>
                  <a:srgbClr val="CBD5E1"/>
                </a:solidFill>
                <a:latin typeface="Segoe UI" pitchFamily="34" charset="0"/>
                <a:ea typeface="Segoe UI" pitchFamily="34" charset="-122"/>
                <a:cs typeface="Segoe UI" pitchFamily="34" charset="-120"/>
              </a:rPr>
              <a:t>• A combinação de </a:t>
            </a:r>
            <a:endParaRPr lang="en-US" sz="1150" dirty="0"/>
          </a:p>
          <a:p>
            <a:pPr indent="0" marL="0">
              <a:lnSpc>
                <a:spcPct val="125000"/>
              </a:lnSpc>
              <a:buNone/>
            </a:pPr>
            <a:r>
              <a:rPr lang="en-US" sz="1150" b="1" dirty="0">
                <a:solidFill>
                  <a:srgbClr val="FFFFFF"/>
                </a:solidFill>
                <a:latin typeface="Segoe UI" pitchFamily="34" charset="0"/>
                <a:ea typeface="Segoe UI" pitchFamily="34" charset="-122"/>
                <a:cs typeface="Segoe UI" pitchFamily="34" charset="-120"/>
              </a:rPr>
              <a:t>geofencing contínuo e clustering ponderado</a:t>
            </a:r>
            <a:pPr indent="0" marL="0">
              <a:lnSpc>
                <a:spcPct val="125000"/>
              </a:lnSpc>
              <a:buNone/>
            </a:pPr>
            <a:r>
              <a:rPr lang="en-US" sz="1150" dirty="0">
                <a:solidFill>
                  <a:srgbClr val="CBD5E1"/>
                </a:solidFill>
                <a:latin typeface="Segoe UI" pitchFamily="34" charset="0"/>
                <a:ea typeface="Segoe UI" pitchFamily="34" charset="-122"/>
                <a:cs typeface="Segoe UI" pitchFamily="34" charset="-120"/>
              </a:rPr>
              <a:t> resolveu a clássica fraqueza de ruído e pedestres do crowdsourcing comum;</a:t>
            </a:r>
            <a:endParaRPr lang="en-US" sz="1150" dirty="0"/>
          </a:p>
          <a:p>
            <a:pPr indent="0" marL="0">
              <a:lnSpc>
                <a:spcPct val="125000"/>
              </a:lnSpc>
              <a:buNone/>
            </a:pPr>
            <a:endParaRPr lang="en-US" sz="1150" dirty="0"/>
          </a:p>
          <a:p>
            <a:pPr indent="0" marL="0">
              <a:lnSpc>
                <a:spcPct val="125000"/>
              </a:lnSpc>
              <a:buNone/>
            </a:pPr>
            <a:r>
              <a:rPr lang="en-US" sz="1150" dirty="0">
                <a:solidFill>
                  <a:srgbClr val="CBD5E1"/>
                </a:solidFill>
                <a:latin typeface="Segoe UI" pitchFamily="34" charset="0"/>
                <a:ea typeface="Segoe UI" pitchFamily="34" charset="-122"/>
                <a:cs typeface="Segoe UI" pitchFamily="34" charset="-120"/>
              </a:rPr>
              <a:t>• A arquitetura provou ser viável para </a:t>
            </a:r>
            <a:endParaRPr lang="en-US" sz="1150" dirty="0"/>
          </a:p>
          <a:p>
            <a:pPr indent="0" marL="0">
              <a:lnSpc>
                <a:spcPct val="125000"/>
              </a:lnSpc>
              <a:buNone/>
            </a:pPr>
            <a:r>
              <a:rPr lang="en-US" sz="1150" b="1" dirty="0">
                <a:solidFill>
                  <a:srgbClr val="34D399"/>
                </a:solidFill>
                <a:latin typeface="Segoe UI" pitchFamily="34" charset="0"/>
                <a:ea typeface="Segoe UI" pitchFamily="34" charset="-122"/>
                <a:cs typeface="Segoe UI" pitchFamily="34" charset="-120"/>
              </a:rPr>
              <a:t>implantação imediata em universidades públicas</a:t>
            </a:r>
            <a:pPr indent="0" marL="0">
              <a:lnSpc>
                <a:spcPct val="125000"/>
              </a:lnSpc>
              <a:buNone/>
            </a:pPr>
            <a:r>
              <a:rPr lang="en-US" sz="1150" dirty="0">
                <a:solidFill>
                  <a:srgbClr val="CBD5E1"/>
                </a:solidFill>
                <a:latin typeface="Segoe UI" pitchFamily="34" charset="0"/>
                <a:ea typeface="Segoe UI" pitchFamily="34" charset="-122"/>
                <a:cs typeface="Segoe UI" pitchFamily="34" charset="-120"/>
              </a:rPr>
              <a:t> e frotas municipais com restrição de custeio.</a:t>
            </a:r>
            <a:endParaRPr lang="en-US" sz="1150" dirty="0"/>
          </a:p>
        </p:txBody>
      </p:sp>
      <p:sp>
        <p:nvSpPr>
          <p:cNvPr id="9" name="Shape 7"/>
          <p:cNvSpPr/>
          <p:nvPr/>
        </p:nvSpPr>
        <p:spPr>
          <a:xfrm>
            <a:off x="6217920" y="1691640"/>
            <a:ext cx="5212080" cy="3200400"/>
          </a:xfrm>
          <a:prstGeom prst="roundRect">
            <a:avLst>
              <a:gd name="adj" fmla="val 2857"/>
            </a:avLst>
          </a:prstGeom>
          <a:solidFill>
            <a:srgbClr val="0F172A"/>
          </a:solidFill>
          <a:ln w="12700">
            <a:solidFill>
              <a:srgbClr val="1F2D48"/>
            </a:solidFill>
            <a:prstDash val="solid"/>
          </a:ln>
        </p:spPr>
      </p:sp>
      <p:sp>
        <p:nvSpPr>
          <p:cNvPr id="10" name="Text 8"/>
          <p:cNvSpPr/>
          <p:nvPr/>
        </p:nvSpPr>
        <p:spPr>
          <a:xfrm>
            <a:off x="6492240" y="1874520"/>
            <a:ext cx="4663440" cy="365760"/>
          </a:xfrm>
          <a:prstGeom prst="rect">
            <a:avLst/>
          </a:prstGeom>
          <a:noFill/>
          <a:ln/>
        </p:spPr>
        <p:txBody>
          <a:bodyPr wrap="square" rtlCol="0" anchor="ctr"/>
          <a:lstStyle/>
          <a:p>
            <a:pPr indent="0" marL="0">
              <a:buNone/>
            </a:pPr>
            <a:r>
              <a:rPr lang="en-US" sz="1400" b="1" dirty="0">
                <a:solidFill>
                  <a:srgbClr val="38BDF8"/>
                </a:solidFill>
                <a:latin typeface="Segoe UI" pitchFamily="34" charset="0"/>
                <a:ea typeface="Segoe UI" pitchFamily="34" charset="-122"/>
                <a:cs typeface="Segoe UI" pitchFamily="34" charset="-120"/>
              </a:rPr>
              <a:t>🚀 Cronograma de Continuidade</a:t>
            </a:r>
            <a:endParaRPr lang="en-US" sz="1400" dirty="0"/>
          </a:p>
        </p:txBody>
      </p:sp>
      <p:sp>
        <p:nvSpPr>
          <p:cNvPr id="11" name="Text 9"/>
          <p:cNvSpPr/>
          <p:nvPr/>
        </p:nvSpPr>
        <p:spPr>
          <a:xfrm>
            <a:off x="6492240" y="2286000"/>
            <a:ext cx="4663440" cy="2468880"/>
          </a:xfrm>
          <a:prstGeom prst="rect">
            <a:avLst/>
          </a:prstGeom>
          <a:noFill/>
          <a:ln/>
        </p:spPr>
        <p:txBody>
          <a:bodyPr wrap="square" rtlCol="0" anchor="ctr"/>
          <a:lstStyle/>
          <a:p>
            <a:pPr indent="0" marL="0">
              <a:lnSpc>
                <a:spcPct val="125000"/>
              </a:lnSpc>
              <a:buNone/>
            </a:pPr>
            <a:r>
              <a:rPr lang="en-US" sz="1150" b="1" dirty="0">
                <a:solidFill>
                  <a:srgbClr val="FFFFFF"/>
                </a:solidFill>
                <a:latin typeface="Segoe UI" pitchFamily="34" charset="0"/>
                <a:ea typeface="Segoe UI" pitchFamily="34" charset="-122"/>
                <a:cs typeface="Segoe UI" pitchFamily="34" charset="-120"/>
              </a:rPr>
              <a:t>1. Fase Piloto Físico: </a:t>
            </a:r>
            <a:pPr indent="0" marL="0">
              <a:lnSpc>
                <a:spcPct val="125000"/>
              </a:lnSpc>
              <a:buNone/>
            </a:pPr>
            <a:r>
              <a:rPr lang="en-US" sz="1150" dirty="0">
                <a:solidFill>
                  <a:srgbClr val="CBD5E1"/>
                </a:solidFill>
                <a:latin typeface="Segoe UI" pitchFamily="34" charset="0"/>
                <a:ea typeface="Segoe UI" pitchFamily="34" charset="-122"/>
                <a:cs typeface="Segoe UI" pitchFamily="34" charset="-120"/>
              </a:rPr>
              <a:t>Instalação física dos primeiros protótipos de ESP32 nos circulares oficiais da UFPB;
</a:t>
            </a:r>
            <a:pPr indent="0" marL="0">
              <a:lnSpc>
                <a:spcPct val="125000"/>
              </a:lnSpc>
              <a:buNone/>
            </a:pPr>
            <a:r>
              <a:rPr lang="en-US" sz="1150" b="1" dirty="0">
                <a:solidFill>
                  <a:srgbClr val="FFFFFF"/>
                </a:solidFill>
                <a:latin typeface="Segoe UI" pitchFamily="34" charset="0"/>
                <a:ea typeface="Segoe UI" pitchFamily="34" charset="-122"/>
                <a:cs typeface="Segoe UI" pitchFamily="34" charset="-120"/>
              </a:rPr>
              <a:t>2. Validação Discente em Escala: </a:t>
            </a:r>
            <a:pPr indent="0" marL="0">
              <a:lnSpc>
                <a:spcPct val="125000"/>
              </a:lnSpc>
              <a:buNone/>
            </a:pPr>
            <a:r>
              <a:rPr lang="en-US" sz="1150" dirty="0">
                <a:solidFill>
                  <a:srgbClr val="CBD5E1"/>
                </a:solidFill>
                <a:latin typeface="Segoe UI" pitchFamily="34" charset="0"/>
                <a:ea typeface="Segoe UI" pitchFamily="34" charset="-122"/>
                <a:cs typeface="Segoe UI" pitchFamily="34" charset="-120"/>
              </a:rPr>
              <a:t>Testes de usabilidade e adesão com turmas do Centro de Informática (Mangabeira);
</a:t>
            </a:r>
            <a:pPr indent="0" marL="0">
              <a:lnSpc>
                <a:spcPct val="125000"/>
              </a:lnSpc>
              <a:buNone/>
            </a:pPr>
            <a:r>
              <a:rPr lang="en-US" sz="1150" b="1" dirty="0">
                <a:solidFill>
                  <a:srgbClr val="FFFFFF"/>
                </a:solidFill>
                <a:latin typeface="Segoe UI" pitchFamily="34" charset="0"/>
                <a:ea typeface="Segoe UI" pitchFamily="34" charset="-122"/>
                <a:cs typeface="Segoe UI" pitchFamily="34" charset="-120"/>
              </a:rPr>
              <a:t>3. Predição Preditiva de ETA: </a:t>
            </a:r>
            <a:pPr indent="0" marL="0">
              <a:lnSpc>
                <a:spcPct val="125000"/>
              </a:lnSpc>
              <a:buNone/>
            </a:pPr>
            <a:r>
              <a:rPr lang="en-US" sz="1150" dirty="0">
                <a:solidFill>
                  <a:srgbClr val="CBD5E1"/>
                </a:solidFill>
                <a:latin typeface="Segoe UI" pitchFamily="34" charset="0"/>
                <a:ea typeface="Segoe UI" pitchFamily="34" charset="-122"/>
                <a:cs typeface="Segoe UI" pitchFamily="34" charset="-120"/>
              </a:rPr>
              <a:t>Refinamento com dados históricos de congestionamento nos horários de pico.</a:t>
            </a:r>
            <a:endParaRPr lang="en-US" sz="1150" dirty="0"/>
          </a:p>
        </p:txBody>
      </p:sp>
      <p:sp>
        <p:nvSpPr>
          <p:cNvPr id="12" name="Shape 10"/>
          <p:cNvSpPr/>
          <p:nvPr/>
        </p:nvSpPr>
        <p:spPr>
          <a:xfrm>
            <a:off x="731520" y="5074920"/>
            <a:ext cx="10698480" cy="1234440"/>
          </a:xfrm>
          <a:prstGeom prst="roundRect">
            <a:avLst>
              <a:gd name="adj" fmla="val 7407"/>
            </a:avLst>
          </a:prstGeom>
          <a:solidFill>
            <a:srgbClr val="0E2238"/>
          </a:solidFill>
          <a:ln w="19050">
            <a:solidFill>
              <a:srgbClr val="0284C7"/>
            </a:solidFill>
            <a:prstDash val="solid"/>
          </a:ln>
        </p:spPr>
      </p:sp>
      <p:sp>
        <p:nvSpPr>
          <p:cNvPr id="13" name="Text 11"/>
          <p:cNvSpPr/>
          <p:nvPr/>
        </p:nvSpPr>
        <p:spPr>
          <a:xfrm>
            <a:off x="914400" y="5212080"/>
            <a:ext cx="10332720" cy="411480"/>
          </a:xfrm>
          <a:prstGeom prst="rect">
            <a:avLst/>
          </a:prstGeom>
          <a:noFill/>
          <a:ln/>
        </p:spPr>
        <p:txBody>
          <a:bodyPr wrap="square"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Muito obrigado pela atenção!</a:t>
            </a:r>
            <a:endParaRPr lang="en-US" sz="1800" dirty="0"/>
          </a:p>
        </p:txBody>
      </p:sp>
      <p:sp>
        <p:nvSpPr>
          <p:cNvPr id="14" name="Text 12"/>
          <p:cNvSpPr/>
          <p:nvPr/>
        </p:nvSpPr>
        <p:spPr>
          <a:xfrm>
            <a:off x="914400" y="5669280"/>
            <a:ext cx="10332720" cy="365760"/>
          </a:xfrm>
          <a:prstGeom prst="rect">
            <a:avLst/>
          </a:prstGeom>
          <a:noFill/>
          <a:ln/>
        </p:spPr>
        <p:txBody>
          <a:bodyPr wrap="square" rtlCol="0" anchor="ctr"/>
          <a:lstStyle/>
          <a:p>
            <a:pPr algn="ctr" indent="0" marL="0">
              <a:buNone/>
            </a:pPr>
            <a:r>
              <a:rPr lang="en-US" sz="1200" dirty="0">
                <a:solidFill>
                  <a:srgbClr val="38BDF8"/>
                </a:solidFill>
                <a:latin typeface="Segoe UI" pitchFamily="34" charset="0"/>
                <a:ea typeface="Segoe UI" pitchFamily="34" charset="-122"/>
                <a:cs typeface="Segoe UI" pitchFamily="34" charset="-120"/>
              </a:rPr>
              <a:t>Estamos abertos às dúvidas, considerações e questionamentos da banca examinadora.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Universidade Federal da Paraíba (UFPB)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LocBUS: Apresentação Oral IEEE Latin America</dc:title>
  <dc:subject>PptxGenJS Presentation</dc:subject>
  <dc:creator>Guilherme Edgar C. S. R. Guedes</dc:creator>
  <cp:lastModifiedBy>Guilherme Edgar C. S. R. Guedes</cp:lastModifiedBy>
  <cp:revision>1</cp:revision>
  <dcterms:created xsi:type="dcterms:W3CDTF">2026-10-01T13:01:28Z</dcterms:created>
  <dcterms:modified xsi:type="dcterms:W3CDTF">2026-10-01T13:01:28Z</dcterms:modified>
</cp:coreProperties>
</file>