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00:45 min | Cumprimente os membros da banca e os presentes. Apresente seu nome, afiliação (UFPB) e o título do trabalho. Enfatize que o objetivo central da pesquisa foi resolver um gargalo histórico de mobilidade com telemetria frugal de custo zero de conexão veicular.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01:15 min | Detalhe o trajeto de 14 km entre Castelo Branco e Mangabeira. Explique que o tráfego nos Bancários torna o cumprimento de tabelas horárias estáticas impossível, gerando ansiedade e perda de aulas para a comunidade universitária.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Apresente a dor orçamentária dos órgãos públicos: manter frotas com chips 4G dedicados gera custos de manutenção e burocracia licitatória contínuos. Lance a pergunta central de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Discorra sobre os sistemas AVL clássicos. Destaque que eles são excelentes para empresas privadas ricas, mas inviáveis para universidades públicas com contratos de locação de veículos sem alteração de fiação.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Contraponto fundamental do artigo: crowdsourcing puro falha por ruído de pedestres e spoofing. O BLE entra como âncora determinística de presença física a bordo, custando meros R$ 40 em uma porta USB comum.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Apresente a tabela comparativa. Passe ponto a ponto mostrando que o LocBUS entrega o melhor dos dois mundos: custo de hardware quase nulo sem abrir mão da precisão e segurança contra ruídos.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Descreva a telemetria simbiótica. Mostre a imagem do smartphone à direita: o botão de 'A bordo' e a detecção de beacon automática. Explique o envio a cada 4 segundos como solução de baixo consumo de energia.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01:00 min | Apresente com objetividade os requisitos de engenharia. Destaque a conformidade com a LGPD: não há cadastro, não há senhas, e o buffer de memória descarta coordenadas com Time-to-Live.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01:30 min | Apresente a Figura 1 do artigo. Mostre o fluxo em 4 camadas: do beacon físico no ônibus até o mapa do usuário na parada. Destaque o desacoplamento de responsabilidades e a elegância da arquitetura reativa.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01:15 min | Explique a beleza matemática: o algoritmo trata as variações dos sensores dos celulares de forma elegante, atribuindo 6.6 vezes mais peso a um sinal com precisão de 3m do que a um com 20m. A fórmula Haversine descarta quem está fora da rua do ônibus.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01:00 min | Apresente as duas evidências concretas: à esquerda, o mapa em tempo real operando com a rota oficial UFPB e 24 testes automatizados 100% aprovados. À direita, a comprovação do teste de campo em movimento em vias públicas com latência de ~220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00:45 min | Feche com firmeza reiterando o compromisso social e científico da engenharia frugal. Agradeça à banca examinadora e coloque-se à disposição para os questionamentos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IEEE LATIN AMERICA TRANSACTIONS  •  SESSÃO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LocBUS: Telemetria e Rastreamento Veicular Colaborativo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Arial"/>
              </a:defRPr>
            </a:pPr>
            <a:r>
              <a:t>Arquitetura Híbrida de Baixo Custo para o Transporte Universitário Intercampi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242316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R$ 0,00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Conectividade Veicular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Zero chips 4G M2M / operadoras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2926080"/>
            <a:ext cx="242316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306324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&lt; R$ 40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Hardware por Ônibus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Apenas 1 ESP32 USB 5V (0.4W)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926080"/>
            <a:ext cx="242316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306324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~220 ms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Latência Ponta a Ponta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Streaming reativo Server-Sent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2926080"/>
            <a:ext cx="242316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306324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Conformidade LGPD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Sem contas, buffer volátil efêmero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Autor Principal: Guilherme Edgar C. S. R. Guedes  •  Orientação &amp; Equipe de Pesquisa LocBUS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Universidade Federal da Paraíba (UFPB) — Centro de Informática &amp; Campus I / Campus IV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CONTEXTO OPERACIONAL  •  SLIDE 2/12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O Transporte Universitário Intercampi da UFPB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Extensão Crítica da Rota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O Circular UFPB conecta o Campus I (Castelo Branco) ao Centro de Informática (Mangabeira), cobrindo mais de 14 km por ciclo.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Gargalos de Tráfego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O trajeto atravessa o bairro dos Bancários, região de altíssima densidade veicular e frequentes engarrafamentos em horários de pico.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8 Paradas Acadêmicas Fundamentais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CCHLA -&gt; Reitoria -&gt; Centro de Convivência (RU) -&gt; CCEN -&gt; Centro de Tecnologia (CT) -&gt; Praça da Paz -&gt; Mangabeira Shopping -&gt; Centro de Informática (CI).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Arial"/>
              </a:defRPr>
            </a:pPr>
            <a:r>
              <a:t>• Vulnerabilidade do Estudante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 incerteza quanto ao horário exato do circular expõe alunos e servidores à chuva, sol e riscos de segurança pública em paradas isoladas à noite.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nsit_mobile_detal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572000" cy="98942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PROBLEMA &amp; MOTIVAÇÃO  •  SLIDE 3/12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O Dilema Financeiro e Técnico do Rastreamento Público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CUSTO DE AQUISIÇÃO AVL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R$ 1.500 a R$ 2.500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Módulos industriais embarcados (AVL) exigem instalação invasiva na fiação e na rede CAN dos ônibus, invalidando garantias de frotas licitadas.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CUSTO RECORRENTE 4G M2M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R$ 60 a R$ 120 / mês / bus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Universidades e municípios pequenos operam em restrição orçamentária contínua e frequentemente sofrem com cancelamento de linhas por falta de verba para chips M2M.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 PERGUNTA CIENTÍFICA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Questão de Pesquisa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É possível alcançar a acurácia de rastreadores dedicados usando apenas a conectividade e os smartphones dos passageiros, filtrando ruído e eliminando custos de operadora?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B981"/>
                </a:solidFill>
                <a:latin typeface="Arial"/>
              </a:defRPr>
            </a:pPr>
            <a:r>
              <a:t>🎯 Paradoxo de Frotas Terceirizadas: A universidade não pode modificar os veículos locados, mas precisa prestar contas do itinerário aos alunos em tempo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ESTADO DA ARTE I  •  SLIDE 4/12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Sistemas AVL (Automatic Vehicle Location) Dedicados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CONCEITO E OPERAÇÃO DOS SISTEMAS AVL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Hardware Embarcado Rígido: Módulos GPS veiculares acoplados a modems 4G/LTE com antenas externas na lataria.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Integração com Bateria do Veículo: Ligação direta no chicote elétrico (12V/24V) e telemetria na porta OBD-II/CAN.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Transmissão Ininterrupta: Envio contínuo de pacotes TCP/UDP para servidores centrais a taxas de 1 a 5 Hz.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Autonomia Operacional: Funciona independentemente da presença de passageiros a bordo.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VANTAGENS vs LIMITAÇÕES CRÍTICAS</a:t>
            </a:r>
          </a:p>
          <a:p>
            <a:pPr>
              <a:spcBef>
                <a:spcPts val="800"/>
              </a:spcBef>
              <a:defRPr sz="1150" b="1">
                <a:solidFill>
                  <a:srgbClr val="10B981"/>
                </a:solidFill>
                <a:latin typeface="Arial"/>
              </a:defRPr>
            </a:pPr>
            <a:r>
              <a:t>• Vantagem: Alta Precisão &amp; Confiabilidade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Dados contínuos de odometria, ignição e velocidade sem interrupções.</a:t>
            </a:r>
          </a:p>
          <a:p>
            <a:pPr>
              <a:spcBef>
                <a:spcPts val="8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Gargalo 1: Custo Proibitivo de Aquisição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Cada módulo comercial custa entre R$ 1.500 e R$ 2.500.</a:t>
            </a:r>
          </a:p>
          <a:p>
            <a:pPr>
              <a:spcBef>
                <a:spcPts val="8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Gargalo 2: Custo Recorrente de Conectividade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Planos de dados corporativos M2M oneram permanentemente o orçamento.</a:t>
            </a:r>
          </a:p>
          <a:p>
            <a:pPr>
              <a:spcBef>
                <a:spcPts val="800"/>
              </a:spcBef>
              <a:defRPr sz="1150" b="1">
                <a:solidFill>
                  <a:srgbClr val="F59E0B"/>
                </a:solidFill>
                <a:latin typeface="Arial"/>
              </a:defRPr>
            </a:pPr>
            <a:r>
              <a:t>• Gargalo 3: Inviabilidade em Ônibus Alugados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Empresas locadoras proíbem corte de fiação e instalação invasiva.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ESTADO DA ARTE II  •  SLIDE 5/12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Crowdsourcing Comunitário Puro vs. Balizas 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CROWDSOURCING PURO (Ex: Waze, Moovit)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Vantagem Aparente: Custo zero de hardware adicional, aproveitando os smartphones da população.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Falha do Falso Positivo (Pedestres): Alguém caminhando na calçada ou de bicicleta próximo à rota é erroneamente registrado como ônibus.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Vulnerabilidade a GPS Spoofing: Aplicativos podem forjar coordenadas fictícias e corromper o feed de dados.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Consumo de Bateria do Usuário: Rastreamento contínuo em primeiro e segundo plano sem controle dinâmico.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O PODER DO BLUETOOTH LOW ENERGY (BLE)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Hardware Ultra-Econômico: Microcontrolador ESP32 operando como iBeacon custa menos de R$ 40,00.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Alimentação Não-Invasiva: Plugado diretamente em qualquer carregador veicular USB 5V (consumo &lt; 0.4W).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Prova Criptográfica de Presença: Raio de alcance calibrado (6 a 8 metros com RSSI &gt; -75 dBm) garante que apenas passageiros fisicamente dentro do salão transmitem.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Imunidade Total a Pedestres: Quem está na calçada ou no ponto não ativa a transmissão.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LACUNA TECNOLÓGICA  •  SLIDE 6/12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Matriz Comparativa das Abordagens de Rastreamento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Critério de Engenharia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AVL Comercial 4G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Crowdsourcing Puro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LocBUS (Nossa Proposta)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Custo de Hardware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R$ 1.500 - R$ 2.500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R$ 0,00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&lt; R$ 40 (ESP32 USB)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Mensalidade de Conectividade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R$ 60 - R$ 120 / mês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R$ 0,00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R$ 0,00 (Conexão do Passageiro)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Imunidade a Pedestres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Total (100%)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Baixa (Falsos Positivos)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Determinística (RSSI &gt; -75dBm)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Resistência a Spoofing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Nula (Vulnerável)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Alta (Clustering + Geofencing)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Instalação no Veículo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Invasiva (Fiação / CAN)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Nenhuma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Plug-and-play USB 5V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Consumo de Bateria do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Alto (GPS Constante)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Otimizado (Δt = 4s intermitente)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💡 Síntese: O LocBUS une o custo zero de conectividade do crowdsourcing com o determinismo e a confiabilidade de um rastreador veicular dedicado.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 SOLUÇÃO LOCBUS  •  SLIDE 7/12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Telemetria Híbrida Simbiótica em 4 Etapas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1. Emissão de Beacon a Bordo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 ESP32 alimentado na tomada USB do circular emite pacotes iBeacon BLE em intervalos de 500ms com UUID fixo e potência calibrada.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Arial"/>
              </a:defRPr>
            </a:pPr>
            <a:r>
              <a:t>2. Detecção Automática pela PWA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 passageiro abre a PWA. A API Web Bluetooth detecta o sinal de proximidade (RSSI &gt; -75 dBm) e confirma o embarque real sem intervenção humana.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Arial"/>
              </a:defRPr>
            </a:pPr>
            <a:r>
              <a:t>3. Transmissão Amortecida (Edge GNSS)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 smartphone passa a transmitir suas coordenadas GNSS via HTTPS a cada 4 segundos, mitigando aquecimento e consumo de bateria.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Arial"/>
              </a:defRPr>
            </a:pPr>
            <a:r>
              <a:t>4. Agregação e Streaming SSE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 nuvem valida geofencing e velocidade, calcula o centróide ponderado dos passageiros e despacha a posição para o mapa via Server-Sent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371600"/>
            <a:ext cx="42062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ile_interface_p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3474720" cy="7519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ENGENHARIA DE SOFTWARE  •  SLIDE 8/12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Requisitos Funcionais e Não-Funcionais da Plataforma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REQUISITOS FUNCIONAIS (RF)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RF01 - Prova Criptográfica BLE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Autenticação determinística de embarque via beacon sem login cadastral.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RF02 - Geofencing Esférico (80m)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Descarte instantâneo de coordenadas com desvio &gt; 80m da rota viária.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RF03 - Filtro Cinemático de Velocidade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Teto máximo de 65 km/h para expurgar telemetrias de veículos particulares.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RF04 - Centróide Ponderado por Acurácia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Fusão de dados de múltiplos passageiros priorizando sensores mais precisos.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RF05 - Streaming Contínuo SSE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Distribuição unidirecional em tempo real via HTTP para clientes web e mobile.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REQUISITOS NÃO-FUNCIONAIS (RNF)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RNF01 - Latência Extremo-a-Extremo &lt; 500ms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Propagação instantânea do evento de telemetria até a renderização no mapa.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RNF02 - Eficiência Energética de Bateria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Envio intermitente controlado (Δt = 4s) sem drenagem prematura do aparelho.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RNF03 - Arquitetura PWA Sem Fricção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Disponível diretamente pelo navegador sem exigência de download na Google Play / App Store.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RNF04 - Privacidade por Projeto (LGPD)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Buffer exclusivamente em memória volátil com TTL (Time-to-Live); nenhum dado pessoal ou IP é persistido em disco.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ARQUITETURA DO SISTEMA  •  SLIDE 9/12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Pipeline de 4 Camadas Submetido ao IEEE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FLUXO MULTICAMADAS DESACOPLADO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Camada 1: Veículo (ESP32 BLE)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iBeacon de 0.4W conectado na tomada USB. Emissão a 2.4 GHz sem acesso a dados.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Camada 2: Borda (Smartphone PWA)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Web Bluetooth API, W3C Geolocation e HTTPS assíncrono com ciclo de 4s.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Camada 3: Nuvem (FastAPI Core)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Filtros de Geofencing Haversine, cálculo de centróides e broker SSE em memória.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Camada 4: Cliente (Leaflet.js)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Renderização dinâmica de polilinhas, marcadores em tempo real e cálculo de ETA.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585216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548640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MODELAGEM ALGORÍTMICA  •  SLIDE 10/12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Filtragem Cinemática e Centróide Ponderado por Acurácia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1. GEOFENCING HAVERSINE DA ROTA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Fórmula Esférica da Distância:</a:t>
            </a:r>
          </a:p>
          <a:p>
            <a:pPr>
              <a:spcBef>
                <a:spcPts val="600"/>
              </a:spcBef>
              <a:defRPr b="1" sz="1200">
                <a:solidFill>
                  <a:srgbClr val="10B981"/>
                </a:solidFill>
                <a:latin typeface="Arial"/>
              </a:defRPr>
            </a:pPr>
            <a:r>
              <a:t>a = sen²(Δφ/2) + cos(φ₁) · cos(φ₂) · sen²(Δλ/2)</a:t>
            </a:r>
          </a:p>
          <a:p>
            <a:pPr>
              <a:spcBef>
                <a:spcPts val="600"/>
              </a:spcBef>
              <a:defRPr b="1" sz="1200">
                <a:solidFill>
                  <a:srgbClr val="10B981"/>
                </a:solidFill>
                <a:latin typeface="Arial"/>
              </a:defRPr>
            </a:pPr>
            <a:r>
              <a:t>d = 2 · R · atan2(√a, √(1−a))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Regra de Decisão do Backend: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 min(d(P_k, Rota)) &gt; 80 metros -&gt; Pacote descartado por anomalia de trajetória.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 V_k &gt; 65 km/h -&gt; Descarte imediato (imunidade a carros e motos particulares ultrapassando o ônibus).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2. FUSÃO SENSORIAL POR ACURÁCIA INVERSA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Cálculo do Peso de Cada Smartphone: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  <a:latin typeface="Arial"/>
              </a:defRPr>
            </a:pPr>
            <a:r>
              <a:t>w_k = 1 / max(σ_k, 1.0)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Posição Final do Ônibus (Centróide):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  <a:latin typeface="Arial"/>
              </a:defRPr>
            </a:pPr>
            <a:r>
              <a:t>X_bus = ( Σ w_k · X_k ) / ( Σ w_k 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Poder Prático da Equação: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Um aparelho topo de linha com acurácia de 3 metros recebe peso w = 0.33.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Um celular básico com precisão degradada de 20 metros recebe peso w = 0.05.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Resultado: O sinal de maior qualidade domina o centróide com 6.6x mais peso matemático.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RESULTADOS EXPERIMENTAIS  •  SLIDE 11/12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Validação em Bancada e Teste de Campo em Vias Públicas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✅ 24 Testes Unitários &amp; Integração (100% OK)   •   Simulação 31 Waypoints CCHLA &lt;-&gt; CI   •   Latência Média: ~220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_mapa_ao_v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4937760" cy="30861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2240280"/>
            <a:ext cx="52120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idacao_campo_telemet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31720"/>
            <a:ext cx="4846320" cy="104879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CONCLUSÃO &amp; FUTURO  •  SLIDE 12/12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Impacto da Engenharia Frugal e Próximos Passos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CONTRIBUIÇÕES PRINCIPAIS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Viabilidade Técnica Comprovada: Rastreamento em nível de produção sem custos com contratos de operadoras celulares nos veículos.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Engenharia Frugal Acessível: Um hardware de menos de R$ 40 viabiliza a modernização do transporte de qualquer instituição de ensino pública.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Privacidade Rigorosa por Projeto: Zero armazenamento de dados de passageiros, cumprindo integralmente a LGPD.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Experiência Map-First: Solução PWA instantânea que remove a barreira de instalação de aplicativos pesados.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ROADMAP &amp; PRÓXIMOS PASSOS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Fase 1: Piloto Físico no Circular UFPB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Instalação definitiva das balizas USB nos circulares ativos de João Pessoa.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Fase 2: Validação Discente em Massa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Adoção pelos discentes e servidores do Centro de Informática e Campus I.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Fase 3: ETA Inteligente Preditivo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Integração de modelo de aprendizado de máquina treinado no histórico de tráfego dos Bancários.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Agradecimentos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Agradecemos à UFPB, aos avaliadores do IEEE Latin America Transactions e abrimos a sessão para perguntas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